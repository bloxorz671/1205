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7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</p:sldIdLst>
  <p:sldSz cx="9144000" cy="5143500" type="screen16x9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52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1" Type="http://schemas.openxmlformats.org/officeDocument/2006/relationships/theme" Target="../theme/theme1.xml"/><Relationship Id="rId40" Type="http://schemas.openxmlformats.org/officeDocument/2006/relationships/image" Target="file:///D:\qq&#25991;&#20214;\712321467\Image\C2C\Image2\%7b75232B38-A165-1FB7-499C-2E1C792CACB5%7d.png" TargetMode="External"/><Relationship Id="rId4" Type="http://schemas.openxmlformats.org/officeDocument/2006/relationships/slideLayout" Target="../slideLayouts/slideLayout4.xml"/><Relationship Id="rId39" Type="http://schemas.openxmlformats.org/officeDocument/2006/relationships/image" Target="../media/image1.png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file:///D:\qq&#25991;&#20214;\712321467\Image\C2C\Image2\%7b75232B38-A165-1FB7-499C-2E1C792CACB5%7d.png" TargetMode="Externa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73743875" descr="学科网 zxxk.com"/>
          <p:cNvPicPr>
            <a:picLocks noChangeAspect="1"/>
          </p:cNvPicPr>
          <p:nvPr/>
        </p:nvPicPr>
        <p:blipFill>
          <a:blip r:embed="rId39" r:link="rId40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图片 1073743875" descr="学科网 zxxk.com"/>
          <p:cNvPicPr>
            <a:picLocks noChangeAspect="1"/>
          </p:cNvPicPr>
          <p:nvPr/>
        </p:nvPicPr>
        <p:blipFill>
          <a:blip r:embed="rId6" r:link="rId7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themeOverride" Target="../theme/themeOverride1.xml"/><Relationship Id="rId7" Type="http://schemas.openxmlformats.org/officeDocument/2006/relationships/image" Target="../media/image10.jpeg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8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9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10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11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12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13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14.xm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15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16.xml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17.xml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18.xml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19.xml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0.xml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1.xml"/><Relationship Id="rId1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2.xml"/><Relationship Id="rId1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3.xml"/><Relationship Id="rId1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4.xml"/><Relationship Id="rId1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5.xml"/><Relationship Id="rId1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6.xml"/><Relationship Id="rId1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7.xml"/><Relationship Id="rId1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8.xml"/><Relationship Id="rId1" Type="http://schemas.openxmlformats.org/officeDocument/2006/relationships/image" Target="../media/image1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29.xml"/><Relationship Id="rId1" Type="http://schemas.openxmlformats.org/officeDocument/2006/relationships/image" Target="../media/image1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30.xml"/><Relationship Id="rId1" Type="http://schemas.openxmlformats.org/officeDocument/2006/relationships/image" Target="../media/image1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31.xml"/><Relationship Id="rId1" Type="http://schemas.openxmlformats.org/officeDocument/2006/relationships/image" Target="../media/image1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hemeOverride" Target="../theme/themeOverride32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76695" y="674646"/>
            <a:ext cx="6842122" cy="69896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同学们知道江南三大名楼是哪三座吗？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76312" y="1498651"/>
            <a:ext cx="2854218" cy="3447303"/>
            <a:chOff x="0" y="0"/>
            <a:chExt cx="2854218" cy="3447303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2581"/>
              <a:ext cx="2813049" cy="3444722"/>
            </a:xfrm>
            <a:prstGeom prst="rect">
              <a:avLst/>
            </a:prstGeom>
          </p:spPr>
        </p:pic>
        <p:pic>
          <p:nvPicPr>
            <p:cNvPr id="5" name="文本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8988" y="0"/>
              <a:ext cx="585230" cy="2615870"/>
            </a:xfrm>
            <a:prstGeom prst="rect">
              <a:avLst/>
            </a:prstGeom>
          </p:spPr>
        </p:pic>
      </p:grpSp>
      <p:grpSp>
        <p:nvGrpSpPr>
          <p:cNvPr id="6" name="组合2"/>
          <p:cNvGrpSpPr/>
          <p:nvPr/>
        </p:nvGrpSpPr>
        <p:grpSpPr>
          <a:xfrm>
            <a:off x="2930157" y="1486529"/>
            <a:ext cx="3080033" cy="3444069"/>
            <a:chOff x="0" y="0"/>
            <a:chExt cx="3080033" cy="3444069"/>
          </a:xfrm>
        </p:grpSpPr>
        <p:pic>
          <p:nvPicPr>
            <p:cNvPr id="7" name="图片2"/>
            <p:cNvPicPr>
              <a:picLocks noChangeAspect="1"/>
            </p:cNvPicPr>
            <p:nvPr/>
          </p:nvPicPr>
          <p:blipFill>
            <a:blip r:embed="rId3"/>
            <a:srcRect l="15625" b="28333"/>
            <a:stretch>
              <a:fillRect/>
            </a:stretch>
          </p:blipFill>
          <p:spPr>
            <a:xfrm>
              <a:off x="0" y="0"/>
              <a:ext cx="3080033" cy="3444069"/>
            </a:xfrm>
            <a:prstGeom prst="rect">
              <a:avLst/>
            </a:prstGeom>
          </p:spPr>
        </p:pic>
        <p:pic>
          <p:nvPicPr>
            <p:cNvPr id="8" name="文本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24" y="13782"/>
              <a:ext cx="585230" cy="2588933"/>
            </a:xfrm>
            <a:prstGeom prst="rect">
              <a:avLst/>
            </a:prstGeom>
          </p:spPr>
        </p:pic>
      </p:grpSp>
      <p:grpSp>
        <p:nvGrpSpPr>
          <p:cNvPr id="9" name="组合3"/>
          <p:cNvGrpSpPr/>
          <p:nvPr/>
        </p:nvGrpSpPr>
        <p:grpSpPr>
          <a:xfrm>
            <a:off x="6064291" y="1466736"/>
            <a:ext cx="3080273" cy="3483870"/>
            <a:chOff x="0" y="0"/>
            <a:chExt cx="3080273" cy="3483870"/>
          </a:xfrm>
        </p:grpSpPr>
        <p:pic>
          <p:nvPicPr>
            <p:cNvPr id="10" name="图片3"/>
            <p:cNvPicPr>
              <a:picLocks noChangeAspect="1"/>
            </p:cNvPicPr>
            <p:nvPr/>
          </p:nvPicPr>
          <p:blipFill>
            <a:blip r:embed="rId5"/>
            <a:srcRect b="9859"/>
            <a:stretch>
              <a:fillRect/>
            </a:stretch>
          </p:blipFill>
          <p:spPr>
            <a:xfrm>
              <a:off x="0" y="0"/>
              <a:ext cx="3080273" cy="3483870"/>
            </a:xfrm>
            <a:prstGeom prst="rect">
              <a:avLst/>
            </a:prstGeom>
          </p:spPr>
        </p:pic>
        <p:pic>
          <p:nvPicPr>
            <p:cNvPr id="11" name="文本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451" y="3686"/>
              <a:ext cx="585230" cy="2884770"/>
            </a:xfrm>
            <a:prstGeom prst="rect">
              <a:avLst/>
            </a:prstGeom>
          </p:spPr>
        </p:pic>
      </p:grpSp>
      <p:grpSp>
        <p:nvGrpSpPr>
          <p:cNvPr id="12" name="组合4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13" name="图片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14" name="文本5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新课导入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188290" y="674627"/>
            <a:ext cx="8767762" cy="354608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了解作者及文章的写作背景；理解并积累文言词汇，正确翻译全文，把握文章主题。</a:t>
            </a:r>
            <a:r>
              <a:rPr lang="zh-CN" altLang="en-US" sz="2700" b="1" i="0">
                <a:solidFill>
                  <a:srgbClr val="48756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（重点）</a:t>
            </a:r>
            <a:endParaRPr lang="zh-CN" altLang="en-US" sz="2700" b="1" i="0">
              <a:solidFill>
                <a:srgbClr val="48756A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学习本文叙事、写景、议论、抒情相结合以及情景交融的写作方法。</a:t>
            </a:r>
            <a:r>
              <a:rPr lang="zh-CN" altLang="en-US" sz="2700" b="1" i="0">
                <a:solidFill>
                  <a:srgbClr val="48756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（难点）</a:t>
            </a:r>
            <a:endParaRPr lang="zh-CN" altLang="en-US" sz="2700" b="1" i="0">
              <a:solidFill>
                <a:srgbClr val="48756A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感受作者宽广的胸襟和远大的政治抱负；培养吃苦在前、享乐在后的思想品德。</a:t>
            </a:r>
            <a:r>
              <a:rPr lang="zh-CN" altLang="en-US" sz="2700" b="1" i="0">
                <a:solidFill>
                  <a:srgbClr val="48756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（素养）</a:t>
            </a:r>
            <a:endParaRPr lang="zh-CN" altLang="en-US" sz="2700" b="1" i="0">
              <a:solidFill>
                <a:srgbClr val="48756A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学习目标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242497" y="674570"/>
            <a:ext cx="8659616" cy="222435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700" b="1" i="0">
                <a:solidFill>
                  <a:srgbClr val="48756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范仲淹（989—1052），字希文，苏州吴县人，北宋政治家、文学家。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两岁丧父，家境贫寒，但少有大志，发愤苦读。他一生“四进四退”，屡遭贬斥，却始终心系天下。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6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7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作者简介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2949" y="675037"/>
            <a:ext cx="9030100" cy="285015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2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1046年，范仲淹的挚友滕子京谪守巴陵郡，重修岳阳楼。当时范仲淹亦被贬在邓州做官。滕子京请范仲淹为重修岳阳楼写记，并送去一幅《洞庭晚秋图》。范仲淹依据此图，凭借丰富的想象，写下了千古名篇。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写作背景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166040" y="674713"/>
            <a:ext cx="8631441" cy="425821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3B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700" b="1" i="0">
                <a:solidFill>
                  <a:srgbClr val="48756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“记”是中国古代散文体裁，以叙事为核心，兼具写景、状物、议论等功能。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内容涵盖人物事迹、山川名胜、器物建筑等，</a:t>
            </a:r>
            <a:r>
              <a:rPr lang="zh-CN" altLang="en-US" sz="2700" b="1" i="0">
                <a:solidFill>
                  <a:srgbClr val="48756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因题材广泛被称为“杂记”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700" b="1" i="0">
                <a:solidFill>
                  <a:srgbClr val="3333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其通过记述具体事物抒发情怀或见解，表现形式灵活，主要分为碑记（刻石记事）、游记（旅行见闻）、杂记（杂录见闻）及人物事迹类等子类。</a:t>
            </a:r>
            <a:endParaRPr lang="zh-CN" altLang="en-US" sz="2700" b="1" i="0">
              <a:solidFill>
                <a:srgbClr val="333333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叙事：《桃花源记》    说明：《核舟记》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写景：《小石潭记》    言志：《岳阳楼记》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文化常识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662311" y="803367"/>
            <a:ext cx="4873628" cy="6004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200"/>
              </a:lnSpc>
            </a:pPr>
            <a:r>
              <a:rPr lang="zh-CN" altLang="en-US" sz="2700" b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朗</a:t>
            </a:r>
            <a:r>
              <a:rPr lang="zh-CN" altLang="en-US" sz="2700" b="1" i="0" smtClean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课文，注意字音、停顿。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2"/>
          <p:cNvSpPr txBox="1"/>
          <p:nvPr/>
        </p:nvSpPr>
        <p:spPr>
          <a:xfrm>
            <a:off x="52949" y="1324404"/>
            <a:ext cx="8984256" cy="348599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700"/>
              </a:lnSpc>
            </a:pPr>
            <a:r>
              <a:rPr lang="zh-CN" altLang="en-US" sz="25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庆历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四年春，滕子京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谪守巴陵郡。越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明年，政通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人和，百废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具兴，乃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重修岳阳楼，增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其旧制，刻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唐贤今人诗赋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于其上，属予作文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以记之。</a:t>
            </a:r>
            <a:endParaRPr lang="zh-CN" altLang="en-US" sz="25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3700"/>
              </a:lnSpc>
            </a:pP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予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观夫巴陵胜状，在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洞庭一湖。衔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远山，吞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长江，浩浩/汤汤，横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无际涯，朝晖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夕阴，气象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万千，此则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岳阳楼之大观也，前人之述/备矣。然则/北通巫峡，南极/潇湘，迁客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骚人，多会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于此，览物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之情，得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无异乎?</a:t>
            </a:r>
            <a:endParaRPr lang="zh-CN" altLang="en-US" sz="25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6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7" name="文本3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整体感知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2902" y="674608"/>
            <a:ext cx="9020175" cy="44275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700"/>
              </a:lnSpc>
            </a:pPr>
            <a:r>
              <a:rPr lang="zh-CN" altLang="en-US" sz="25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若夫</a:t>
            </a:r>
            <a:r>
              <a:rPr lang="zh-CN" altLang="en-US" sz="2500" b="0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淫雨霏霏，连月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不开，阴风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怒号，浊浪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排空，日星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隐曜，山岳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潜形，商旅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不行，樯倾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楫摧，薄暮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冥冥，虎啸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猿啼。登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斯楼也，则有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去国怀乡，忧谗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畏讥，满目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萧然，感极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而悲者矣。</a:t>
            </a:r>
            <a:endParaRPr lang="zh-CN" altLang="en-US" sz="25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3700"/>
              </a:lnSpc>
            </a:pP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至若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春和景明，波澜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不惊，上下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天光，一碧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万顷，沙鸥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翔集，锦鳞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游泳，岸芷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汀兰，郁郁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青青。而或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长烟一空，皓月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千里，浮光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跃金，静影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沉璧，渔歌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互答，此乐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何极！登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斯楼也，则有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心旷神怡，宠辱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偕忘，把酒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临风，其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喜洋洋者矣。</a:t>
            </a:r>
            <a:endParaRPr lang="zh-CN" altLang="en-US" sz="25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整体感知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2388" y="674884"/>
            <a:ext cx="9092051" cy="326872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25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嗟夫！予尝求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古仁人之心，或异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二者之为，何哉？不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以物喜，不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以己悲，居庙堂之高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则忧其民，处江湖之远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则忧其君。是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进亦忧，退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亦忧。然则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何时而乐耶？其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必曰“先天下之忧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而忧，后天下之乐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而乐”乎？噫！微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斯人，吾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谁与归？时</a:t>
            </a: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六年九月十五日。</a:t>
            </a:r>
            <a:endParaRPr lang="zh-CN" altLang="en-US" sz="25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整体感知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86944" y="405441"/>
            <a:ext cx="9077725" cy="396028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庆历四年春，滕子京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谪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守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巴陵郡。      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7000"/>
              </a:lnSpc>
            </a:pP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越明年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政通人和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，百      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废</a:t>
            </a:r>
            <a:endParaRPr lang="zh-CN" altLang="en-US" sz="2700" b="1" i="0" u="sng">
              <a:solidFill>
                <a:srgbClr val="FF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7000"/>
              </a:lnSpc>
            </a:pP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兴，     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乃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重修岳阳楼，增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旧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，刻唐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7000"/>
              </a:lnSpc>
            </a:pP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贤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今人诗赋于其上，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予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作文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2"/>
          <p:cNvSpPr txBox="1"/>
          <p:nvPr/>
        </p:nvSpPr>
        <p:spPr>
          <a:xfrm>
            <a:off x="3289678" y="4253655"/>
            <a:ext cx="5738812" cy="87856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700"/>
              </a:lnSpc>
            </a:pP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省略句：</a:t>
            </a:r>
            <a:r>
              <a:rPr lang="zh-CN" altLang="en-US" sz="2500" b="1" i="0">
                <a:solidFill>
                  <a:srgbClr val="4A776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（滕子京）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属予作文以记之。</a:t>
            </a:r>
            <a:endParaRPr lang="zh-CN" altLang="en-US" sz="25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2700"/>
              </a:lnSpc>
            </a:pP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状语后置：</a:t>
            </a:r>
            <a:r>
              <a:rPr lang="zh-CN" altLang="en-US" sz="2500" b="1" i="0">
                <a:solidFill>
                  <a:srgbClr val="4A776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（于其上）</a:t>
            </a:r>
            <a:r>
              <a:rPr lang="zh-CN" altLang="en-US" sz="25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刻唐贤今人诗赋</a:t>
            </a:r>
            <a:endParaRPr lang="zh-CN" altLang="en-US" sz="25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5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6" name="文本3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段落翻译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7" name="形状1"/>
          <p:cNvSpPr txBox="1"/>
          <p:nvPr/>
        </p:nvSpPr>
        <p:spPr>
          <a:xfrm>
            <a:off x="6494040" y="3243043"/>
            <a:ext cx="188086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代，这件事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形状2"/>
          <p:cNvSpPr txBox="1"/>
          <p:nvPr/>
        </p:nvSpPr>
        <p:spPr>
          <a:xfrm>
            <a:off x="5711457" y="3243129"/>
            <a:ext cx="53665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来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形状3"/>
          <p:cNvSpPr txBox="1"/>
          <p:nvPr/>
        </p:nvSpPr>
        <p:spPr>
          <a:xfrm>
            <a:off x="2263397" y="3242815"/>
            <a:ext cx="2287467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同“嘱”嘱托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形状4"/>
          <p:cNvSpPr txBox="1"/>
          <p:nvPr/>
        </p:nvSpPr>
        <p:spPr>
          <a:xfrm>
            <a:off x="4796942" y="3243148"/>
            <a:ext cx="53665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我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形状5"/>
          <p:cNvSpPr txBox="1"/>
          <p:nvPr/>
        </p:nvSpPr>
        <p:spPr>
          <a:xfrm>
            <a:off x="52788" y="3242977"/>
            <a:ext cx="156237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贤明之人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形状6"/>
          <p:cNvSpPr txBox="1"/>
          <p:nvPr/>
        </p:nvSpPr>
        <p:spPr>
          <a:xfrm>
            <a:off x="6852552" y="2341397"/>
            <a:ext cx="868842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规模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形状7"/>
          <p:cNvSpPr txBox="1"/>
          <p:nvPr/>
        </p:nvSpPr>
        <p:spPr>
          <a:xfrm>
            <a:off x="5035163" y="2341645"/>
            <a:ext cx="156237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代词，它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形状8"/>
          <p:cNvSpPr txBox="1"/>
          <p:nvPr/>
        </p:nvSpPr>
        <p:spPr>
          <a:xfrm>
            <a:off x="2901944" y="2341807"/>
            <a:ext cx="10105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于是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形状9"/>
          <p:cNvSpPr txBox="1"/>
          <p:nvPr/>
        </p:nvSpPr>
        <p:spPr>
          <a:xfrm>
            <a:off x="52407" y="2341836"/>
            <a:ext cx="259464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同“俱”全，皆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形状10"/>
          <p:cNvSpPr txBox="1"/>
          <p:nvPr/>
        </p:nvSpPr>
        <p:spPr>
          <a:xfrm>
            <a:off x="2071564" y="1330957"/>
            <a:ext cx="326199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政事顺利，百姓和乐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形状11"/>
          <p:cNvSpPr txBox="1"/>
          <p:nvPr/>
        </p:nvSpPr>
        <p:spPr>
          <a:xfrm>
            <a:off x="5567201" y="1330681"/>
            <a:ext cx="236307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荒废了的事业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形状12"/>
          <p:cNvSpPr txBox="1"/>
          <p:nvPr/>
        </p:nvSpPr>
        <p:spPr>
          <a:xfrm>
            <a:off x="4278592" y="424672"/>
            <a:ext cx="36775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名作动，做州郡的太守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形状13"/>
          <p:cNvSpPr txBox="1"/>
          <p:nvPr/>
        </p:nvSpPr>
        <p:spPr>
          <a:xfrm>
            <a:off x="3166682" y="424548"/>
            <a:ext cx="868842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贬谪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形状14"/>
          <p:cNvSpPr txBox="1"/>
          <p:nvPr/>
        </p:nvSpPr>
        <p:spPr>
          <a:xfrm>
            <a:off x="87278" y="1330862"/>
            <a:ext cx="1880873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到了第二年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251727" y="505625"/>
            <a:ext cx="8642347" cy="352322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000"/>
              </a:lnSpc>
            </a:pPr>
            <a:r>
              <a:rPr lang="zh-CN" altLang="en-US" sz="26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庆历四年的春天，滕子京被贬官到岳州做知州。到了第二年，政事顺利，百姓和乐，各种荒废了的事业全兴办起来了，于是重新修建岳阳楼，扩大它原有的规模，把唐代名家和今人的诗赋刻在上面，嘱托我写篇文章来记述这件事。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段落译文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463115" y="643071"/>
            <a:ext cx="8378828" cy="6004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2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重修岳阳楼的背景是什么？交代背景有何深层含义？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精读细研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6" name="形状1"/>
          <p:cNvSpPr txBox="1"/>
          <p:nvPr/>
        </p:nvSpPr>
        <p:spPr>
          <a:xfrm>
            <a:off x="1008478" y="1330357"/>
            <a:ext cx="7127624" cy="1178147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 滕子京谪守巴陵郡。越明年，政通人和，百废具兴，乃重修岳阳楼。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形状2"/>
          <p:cNvSpPr txBox="1"/>
          <p:nvPr/>
        </p:nvSpPr>
        <p:spPr>
          <a:xfrm>
            <a:off x="1009050" y="2595201"/>
            <a:ext cx="7127853" cy="1484614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①滕子京身处逆境仍有所作为；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②暗含范仲淹对滕子京的肯定与勉励；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③为后文“不以物喜，不以己悲”作铺垫。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-13840" y="676637"/>
            <a:ext cx="9157887" cy="390313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予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夫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巴陵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胜状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，在洞庭一湖。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衔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远山，</a:t>
            </a:r>
            <a:r>
              <a:rPr lang="zh-CN" altLang="en-US" sz="2700" b="1" i="0" smtClean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吞长</a:t>
            </a:r>
            <a:r>
              <a:rPr lang="zh-CN" altLang="en-US" sz="2700" b="1" i="0" smtClean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江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，浩浩汤汤，</a:t>
            </a:r>
            <a:r>
              <a:rPr lang="zh-CN" altLang="en-US" sz="2700" b="1" i="0">
                <a:solidFill>
                  <a:srgbClr val="28415E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横无际涯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700" b="1" i="0">
                <a:solidFill>
                  <a:srgbClr val="28415E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朝晖夕阴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，气象万千，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岳阳楼之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大观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也，前人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述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备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矣。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然则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北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通巫峡，南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7000"/>
              </a:lnSpc>
            </a:pP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潇湘，迁客骚人，多会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于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览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之情，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得无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异乎？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2"/>
          <p:cNvSpPr txBox="1"/>
          <p:nvPr/>
        </p:nvSpPr>
        <p:spPr>
          <a:xfrm>
            <a:off x="4558113" y="4390463"/>
            <a:ext cx="4586288" cy="68360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2500" b="1" i="0">
                <a:solidFill>
                  <a:srgbClr val="4A776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判断句：此则岳阳楼之大观也</a:t>
            </a:r>
            <a:endParaRPr lang="zh-CN" altLang="en-US" sz="2500" b="1" i="0">
              <a:solidFill>
                <a:srgbClr val="4A776C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5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6" name="文本3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段落翻译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7" name="形状1"/>
          <p:cNvSpPr txBox="1"/>
          <p:nvPr/>
        </p:nvSpPr>
        <p:spPr>
          <a:xfrm>
            <a:off x="1832019" y="2527573"/>
            <a:ext cx="1544517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助词，的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形状2"/>
          <p:cNvSpPr txBox="1"/>
          <p:nvPr/>
        </p:nvSpPr>
        <p:spPr>
          <a:xfrm>
            <a:off x="6396552" y="3457680"/>
            <a:ext cx="2220792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表推测，大概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形状3"/>
          <p:cNvSpPr txBox="1"/>
          <p:nvPr/>
        </p:nvSpPr>
        <p:spPr>
          <a:xfrm>
            <a:off x="4715932" y="3459185"/>
            <a:ext cx="159571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观看景物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形状4"/>
          <p:cNvSpPr txBox="1"/>
          <p:nvPr/>
        </p:nvSpPr>
        <p:spPr>
          <a:xfrm>
            <a:off x="3834232" y="3459080"/>
            <a:ext cx="53665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在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形状5"/>
          <p:cNvSpPr txBox="1"/>
          <p:nvPr/>
        </p:nvSpPr>
        <p:spPr>
          <a:xfrm>
            <a:off x="52416" y="3458785"/>
            <a:ext cx="159571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至、到达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形状6"/>
          <p:cNvSpPr txBox="1"/>
          <p:nvPr/>
        </p:nvSpPr>
        <p:spPr>
          <a:xfrm>
            <a:off x="3471901" y="2527392"/>
            <a:ext cx="89860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详尽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形状7"/>
          <p:cNvSpPr txBox="1"/>
          <p:nvPr/>
        </p:nvSpPr>
        <p:spPr>
          <a:xfrm>
            <a:off x="4469625" y="2527335"/>
            <a:ext cx="18868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如此，那么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形状8"/>
          <p:cNvSpPr txBox="1"/>
          <p:nvPr/>
        </p:nvSpPr>
        <p:spPr>
          <a:xfrm>
            <a:off x="6480924" y="2527611"/>
            <a:ext cx="230116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名作状，向北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形状9"/>
          <p:cNvSpPr txBox="1"/>
          <p:nvPr/>
        </p:nvSpPr>
        <p:spPr>
          <a:xfrm>
            <a:off x="52711" y="2527154"/>
            <a:ext cx="165525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壮丽景象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形状10"/>
          <p:cNvSpPr txBox="1"/>
          <p:nvPr/>
        </p:nvSpPr>
        <p:spPr>
          <a:xfrm>
            <a:off x="7659643" y="1594304"/>
            <a:ext cx="89860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就是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形状11"/>
          <p:cNvSpPr txBox="1"/>
          <p:nvPr/>
        </p:nvSpPr>
        <p:spPr>
          <a:xfrm>
            <a:off x="6919008" y="1594752"/>
            <a:ext cx="53665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这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形状12"/>
          <p:cNvSpPr txBox="1"/>
          <p:nvPr/>
        </p:nvSpPr>
        <p:spPr>
          <a:xfrm>
            <a:off x="7463809" y="736778"/>
            <a:ext cx="89860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吞吐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形状13"/>
          <p:cNvSpPr txBox="1"/>
          <p:nvPr/>
        </p:nvSpPr>
        <p:spPr>
          <a:xfrm>
            <a:off x="6038974" y="736664"/>
            <a:ext cx="89860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含着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形状14"/>
          <p:cNvSpPr txBox="1"/>
          <p:nvPr/>
        </p:nvSpPr>
        <p:spPr>
          <a:xfrm>
            <a:off x="2829287" y="736806"/>
            <a:ext cx="18868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胜景，美景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1" name="形状15"/>
          <p:cNvSpPr txBox="1"/>
          <p:nvPr/>
        </p:nvSpPr>
        <p:spPr>
          <a:xfrm>
            <a:off x="1076973" y="736921"/>
            <a:ext cx="1655245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代词，那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形状16"/>
          <p:cNvSpPr txBox="1"/>
          <p:nvPr/>
        </p:nvSpPr>
        <p:spPr>
          <a:xfrm>
            <a:off x="376076" y="736864"/>
            <a:ext cx="53665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看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167478" y="568566"/>
            <a:ext cx="8810482" cy="361776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26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看那巴陵的美景,全集中在洞庭湖上。（洞庭湖）含着远处的山峰，吞吐着长江的流水，浩浩荡荡，宽阔无边。早晚阴晴明暗多变，气象万千。这是岳阳楼的壮丽景象，前人的记述（已经）很详尽了。虽然这样，那么从这里向北直通巫峡，向南直到潇水、湘水，那些降职远调的官员和文人大多聚会在这里，他们看了自然景物而触发的感情，恐怕会有所不同吧？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段落译文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2940" y="674675"/>
            <a:ext cx="9084869" cy="120742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  <a:buFont typeface="Arial" panose="020B0604020202020204"/>
              <a:buChar char=" "/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1.第二段总写了洞庭湖怎样的景象？请从原文中找出最能概括其特点的语句。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精读细研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6" name="形状1"/>
          <p:cNvSpPr txBox="1"/>
          <p:nvPr/>
        </p:nvSpPr>
        <p:spPr>
          <a:xfrm>
            <a:off x="943566" y="1983562"/>
            <a:ext cx="7280024" cy="1178147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800"/>
              </a:lnSpc>
              <a:buFont typeface="Arial" panose="020B0604020202020204"/>
              <a:buChar char=" "/>
            </a:pPr>
            <a:r>
              <a:rPr lang="zh-CN" altLang="en-US" sz="2600" b="0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</a:t>
            </a: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衔远山，吞长江，浩浩汤汤，横无际涯，朝晖夕阴，气象万千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形状2"/>
          <p:cNvSpPr txBox="1"/>
          <p:nvPr/>
        </p:nvSpPr>
        <p:spPr>
          <a:xfrm>
            <a:off x="966902" y="3248406"/>
            <a:ext cx="7280258" cy="1178624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写出洞庭湖的磅礴气势、广阔无垠、气象万千。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3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4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精读细研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282826" y="674608"/>
            <a:ext cx="8467725" cy="69896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2.“览物之情，得无异乎？”在全文中起什么作用？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形状1"/>
          <p:cNvSpPr txBox="1"/>
          <p:nvPr/>
        </p:nvSpPr>
        <p:spPr>
          <a:xfrm>
            <a:off x="291675" y="1587846"/>
            <a:ext cx="8451599" cy="1463897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800"/>
              </a:lnSpc>
              <a:buFont typeface="Arial" panose="020B0604020202020204"/>
              <a:buChar char=" "/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承上启下：承接上文对洞庭湖壮丽景色的描写；“异”字引出下文迁客骚人因景色而生的不同情感。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44701" y="674570"/>
            <a:ext cx="9091803" cy="396028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若夫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淫雨霏霏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连月不开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，阴风怒号，浊浪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排空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，日星隐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曜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，山岳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潜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形，商旅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不行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樯倾楫摧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   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7000"/>
              </a:lnSpc>
            </a:pP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薄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暮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冥冥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，虎啸猿啼。登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斯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楼也，则有去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国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怀乡，忧谗畏讥，满目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萧然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 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悲者矣。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段落翻译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6" name="形状1"/>
          <p:cNvSpPr txBox="1"/>
          <p:nvPr/>
        </p:nvSpPr>
        <p:spPr>
          <a:xfrm>
            <a:off x="801891" y="3556125"/>
            <a:ext cx="2563101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萧条冷落的样子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形状2"/>
          <p:cNvSpPr txBox="1"/>
          <p:nvPr/>
        </p:nvSpPr>
        <p:spPr>
          <a:xfrm>
            <a:off x="5764225" y="3555930"/>
            <a:ext cx="190587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表顺承，就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形状3"/>
          <p:cNvSpPr txBox="1"/>
          <p:nvPr/>
        </p:nvSpPr>
        <p:spPr>
          <a:xfrm>
            <a:off x="4715647" y="3556216"/>
            <a:ext cx="902179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极点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形状4"/>
          <p:cNvSpPr txBox="1"/>
          <p:nvPr/>
        </p:nvSpPr>
        <p:spPr>
          <a:xfrm>
            <a:off x="6542332" y="2683154"/>
            <a:ext cx="864079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国都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形状5"/>
          <p:cNvSpPr txBox="1"/>
          <p:nvPr/>
        </p:nvSpPr>
        <p:spPr>
          <a:xfrm>
            <a:off x="3912308" y="2655399"/>
            <a:ext cx="15439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这，这个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形状6"/>
          <p:cNvSpPr txBox="1"/>
          <p:nvPr/>
        </p:nvSpPr>
        <p:spPr>
          <a:xfrm>
            <a:off x="5185019" y="1574787"/>
            <a:ext cx="3363201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桅杆倒下，船桨断折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形状7"/>
          <p:cNvSpPr txBox="1"/>
          <p:nvPr/>
        </p:nvSpPr>
        <p:spPr>
          <a:xfrm>
            <a:off x="6852599" y="675046"/>
            <a:ext cx="1667751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冲向天空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形状8"/>
          <p:cNvSpPr txBox="1"/>
          <p:nvPr/>
        </p:nvSpPr>
        <p:spPr>
          <a:xfrm>
            <a:off x="3559207" y="3556083"/>
            <a:ext cx="10105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感慨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形状9"/>
          <p:cNvSpPr txBox="1"/>
          <p:nvPr/>
        </p:nvSpPr>
        <p:spPr>
          <a:xfrm>
            <a:off x="1132370" y="2655103"/>
            <a:ext cx="864079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昏暗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形状10"/>
          <p:cNvSpPr txBox="1"/>
          <p:nvPr/>
        </p:nvSpPr>
        <p:spPr>
          <a:xfrm>
            <a:off x="90278" y="2655456"/>
            <a:ext cx="864079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接近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形状11"/>
          <p:cNvSpPr txBox="1"/>
          <p:nvPr/>
        </p:nvSpPr>
        <p:spPr>
          <a:xfrm>
            <a:off x="3417037" y="1575121"/>
            <a:ext cx="1667751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不能前行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形状12"/>
          <p:cNvSpPr txBox="1"/>
          <p:nvPr/>
        </p:nvSpPr>
        <p:spPr>
          <a:xfrm>
            <a:off x="1996097" y="1574740"/>
            <a:ext cx="896817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隐没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形状13"/>
          <p:cNvSpPr txBox="1"/>
          <p:nvPr/>
        </p:nvSpPr>
        <p:spPr>
          <a:xfrm>
            <a:off x="639108" y="1575573"/>
            <a:ext cx="864079" cy="460248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光芒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形状14"/>
          <p:cNvSpPr txBox="1"/>
          <p:nvPr/>
        </p:nvSpPr>
        <p:spPr>
          <a:xfrm>
            <a:off x="3101197" y="674580"/>
            <a:ext cx="2979820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连续一个月不放晴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形状15"/>
          <p:cNvSpPr txBox="1"/>
          <p:nvPr/>
        </p:nvSpPr>
        <p:spPr>
          <a:xfrm>
            <a:off x="412937" y="674703"/>
            <a:ext cx="2563101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连绵不断的雨雪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2435" y="674951"/>
            <a:ext cx="8968826" cy="4331328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26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像那连绵不断的雨纷纷而下，接连几个月不放晴，阴冷的风呼啸着，浑浊的浪冲向天空，太阳和星星隐藏起光辉，山岳隐没了形体；商人和旅客不能前行，桅杆倒下，船桨断折；傍晚天色昏暗，虎吼叫猿哀啼。（这时）登上这座楼啊，就会有离开国都，怀念家乡，担心被说坏话，惧怕被批评指责（的情怀），（会觉得）满目凄凉冷落，感慨到极点而十分悲伤了。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段落译文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2826" y="674808"/>
            <a:ext cx="8820150" cy="9727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1.第三段描写了洞庭湖的阴雨之景，请找出描写景物的关键词，概括其氛围特点。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2"/>
          <p:cNvSpPr txBox="1"/>
          <p:nvPr/>
        </p:nvSpPr>
        <p:spPr>
          <a:xfrm>
            <a:off x="362274" y="2355218"/>
            <a:ext cx="8420100" cy="101037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2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2.作者是如何通过景物描写来表现“迁客骚人”的悲伤之情的？请从表现手法的角度进行赏析。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5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6" name="文本3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精读细研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7" name="形状1"/>
          <p:cNvSpPr txBox="1"/>
          <p:nvPr/>
        </p:nvSpPr>
        <p:spPr>
          <a:xfrm>
            <a:off x="2062220" y="1647615"/>
            <a:ext cx="4422524" cy="639394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阴暗压抑、萧条、凄凉恐怖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形状2"/>
          <p:cNvSpPr txBox="1"/>
          <p:nvPr/>
        </p:nvSpPr>
        <p:spPr>
          <a:xfrm>
            <a:off x="237039" y="3365564"/>
            <a:ext cx="8451599" cy="1463897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 运用了借景抒情的表现手法，通过写迁客骚人所观的洞庭湖阴雨之景，生动形象地写出了迁客骚人离开国都思念家乡，害怕谗言和批评指责悲伤之情。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638" y="674532"/>
            <a:ext cx="9143600" cy="390313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至若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春和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景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明，波澜不惊，上下天光，一碧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万顷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，沙鸥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翔集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    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锦鳞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游泳，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岸芷汀兰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7000"/>
              </a:lnSpc>
            </a:pP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郁郁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青青。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而或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长烟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皓月千里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，浮光跃金，静影沉璧，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渔歌互答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 此乐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何极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段落翻译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6" name="形状1"/>
          <p:cNvSpPr txBox="1"/>
          <p:nvPr/>
        </p:nvSpPr>
        <p:spPr>
          <a:xfrm>
            <a:off x="3415551" y="3501704"/>
            <a:ext cx="16201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哪有尽头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形状2"/>
          <p:cNvSpPr txBox="1"/>
          <p:nvPr/>
        </p:nvSpPr>
        <p:spPr>
          <a:xfrm>
            <a:off x="-429" y="3502133"/>
            <a:ext cx="32584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渔夫的歌声你唱我和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形状3"/>
          <p:cNvSpPr txBox="1"/>
          <p:nvPr/>
        </p:nvSpPr>
        <p:spPr>
          <a:xfrm>
            <a:off x="7529779" y="674761"/>
            <a:ext cx="87598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广阔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形状4"/>
          <p:cNvSpPr txBox="1"/>
          <p:nvPr/>
        </p:nvSpPr>
        <p:spPr>
          <a:xfrm>
            <a:off x="2298325" y="674722"/>
            <a:ext cx="87598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日光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形状5"/>
          <p:cNvSpPr txBox="1"/>
          <p:nvPr/>
        </p:nvSpPr>
        <p:spPr>
          <a:xfrm>
            <a:off x="4749498" y="2586190"/>
            <a:ext cx="32584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明亮的月光一泻千里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形状6"/>
          <p:cNvSpPr txBox="1"/>
          <p:nvPr/>
        </p:nvSpPr>
        <p:spPr>
          <a:xfrm>
            <a:off x="3788493" y="2586161"/>
            <a:ext cx="87598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消散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形状7"/>
          <p:cNvSpPr txBox="1"/>
          <p:nvPr/>
        </p:nvSpPr>
        <p:spPr>
          <a:xfrm>
            <a:off x="1764011" y="2586485"/>
            <a:ext cx="909923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有时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形状8"/>
          <p:cNvSpPr txBox="1"/>
          <p:nvPr/>
        </p:nvSpPr>
        <p:spPr>
          <a:xfrm>
            <a:off x="5080797" y="1638205"/>
            <a:ext cx="3325101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岸上和小洲上的花草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形状9"/>
          <p:cNvSpPr txBox="1"/>
          <p:nvPr/>
        </p:nvSpPr>
        <p:spPr>
          <a:xfrm>
            <a:off x="467" y="2542442"/>
            <a:ext cx="10105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茂盛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形状10"/>
          <p:cNvSpPr txBox="1"/>
          <p:nvPr/>
        </p:nvSpPr>
        <p:spPr>
          <a:xfrm>
            <a:off x="3415665" y="1637805"/>
            <a:ext cx="16201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美丽的鱼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形状11"/>
          <p:cNvSpPr txBox="1"/>
          <p:nvPr/>
        </p:nvSpPr>
        <p:spPr>
          <a:xfrm>
            <a:off x="607571" y="674913"/>
            <a:ext cx="16201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春风和煦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形状12"/>
          <p:cNvSpPr txBox="1"/>
          <p:nvPr/>
        </p:nvSpPr>
        <p:spPr>
          <a:xfrm>
            <a:off x="3154156" y="2586085"/>
            <a:ext cx="505701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全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形状13"/>
          <p:cNvSpPr txBox="1"/>
          <p:nvPr/>
        </p:nvSpPr>
        <p:spPr>
          <a:xfrm>
            <a:off x="8096" y="1638395"/>
            <a:ext cx="3325101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时而飞翔，时而停歇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-562" y="675084"/>
            <a:ext cx="9144000" cy="198966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登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斯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楼也，则有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心旷神怡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 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宠辱偕忘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酒临风，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喜 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洋洋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者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矣。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段落翻译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6" name="形状1"/>
          <p:cNvSpPr txBox="1"/>
          <p:nvPr/>
        </p:nvSpPr>
        <p:spPr>
          <a:xfrm>
            <a:off x="52702" y="675618"/>
            <a:ext cx="16201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代词，这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形状2"/>
          <p:cNvSpPr txBox="1"/>
          <p:nvPr/>
        </p:nvSpPr>
        <p:spPr>
          <a:xfrm>
            <a:off x="5224834" y="675599"/>
            <a:ext cx="3259017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荣耀和屈辱一并忘掉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形状3"/>
          <p:cNvSpPr txBox="1"/>
          <p:nvPr/>
        </p:nvSpPr>
        <p:spPr>
          <a:xfrm>
            <a:off x="1819542" y="675637"/>
            <a:ext cx="32584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心情舒畅，精神愉悦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形状4"/>
          <p:cNvSpPr txBox="1"/>
          <p:nvPr/>
        </p:nvSpPr>
        <p:spPr>
          <a:xfrm>
            <a:off x="52873" y="1645006"/>
            <a:ext cx="10105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端着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形状5"/>
          <p:cNvSpPr txBox="1"/>
          <p:nvPr/>
        </p:nvSpPr>
        <p:spPr>
          <a:xfrm>
            <a:off x="1424673" y="1645072"/>
            <a:ext cx="16201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代词，那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形状6"/>
          <p:cNvSpPr txBox="1"/>
          <p:nvPr/>
        </p:nvSpPr>
        <p:spPr>
          <a:xfrm>
            <a:off x="3216431" y="1645425"/>
            <a:ext cx="2008270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得意的样子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形状7"/>
          <p:cNvSpPr txBox="1"/>
          <p:nvPr/>
        </p:nvSpPr>
        <p:spPr>
          <a:xfrm>
            <a:off x="5369376" y="1645263"/>
            <a:ext cx="2970295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代词，……的心情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2616" y="675018"/>
            <a:ext cx="9091412" cy="3710654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7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至于春风和煦、阳光明媚的时候，湖面平静，没有风浪，天色湖光相接，一片青绿，广阔无际；沙洲上的鸥鸟时而飞翔，时而停歇，美丽的鱼儿（在水中）畅游；岸上与小洲上的花草，茂盛而且青绿。有时大片烟雾完全消散，皎洁的月光一泻千里，浮动的光像跳动的金子，静静的月影像沉入水中的玉璧，渔夫的歌声你唱我和，这样的乐趣哪有尽头啊！（这时）登上这座楼啊，就会感到心情舒畅，精神愉快，荣耀和屈辱一并忘掉，端着酒，迎着风，那真是高兴得不得了啊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段落译文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175574" y="693696"/>
            <a:ext cx="8653462" cy="120742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1.面对如此美景，“迁客骚人”产生了怎样的情感？请用原文回答。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精读细研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6" name="形状1"/>
          <p:cNvSpPr txBox="1"/>
          <p:nvPr/>
        </p:nvSpPr>
        <p:spPr>
          <a:xfrm>
            <a:off x="564099" y="1901352"/>
            <a:ext cx="7670549" cy="1287094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心旷神怡，宠辱偕忘，把酒临风，其喜洋洋者矣。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213198" y="1945634"/>
            <a:ext cx="8451599" cy="1782985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 运用了对比的表现手法，通过写迁客骚人在阴雨之景中的“悲”和在晴明之景中的“喜”，突出了他们完全被外界环境和个人境遇所左右的狭隘心态，为后文提出“不以物喜，不以己悲”的超然境界作铺垫。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文本1"/>
          <p:cNvSpPr txBox="1"/>
          <p:nvPr/>
        </p:nvSpPr>
        <p:spPr>
          <a:xfrm>
            <a:off x="124473" y="674684"/>
            <a:ext cx="8628459" cy="120742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2.第三段与第四段在内容和写法上形成了怎样的关系？这样写有什么好处？（表现手法）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5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6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精读细研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2953" y="674694"/>
            <a:ext cx="9144591" cy="401743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嗟夫！予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尝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zh-CN" altLang="en-US" sz="2700" b="1" i="0">
                <a:solidFill>
                  <a:srgbClr val="28415E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古仁人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之心，或异二者之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何哉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？不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物喜，不以己悲，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居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堂庙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高则忧其民，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7000"/>
              </a:lnSpc>
            </a:pP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处江湖之远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则忧其君。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进亦忧，退亦忧。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然则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何时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7000"/>
              </a:lnSpc>
            </a:pP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乐耶？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2"/>
          <p:cNvSpPr txBox="1"/>
          <p:nvPr/>
        </p:nvSpPr>
        <p:spPr>
          <a:xfrm>
            <a:off x="3912851" y="3660972"/>
            <a:ext cx="4263028" cy="101037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2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定语后置：</a:t>
            </a:r>
            <a:r>
              <a:rPr lang="zh-CN" altLang="en-US" sz="2700" b="1" i="0">
                <a:solidFill>
                  <a:srgbClr val="4A776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（高）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居庙堂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3200"/>
              </a:lnSpc>
            </a:pPr>
            <a:r>
              <a:rPr lang="zh-CN" altLang="en-US" sz="2700" b="1" i="0">
                <a:solidFill>
                  <a:srgbClr val="4A776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（远）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处江湖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5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6" name="文本3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段落翻译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7" name="形状1"/>
          <p:cNvSpPr txBox="1"/>
          <p:nvPr/>
        </p:nvSpPr>
        <p:spPr>
          <a:xfrm>
            <a:off x="7096" y="3660715"/>
            <a:ext cx="198504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表顺承，才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形状2"/>
          <p:cNvSpPr txBox="1"/>
          <p:nvPr/>
        </p:nvSpPr>
        <p:spPr>
          <a:xfrm>
            <a:off x="6709924" y="2596772"/>
            <a:ext cx="8962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那么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形状3"/>
          <p:cNvSpPr txBox="1"/>
          <p:nvPr/>
        </p:nvSpPr>
        <p:spPr>
          <a:xfrm>
            <a:off x="3417522" y="2596763"/>
            <a:ext cx="10105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这样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形状4"/>
          <p:cNvSpPr txBox="1"/>
          <p:nvPr/>
        </p:nvSpPr>
        <p:spPr>
          <a:xfrm>
            <a:off x="6687" y="2597048"/>
            <a:ext cx="323461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处于远离朝廷的地方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形状5"/>
          <p:cNvSpPr txBox="1"/>
          <p:nvPr/>
        </p:nvSpPr>
        <p:spPr>
          <a:xfrm>
            <a:off x="5442147" y="1598371"/>
            <a:ext cx="2411292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定语后置标志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形状6"/>
          <p:cNvSpPr txBox="1"/>
          <p:nvPr/>
        </p:nvSpPr>
        <p:spPr>
          <a:xfrm>
            <a:off x="4319892" y="1597990"/>
            <a:ext cx="10105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朝廷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形状7"/>
          <p:cNvSpPr txBox="1"/>
          <p:nvPr/>
        </p:nvSpPr>
        <p:spPr>
          <a:xfrm>
            <a:off x="7741301" y="740654"/>
            <a:ext cx="1210551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为什么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形状8"/>
          <p:cNvSpPr txBox="1"/>
          <p:nvPr/>
        </p:nvSpPr>
        <p:spPr>
          <a:xfrm>
            <a:off x="275025" y="1598285"/>
            <a:ext cx="90039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因为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形状9"/>
          <p:cNvSpPr txBox="1"/>
          <p:nvPr/>
        </p:nvSpPr>
        <p:spPr>
          <a:xfrm>
            <a:off x="6652498" y="740902"/>
            <a:ext cx="10105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行为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形状10"/>
          <p:cNvSpPr txBox="1"/>
          <p:nvPr/>
        </p:nvSpPr>
        <p:spPr>
          <a:xfrm>
            <a:off x="2171033" y="740693"/>
            <a:ext cx="8962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探求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形状11"/>
          <p:cNvSpPr txBox="1"/>
          <p:nvPr/>
        </p:nvSpPr>
        <p:spPr>
          <a:xfrm>
            <a:off x="3259846" y="1597828"/>
            <a:ext cx="94861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处于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形状12"/>
          <p:cNvSpPr txBox="1"/>
          <p:nvPr/>
        </p:nvSpPr>
        <p:spPr>
          <a:xfrm>
            <a:off x="3156852" y="740693"/>
            <a:ext cx="2959579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古代品德高尚的人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形状13"/>
          <p:cNvSpPr txBox="1"/>
          <p:nvPr/>
        </p:nvSpPr>
        <p:spPr>
          <a:xfrm>
            <a:off x="1174842" y="741140"/>
            <a:ext cx="899798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曾经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-267" y="796480"/>
            <a:ext cx="9144000" cy="288925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000"/>
              </a:lnSpc>
            </a:pP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必曰“ 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天下之忧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忧，     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天下之乐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乐”乎！噫！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斯人，吾谁与 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归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？时六年九月十五日。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2"/>
          <p:cNvSpPr txBox="1"/>
          <p:nvPr/>
        </p:nvSpPr>
        <p:spPr>
          <a:xfrm>
            <a:off x="5441642" y="2887180"/>
            <a:ext cx="3165443" cy="6004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2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宾语前置:</a:t>
            </a:r>
            <a:r>
              <a:rPr lang="zh-CN" altLang="en-US" sz="2700" b="1" i="0">
                <a:solidFill>
                  <a:srgbClr val="4A776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吾与谁归</a:t>
            </a:r>
            <a:endParaRPr lang="zh-CN" altLang="en-US" sz="2700" b="1" i="0">
              <a:solidFill>
                <a:srgbClr val="4A776C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形状1"/>
          <p:cNvSpPr txBox="1"/>
          <p:nvPr/>
        </p:nvSpPr>
        <p:spPr>
          <a:xfrm>
            <a:off x="2143344" y="1744247"/>
            <a:ext cx="1783251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如果没有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形状2"/>
          <p:cNvSpPr txBox="1"/>
          <p:nvPr/>
        </p:nvSpPr>
        <p:spPr>
          <a:xfrm>
            <a:off x="-486" y="796271"/>
            <a:ext cx="2258892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表推测，大概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形状3"/>
          <p:cNvSpPr txBox="1"/>
          <p:nvPr/>
        </p:nvSpPr>
        <p:spPr>
          <a:xfrm>
            <a:off x="2529392" y="796280"/>
            <a:ext cx="195826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在……之前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形状4"/>
          <p:cNvSpPr txBox="1"/>
          <p:nvPr/>
        </p:nvSpPr>
        <p:spPr>
          <a:xfrm>
            <a:off x="4589021" y="796452"/>
            <a:ext cx="195826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表顺承，就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形状5"/>
          <p:cNvSpPr txBox="1"/>
          <p:nvPr/>
        </p:nvSpPr>
        <p:spPr>
          <a:xfrm>
            <a:off x="5063309" y="1744151"/>
            <a:ext cx="1010526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同道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9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10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11" name="文本3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段落翻译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12" name="形状6"/>
          <p:cNvSpPr txBox="1"/>
          <p:nvPr/>
        </p:nvSpPr>
        <p:spPr>
          <a:xfrm>
            <a:off x="6648488" y="796033"/>
            <a:ext cx="195826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在……之后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形状7"/>
          <p:cNvSpPr txBox="1"/>
          <p:nvPr/>
        </p:nvSpPr>
        <p:spPr>
          <a:xfrm>
            <a:off x="-38" y="1744123"/>
            <a:ext cx="1958264" cy="46083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表顺承，才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2673" y="674856"/>
            <a:ext cx="8988428" cy="3710654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700" b="1" i="0">
                <a:solidFill>
                  <a:srgbClr val="28415E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唉！我曾经探求古代品德高尚的人的心思，或许不同于以上两种表现，为什么呢？不因外物和自己处境的变化而喜悲，处在高高的朝堂上（在朝廷上做官），就为平民百姓忧虑，处在僻远的江湖间（被贬谪到边远地区做地方官）就为君主担忧。这样，在朝廷上做官也担忧，被贬谪到边远地区做地方官也担忧。那么什么时候才快乐呢？大概一定会说“在天下人忧之前而忧，在天下人乐之后才乐”吧！啊！如果没有这种人，我同谁一道呢？时间为庆历六年九月十五日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段落译文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94507" y="569024"/>
            <a:ext cx="9049531" cy="6004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200"/>
              </a:lnSpc>
              <a:buFont typeface="Arial" panose="020B0604020202020204"/>
              <a:buChar char=" "/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1.“迁客骚人”的情感与“古仁人之心”有什么不同？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3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精读细研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6" name="形状1"/>
          <p:cNvSpPr txBox="1"/>
          <p:nvPr/>
        </p:nvSpPr>
        <p:spPr>
          <a:xfrm>
            <a:off x="683409" y="1168879"/>
            <a:ext cx="5817337" cy="1096594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>
              <a:lnSpc>
                <a:spcPts val="3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迁客骚人：以物喜，以己悲。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>
              <a:lnSpc>
                <a:spcPts val="3800"/>
              </a:lnSpc>
            </a:pPr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古仁人：不以物喜，不以己悲。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2"/>
          <p:cNvSpPr txBox="1"/>
          <p:nvPr/>
        </p:nvSpPr>
        <p:spPr>
          <a:xfrm>
            <a:off x="413899" y="2281819"/>
            <a:ext cx="8410575" cy="120742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2.如何理解全文的主旨句“先天下之忧而忧，后天下之乐而乐”这句话的内涵？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形状2"/>
          <p:cNvSpPr txBox="1"/>
          <p:nvPr/>
        </p:nvSpPr>
        <p:spPr>
          <a:xfrm>
            <a:off x="683114" y="3488760"/>
            <a:ext cx="7732462" cy="141091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 以天下为先、超越个人得失、吃苦在前享乐在后，体现了范仲淹以天下为己任的崇高精神，是全文思想的升华与核心。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78000" y="784955"/>
            <a:ext cx="8952709" cy="6004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2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3.“微斯人，吾谁与归？”流露出作者怎样的思想感情？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精读细研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6" name="形状1"/>
          <p:cNvSpPr txBox="1"/>
          <p:nvPr/>
        </p:nvSpPr>
        <p:spPr>
          <a:xfrm>
            <a:off x="522589" y="1495034"/>
            <a:ext cx="8065237" cy="1849069"/>
          </a:xfrm>
          <a:prstGeom prst="rect">
            <a:avLst/>
          </a:prstGeom>
          <a:solidFill>
            <a:srgbClr val="4A776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① “微斯人”表达了对古仁人的敬仰与羡慕；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②“吾谁与归”表达了对同道者的渴望与孤独感；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③ 对滕子京的委婉劝勉与共勉。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/>
            <a:r>
              <a:rPr lang="zh-CN" altLang="en-US" sz="2600" b="1" i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④ 以反问收束，情感深沉，余韵悠长。</a:t>
            </a:r>
            <a:endParaRPr lang="zh-CN" altLang="en-US" sz="2600" b="1" i="0">
              <a:solidFill>
                <a:srgbClr val="FFFF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3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4" name="文本7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合作探究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52845" y="674608"/>
            <a:ext cx="9016213" cy="6004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2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回顾全文，请完成下表，梳理各段内容及主要表达方式。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表格1"/>
          <p:cNvGraphicFramePr>
            <a:graphicFrameLocks noGrp="1"/>
          </p:cNvGraphicFramePr>
          <p:nvPr/>
        </p:nvGraphicFramePr>
        <p:xfrm>
          <a:off x="52673" y="1274664"/>
          <a:ext cx="9018385" cy="3869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879"/>
                <a:gridCol w="6064693"/>
                <a:gridCol w="1999813"/>
              </a:tblGrid>
              <a:tr h="693152">
                <a:tc>
                  <a:txBody>
                    <a:bodyPr wrap="square"/>
                    <a:lstStyle/>
                    <a:p>
                      <a:pPr marL="0" algn="l"/>
                      <a:r>
                        <a:rPr lang="zh-CN" altLang="en-US" sz="2700" b="1" i="0">
                          <a:solidFill>
                            <a:srgbClr val="464646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段落</a:t>
                      </a:r>
                      <a:endParaRPr lang="zh-CN" altLang="en-US" sz="2700" b="1" i="0">
                        <a:solidFill>
                          <a:srgbClr val="464646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ctr"/>
                      <a:r>
                        <a:rPr lang="zh-CN" altLang="en-US" sz="2700" b="1" i="0">
                          <a:solidFill>
                            <a:srgbClr val="464646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</a:t>
                      </a:r>
                      <a:endParaRPr lang="zh-CN" altLang="en-US" sz="2700" b="1" i="0">
                        <a:solidFill>
                          <a:srgbClr val="464646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ctr"/>
                      <a:r>
                        <a:rPr lang="zh-CN" altLang="en-US" sz="2700" b="1" i="0">
                          <a:solidFill>
                            <a:srgbClr val="464646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表达方式</a:t>
                      </a:r>
                      <a:endParaRPr lang="zh-CN" altLang="en-US" sz="2700" b="1" i="0">
                        <a:solidFill>
                          <a:srgbClr val="464646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</a:tr>
              <a:tr h="635183">
                <a:tc>
                  <a:txBody>
                    <a:bodyPr wrap="square"/>
                    <a:lstStyle/>
                    <a:p>
                      <a:pPr marL="0" algn="ctr"/>
                      <a:r>
                        <a:rPr lang="zh-CN" altLang="en-US" sz="2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zh-CN" altLang="en-US" sz="2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l"/>
                      <a:r>
                        <a:rPr lang="zh-CN" altLang="en-US" sz="2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交代写作的缘由</a:t>
                      </a:r>
                      <a:endParaRPr lang="zh-CN" altLang="en-US" sz="2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ctr"/>
                      <a:r>
                        <a:rPr lang="zh-CN" altLang="en-US" sz="2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记叙</a:t>
                      </a:r>
                      <a:endParaRPr lang="zh-CN" altLang="en-US" sz="2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183">
                <a:tc>
                  <a:txBody>
                    <a:bodyPr wrap="square"/>
                    <a:lstStyle/>
                    <a:p>
                      <a:pPr marL="0" algn="ctr"/>
                      <a:r>
                        <a:rPr lang="zh-CN" altLang="en-US" sz="2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</a:t>
                      </a:r>
                      <a:endParaRPr lang="zh-CN" altLang="en-US" sz="2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l"/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l"/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183">
                <a:tc>
                  <a:txBody>
                    <a:bodyPr wrap="square"/>
                    <a:lstStyle/>
                    <a:p>
                      <a:pPr marL="0" algn="ctr"/>
                      <a:r>
                        <a:rPr lang="zh-CN" altLang="en-US" sz="2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3</a:t>
                      </a:r>
                      <a:endParaRPr lang="zh-CN" altLang="en-US" sz="2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l"/>
                      <a:r>
                        <a:rPr lang="zh-CN" altLang="en-US" sz="2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写阴雨之景，抒迁客骚人去国怀乡之悲</a:t>
                      </a:r>
                      <a:endParaRPr lang="zh-CN" altLang="en-US" sz="2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ctr"/>
                      <a:r>
                        <a:rPr lang="zh-CN" altLang="en-US" sz="2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描写、抒情</a:t>
                      </a:r>
                      <a:endParaRPr lang="zh-CN" altLang="en-US" sz="2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183">
                <a:tc>
                  <a:txBody>
                    <a:bodyPr wrap="square"/>
                    <a:lstStyle/>
                    <a:p>
                      <a:pPr marL="0" algn="ctr"/>
                      <a:r>
                        <a:rPr lang="zh-CN" altLang="en-US" sz="2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  <a:endParaRPr lang="zh-CN" altLang="en-US" sz="2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l"/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l"/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183">
                <a:tc>
                  <a:txBody>
                    <a:bodyPr wrap="square"/>
                    <a:lstStyle/>
                    <a:p>
                      <a:pPr marL="0" algn="ctr"/>
                      <a:r>
                        <a:rPr lang="zh-CN" altLang="en-US" sz="2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5</a:t>
                      </a:r>
                      <a:endParaRPr lang="zh-CN" altLang="en-US" sz="2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l"/>
                      <a:r>
                        <a:rPr lang="zh-CN" altLang="en-US" sz="2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探求古仁人之心，揭示先忧后乐的主旨</a:t>
                      </a:r>
                      <a:endParaRPr lang="zh-CN" altLang="en-US" sz="2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algn="l"/>
                    </a:p>
                  </a:txBody>
                  <a:tcPr vert="horz">
                    <a:lnL w="9525" cap="flat">
                      <a:solidFill>
                        <a:srgbClr val="ADADA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ADADA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ADADA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ADADA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文本2"/>
          <p:cNvSpPr txBox="1"/>
          <p:nvPr/>
        </p:nvSpPr>
        <p:spPr>
          <a:xfrm>
            <a:off x="1047217" y="2633539"/>
            <a:ext cx="5997778" cy="56711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600" b="1" i="0">
                <a:solidFill>
                  <a:srgbClr val="48756A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总写洞庭湖，引出迁客骚人览物之情</a:t>
            </a:r>
            <a:endParaRPr lang="zh-CN" altLang="en-US" sz="2600" b="1" i="0">
              <a:solidFill>
                <a:srgbClr val="48756A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3"/>
          <p:cNvSpPr txBox="1"/>
          <p:nvPr/>
        </p:nvSpPr>
        <p:spPr>
          <a:xfrm>
            <a:off x="7054501" y="2593943"/>
            <a:ext cx="2013956" cy="645728"/>
          </a:xfrm>
          <a:prstGeom prst="rect">
            <a:avLst/>
          </a:prstGeom>
          <a:noFill/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48756A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描写</a:t>
            </a:r>
            <a:endParaRPr lang="zh-CN" altLang="en-US" sz="2600" b="1" i="0">
              <a:solidFill>
                <a:srgbClr val="48756A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4"/>
          <p:cNvSpPr txBox="1"/>
          <p:nvPr/>
        </p:nvSpPr>
        <p:spPr>
          <a:xfrm>
            <a:off x="1037739" y="3914337"/>
            <a:ext cx="6017104" cy="56711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600" b="1" i="0">
                <a:solidFill>
                  <a:srgbClr val="48756A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写晴天之景，抒迁客骚人宠辱偕忘之喜</a:t>
            </a:r>
            <a:endParaRPr lang="zh-CN" altLang="en-US" sz="2600" b="1" i="0">
              <a:solidFill>
                <a:srgbClr val="48756A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文本5"/>
          <p:cNvSpPr txBox="1"/>
          <p:nvPr/>
        </p:nvSpPr>
        <p:spPr>
          <a:xfrm>
            <a:off x="7093591" y="3914337"/>
            <a:ext cx="1976714" cy="567118"/>
          </a:xfrm>
          <a:prstGeom prst="rect">
            <a:avLst/>
          </a:prstGeom>
          <a:noFill/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48756A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描写、抒情</a:t>
            </a:r>
            <a:endParaRPr lang="zh-CN" altLang="en-US" sz="2600" b="1" i="0">
              <a:solidFill>
                <a:srgbClr val="48756A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文本6"/>
          <p:cNvSpPr txBox="1"/>
          <p:nvPr/>
        </p:nvSpPr>
        <p:spPr>
          <a:xfrm>
            <a:off x="7055025" y="4481379"/>
            <a:ext cx="2014557" cy="662369"/>
          </a:xfrm>
          <a:prstGeom prst="rect">
            <a:avLst/>
          </a:prstGeom>
          <a:noFill/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48756A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议论</a:t>
            </a:r>
            <a:endParaRPr lang="zh-CN" altLang="en-US" sz="2600" b="1" i="0">
              <a:solidFill>
                <a:srgbClr val="48756A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2759" y="716985"/>
            <a:ext cx="9091813" cy="425821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27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700" b="1" i="0">
                <a:solidFill>
                  <a:srgbClr val="48756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❶剪裁繁简得当。</a:t>
            </a:r>
            <a:endParaRPr lang="zh-CN" altLang="en-US" sz="2700" b="1" i="0">
              <a:solidFill>
                <a:srgbClr val="48756A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4000"/>
              </a:lnSpc>
            </a:pPr>
            <a:r>
              <a:rPr lang="zh-CN" altLang="en-US" sz="27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者胸有全局，布局统一，把文章的重心放在说理申志上，因而写巴陵胜状只用几笔带过，惜墨如金。用“前人之述备矣”一句加以总括，文辞不过于铺张，枝蔓不旁逸斜出。两类登楼者的所见所感，虽纵情铺叙，泼墨如注，实用贬抑之笔，目的是反衬下文的“古仁人之心”，抑此而扬彼。详略得当，则中心突出，不致因平均用墨而湮没主旨，又不致因轻重倒置而喧宾夺主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写作特色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1835" y="674903"/>
            <a:ext cx="9092603" cy="3876438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27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700" b="1" i="0">
                <a:solidFill>
                  <a:srgbClr val="48756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❷结构层层深入。</a:t>
            </a:r>
            <a:endParaRPr lang="zh-CN" altLang="en-US" sz="2700" b="1" i="0">
              <a:solidFill>
                <a:srgbClr val="48756A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4800"/>
              </a:lnSpc>
            </a:pPr>
            <a:r>
              <a:rPr lang="zh-CN" altLang="en-US" sz="27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事入景，由景生情，由情化理，在对湖景的描绘后，涌起情感的波澜；在情感的前浪中，再卷起议论的后浪。情中潜理，理中蕴情，逐层披露，迭进深入，如深山探宝，渐入佳境，最后归结到作者的人生观，规勉老友激励自己，警策后人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写作特色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2902" y="674503"/>
            <a:ext cx="9002535" cy="21852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200"/>
              </a:lnSpc>
            </a:pPr>
            <a:r>
              <a:rPr lang="zh-CN" altLang="en-US" sz="27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这篇文章描绘了洞庭湖景色及迁客骚人的不同情感，表达了作者“不以物喜，不以己悲”的旷达胸襟和“先忧后乐”的远大抱负，也借以劝勉滕子京。</a:t>
            </a:r>
            <a:endParaRPr lang="zh-CN" altLang="en-US" sz="27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1"/>
          <p:cNvGrpSpPr/>
          <p:nvPr/>
        </p:nvGrpSpPr>
        <p:grpSpPr>
          <a:xfrm>
            <a:off x="52676" y="35714"/>
            <a:ext cx="2301200" cy="639375"/>
            <a:chOff x="0" y="0"/>
            <a:chExt cx="2301200" cy="639375"/>
          </a:xfrm>
        </p:grpSpPr>
        <p:pic>
          <p:nvPicPr>
            <p:cNvPr id="4" name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39375" cy="639375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580756" y="13268"/>
              <a:ext cx="1720444" cy="5961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2800" b="0" i="0">
                  <a:solidFill>
                    <a:srgbClr val="000000">
                      <a:alpha val="100000"/>
                    </a:srgbClr>
                  </a:solidFill>
                  <a:latin typeface="方正小标宋_GBK"/>
                  <a:ea typeface="方正小标宋_GBK"/>
                </a:rPr>
                <a:t>文章主旨</a:t>
              </a:r>
              <a:endParaRPr lang="zh-CN" altLang="en-US" sz="2800" b="0" i="0">
                <a:solidFill>
                  <a:srgbClr val="000000">
                    <a:alpha val="100000"/>
                  </a:srgbClr>
                </a:solidFill>
                <a:latin typeface="方正小标宋_GBK"/>
                <a:ea typeface="方正小标宋_GBK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tags/tag1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4468</Words>
  <Application>WPS 演示</Application>
  <PresentationFormat>On-screen Show (16:9)</PresentationFormat>
  <Paragraphs>396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Arial</vt:lpstr>
      <vt:lpstr>宋体</vt:lpstr>
      <vt:lpstr>Wingdings</vt:lpstr>
      <vt:lpstr>方正小标宋_GBK</vt:lpstr>
      <vt:lpstr>微软雅黑</vt:lpstr>
      <vt:lpstr>楷体</vt:lpstr>
      <vt:lpstr>Arial Unicode MS</vt:lpstr>
      <vt:lpstr>Calibri</vt:lpstr>
      <vt:lpstr>Arial</vt:lpstr>
      <vt:lpstr>方正小标宋_GBK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rbm.xkw.com</dc:creator>
  <cp:lastModifiedBy>snow cheese</cp:lastModifiedBy>
  <cp:revision>2</cp:revision>
  <cp:lastPrinted>2026-08-21T08:20:00Z</cp:lastPrinted>
  <dcterms:created xsi:type="dcterms:W3CDTF">2026-08-21T08:20:00Z</dcterms:created>
  <dcterms:modified xsi:type="dcterms:W3CDTF">2026-09-04T01:18:14Z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  <property fmtid="{D5CDD505-2E9C-101B-9397-08002B2CF9AE}" pid="6" name="KSOProductBuildVer">
    <vt:lpwstr>2052-12.1.0.26895</vt:lpwstr>
  </property>
  <property fmtid="{D5CDD505-2E9C-101B-9397-08002B2CF9AE}" pid="7" name="ICV">
    <vt:lpwstr>A20BADFEBEAD43EE80E1031DF523B115_12</vt:lpwstr>
  </property>
</Properties>
</file>