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handoutMasterIdLst>
    <p:handoutMasterId r:id="rId79"/>
  </p:handoutMasterIdLst>
  <p:sldIdLst>
    <p:sldId id="655" r:id="rId3"/>
    <p:sldId id="657" r:id="rId4"/>
    <p:sldId id="659" r:id="rId5"/>
    <p:sldId id="660" r:id="rId6"/>
    <p:sldId id="661" r:id="rId7"/>
    <p:sldId id="658" r:id="rId8"/>
    <p:sldId id="650" r:id="rId9"/>
    <p:sldId id="666" r:id="rId10"/>
    <p:sldId id="663" r:id="rId11"/>
    <p:sldId id="667" r:id="rId12"/>
    <p:sldId id="670" r:id="rId13"/>
    <p:sldId id="672" r:id="rId14"/>
    <p:sldId id="673" r:id="rId15"/>
    <p:sldId id="675" r:id="rId16"/>
    <p:sldId id="674" r:id="rId17"/>
    <p:sldId id="676" r:id="rId18"/>
    <p:sldId id="677" r:id="rId19"/>
    <p:sldId id="682" r:id="rId20"/>
    <p:sldId id="679" r:id="rId21"/>
    <p:sldId id="683" r:id="rId22"/>
    <p:sldId id="684" r:id="rId23"/>
    <p:sldId id="689" r:id="rId24"/>
    <p:sldId id="691" r:id="rId25"/>
    <p:sldId id="693" r:id="rId26"/>
    <p:sldId id="699" r:id="rId27"/>
    <p:sldId id="697" r:id="rId28"/>
    <p:sldId id="698" r:id="rId29"/>
    <p:sldId id="602" r:id="rId30"/>
    <p:sldId id="700" r:id="rId32"/>
    <p:sldId id="701" r:id="rId33"/>
    <p:sldId id="703" r:id="rId34"/>
    <p:sldId id="704" r:id="rId35"/>
    <p:sldId id="588" r:id="rId36"/>
    <p:sldId id="705" r:id="rId37"/>
    <p:sldId id="589" r:id="rId38"/>
    <p:sldId id="695" r:id="rId39"/>
    <p:sldId id="706" r:id="rId40"/>
    <p:sldId id="708" r:id="rId41"/>
    <p:sldId id="709" r:id="rId42"/>
    <p:sldId id="710" r:id="rId43"/>
    <p:sldId id="711" r:id="rId44"/>
    <p:sldId id="694" r:id="rId45"/>
    <p:sldId id="713" r:id="rId46"/>
    <p:sldId id="714" r:id="rId47"/>
    <p:sldId id="721" r:id="rId48"/>
    <p:sldId id="722" r:id="rId49"/>
    <p:sldId id="723" r:id="rId50"/>
    <p:sldId id="724" r:id="rId51"/>
    <p:sldId id="726" r:id="rId52"/>
    <p:sldId id="692" r:id="rId53"/>
    <p:sldId id="719" r:id="rId54"/>
    <p:sldId id="730" r:id="rId55"/>
    <p:sldId id="729" r:id="rId56"/>
    <p:sldId id="733" r:id="rId57"/>
    <p:sldId id="737" r:id="rId58"/>
    <p:sldId id="736" r:id="rId59"/>
    <p:sldId id="738" r:id="rId60"/>
    <p:sldId id="727" r:id="rId61"/>
    <p:sldId id="739" r:id="rId62"/>
    <p:sldId id="740" r:id="rId63"/>
    <p:sldId id="741" r:id="rId64"/>
    <p:sldId id="742" r:id="rId65"/>
    <p:sldId id="743" r:id="rId66"/>
    <p:sldId id="744" r:id="rId67"/>
    <p:sldId id="746" r:id="rId68"/>
    <p:sldId id="747" r:id="rId69"/>
    <p:sldId id="745" r:id="rId70"/>
    <p:sldId id="728" r:id="rId71"/>
    <p:sldId id="748" r:id="rId72"/>
    <p:sldId id="749" r:id="rId73"/>
    <p:sldId id="750" r:id="rId74"/>
    <p:sldId id="751" r:id="rId75"/>
    <p:sldId id="752" r:id="rId76"/>
    <p:sldId id="753" r:id="rId77"/>
    <p:sldId id="754" r:id="rId78"/>
  </p:sldIdLst>
  <p:sldSz cx="9144000" cy="5143500" type="screen16x9"/>
  <p:notesSz cx="6858000" cy="9144000"/>
  <p:embeddedFontLst>
    <p:embeddedFont>
      <p:font typeface="楷体" panose="02010609060101010101" pitchFamily="49" charset="-122"/>
      <p:regular r:id="rId83"/>
    </p:embeddedFont>
    <p:embeddedFont>
      <p:font typeface="Calibri" panose="020F0502020204030204" pitchFamily="34" charset="0"/>
      <p:regular r:id="rId84"/>
      <p:bold r:id="rId85"/>
      <p:italic r:id="rId86"/>
      <p:boldItalic r:id="rId87"/>
    </p:embeddedFont>
    <p:embeddedFont>
      <p:font typeface="黑体" panose="02010609060101010101" pitchFamily="2" charset="-122"/>
      <p:regular r:id="rId88"/>
    </p:embeddedFont>
  </p:embeddedFontLst>
  <p:custDataLst>
    <p:tags r:id="rId89"/>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pos="544" userDrawn="1">
          <p15:clr>
            <a:srgbClr val="A4A3A4"/>
          </p15:clr>
        </p15:guide>
        <p15:guide id="2" pos="5216" userDrawn="1">
          <p15:clr>
            <a:srgbClr val="A4A3A4"/>
          </p15:clr>
        </p15:guide>
        <p15:guide id="3" orient="horz" pos="441" userDrawn="1">
          <p15:clr>
            <a:srgbClr val="A4A3A4"/>
          </p15:clr>
        </p15:guide>
        <p15:guide id="4" pos="2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54" autoAdjust="0"/>
    <p:restoredTop sz="94660"/>
  </p:normalViewPr>
  <p:slideViewPr>
    <p:cSldViewPr snapToGrid="0" showGuides="1">
      <p:cViewPr varScale="1">
        <p:scale>
          <a:sx n="82" d="100"/>
          <a:sy n="82" d="100"/>
        </p:scale>
        <p:origin x="90" y="1230"/>
      </p:cViewPr>
      <p:guideLst>
        <p:guide pos="544"/>
        <p:guide pos="5216"/>
        <p:guide orient="horz" pos="441"/>
        <p:guide pos="27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630" y="108"/>
      </p:cViewPr>
      <p:guideLst>
        <p:guide orient="horz" pos="2880"/>
        <p:guide pos="2160"/>
      </p:guideLst>
    </p:cSldViewPr>
  </p:notes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9" Type="http://schemas.openxmlformats.org/officeDocument/2006/relationships/tags" Target="tags/tag1.xml"/><Relationship Id="rId88" Type="http://schemas.openxmlformats.org/officeDocument/2006/relationships/font" Target="fonts/font6.fntdata"/><Relationship Id="rId87" Type="http://schemas.openxmlformats.org/officeDocument/2006/relationships/font" Target="fonts/font5.fntdata"/><Relationship Id="rId86" Type="http://schemas.openxmlformats.org/officeDocument/2006/relationships/font" Target="fonts/font4.fntdata"/><Relationship Id="rId85" Type="http://schemas.openxmlformats.org/officeDocument/2006/relationships/font" Target="fonts/font3.fntdata"/><Relationship Id="rId84" Type="http://schemas.openxmlformats.org/officeDocument/2006/relationships/font" Target="fonts/font2.fntdata"/><Relationship Id="rId83" Type="http://schemas.openxmlformats.org/officeDocument/2006/relationships/font" Target="fonts/font1.fntdata"/><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6.xml"/><Relationship Id="rId79" Type="http://schemas.openxmlformats.org/officeDocument/2006/relationships/handoutMaster" Target="handoutMasters/handoutMaster1.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notesMaster" Target="notesMasters/notesMaster1.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ea typeface="楷体" panose="02010609060101010101" pitchFamily="49" charset="-122"/>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ea typeface="楷体" panose="02010609060101010101" pitchFamily="49" charset="-122"/>
              </a:defRPr>
            </a:lvl1pPr>
          </a:lstStyle>
          <a:p>
            <a:pPr>
              <a:defRPr/>
            </a:pPr>
            <a:fld id="{975E8B29-64B2-4ABE-956A-67F6A8342ABC}" type="datetimeFigureOut">
              <a:rPr lang="zh-CN" altLang="en-US"/>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ea typeface="楷体" panose="02010609060101010101" pitchFamily="49" charset="-122"/>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a:defRPr sz="1200">
                <a:ea typeface="楷体" panose="02010609060101010101" pitchFamily="49" charset="-122"/>
              </a:defRPr>
            </a:lvl1pPr>
          </a:lstStyle>
          <a:p>
            <a:fld id="{33561CC1-0A71-49C9-8E15-37AAB2C457C3}" type="slidenum">
              <a:rPr lang="zh-CN" altLang="en-US"/>
            </a:fld>
            <a:endParaRPr lang="zh-CN" altLang="en-US"/>
          </a:p>
        </p:txBody>
      </p:sp>
    </p:spTree>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ea typeface="楷体" panose="02010609060101010101" pitchFamily="49"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ea typeface="楷体" panose="02010609060101010101" pitchFamily="49" charset="-122"/>
              </a:defRPr>
            </a:lvl1pPr>
          </a:lstStyle>
          <a:p>
            <a:pPr>
              <a:defRPr/>
            </a:pPr>
            <a:fld id="{DC4B0F7B-478F-40C6-B118-E7204304FD54}"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ea typeface="楷体" panose="02010609060101010101" pitchFamily="49"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ea typeface="楷体" panose="02010609060101010101" pitchFamily="49" charset="-122"/>
              </a:defRPr>
            </a:lvl1pPr>
          </a:lstStyle>
          <a:p>
            <a:fld id="{F945CA68-2F89-469B-BF3B-BD1359B7F796}" type="slidenum">
              <a:rPr lang="zh-CN" altLang="en-US"/>
            </a:fld>
            <a:endParaRPr lang="zh-CN" altLang="en-US"/>
          </a:p>
        </p:txBody>
      </p:sp>
    </p:spTree>
  </p:cSld>
  <p:clrMap bg1="lt1" tx1="dk1" bg2="lt2" tx2="dk2" accent1="accent1" accent2="accent2" accent3="accent3" accent4="accent4" accent5="accent5" accent6="accent6" hlink="hlink" folHlink="folHlink"/>
  <p:hf sldNum="0" dt="0"/>
  <p:notesStyle>
    <a:lvl1pPr algn="l" rtl="0" eaLnBrk="0" fontAlgn="base" hangingPunct="0">
      <a:spcBef>
        <a:spcPct val="30000"/>
      </a:spcBef>
      <a:spcAft>
        <a:spcPct val="0"/>
      </a:spcAft>
      <a:defRPr sz="1200" kern="1200">
        <a:solidFill>
          <a:schemeClr val="tx1"/>
        </a:solidFill>
        <a:latin typeface="楷体" panose="02010609060101010101" pitchFamily="49" charset="-122"/>
        <a:ea typeface="楷体" panose="02010609060101010101" pitchFamily="49" charset="-122"/>
        <a:cs typeface="+mn-cs"/>
      </a:defRPr>
    </a:lvl1pPr>
    <a:lvl2pPr marL="457200" algn="l" rtl="0" eaLnBrk="0" fontAlgn="base" hangingPunct="0">
      <a:spcBef>
        <a:spcPct val="30000"/>
      </a:spcBef>
      <a:spcAft>
        <a:spcPct val="0"/>
      </a:spcAft>
      <a:defRPr sz="1200" kern="1200">
        <a:solidFill>
          <a:schemeClr val="tx1"/>
        </a:solidFill>
        <a:latin typeface="楷体" panose="02010609060101010101" pitchFamily="49" charset="-122"/>
        <a:ea typeface="楷体" panose="02010609060101010101" pitchFamily="49" charset="-122"/>
        <a:cs typeface="+mn-cs"/>
      </a:defRPr>
    </a:lvl2pPr>
    <a:lvl3pPr marL="914400" algn="l" rtl="0" eaLnBrk="0" fontAlgn="base" hangingPunct="0">
      <a:spcBef>
        <a:spcPct val="30000"/>
      </a:spcBef>
      <a:spcAft>
        <a:spcPct val="0"/>
      </a:spcAft>
      <a:defRPr sz="1200" kern="1200">
        <a:solidFill>
          <a:schemeClr val="tx1"/>
        </a:solidFill>
        <a:latin typeface="楷体" panose="02010609060101010101" pitchFamily="49" charset="-122"/>
        <a:ea typeface="楷体" panose="02010609060101010101" pitchFamily="49" charset="-122"/>
        <a:cs typeface="+mn-cs"/>
      </a:defRPr>
    </a:lvl3pPr>
    <a:lvl4pPr marL="1371600" algn="l" rtl="0" eaLnBrk="0" fontAlgn="base" hangingPunct="0">
      <a:spcBef>
        <a:spcPct val="30000"/>
      </a:spcBef>
      <a:spcAft>
        <a:spcPct val="0"/>
      </a:spcAft>
      <a:defRPr sz="1200" kern="1200">
        <a:solidFill>
          <a:schemeClr val="tx1"/>
        </a:solidFill>
        <a:latin typeface="楷体" panose="02010609060101010101" pitchFamily="49" charset="-122"/>
        <a:ea typeface="楷体" panose="02010609060101010101" pitchFamily="49" charset="-122"/>
        <a:cs typeface="+mn-cs"/>
      </a:defRPr>
    </a:lvl4pPr>
    <a:lvl5pPr marL="1828800" algn="l" rtl="0" eaLnBrk="0" fontAlgn="base" hangingPunct="0">
      <a:spcBef>
        <a:spcPct val="30000"/>
      </a:spcBef>
      <a:spcAft>
        <a:spcPct val="0"/>
      </a:spcAft>
      <a:defRPr sz="1200" kern="1200">
        <a:solidFill>
          <a:schemeClr val="tx1"/>
        </a:solidFill>
        <a:latin typeface="楷体" panose="02010609060101010101" pitchFamily="49" charset="-122"/>
        <a:ea typeface="楷体"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43" name="备注占位符 2"/>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61444" name="页眉占位符 3"/>
          <p:cNvSpPr>
            <a:spLocks noGrp="1" noChangeArrowheads="1"/>
          </p:cNvSpPr>
          <p:nvPr>
            <p:ph type="hdr"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ea typeface="楷体" panose="02010609060101010101" pitchFamily="49" charset="-122"/>
            </a:endParaRPr>
          </a:p>
        </p:txBody>
      </p:sp>
      <p:sp>
        <p:nvSpPr>
          <p:cNvPr id="61445"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ea typeface="楷体" panose="02010609060101010101" pitchFamily="49"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3491" name="备注占位符 2"/>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63492" name="页眉占位符 3"/>
          <p:cNvSpPr>
            <a:spLocks noGrp="1" noChangeArrowheads="1"/>
          </p:cNvSpPr>
          <p:nvPr>
            <p:ph type="hdr"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ea typeface="楷体" panose="02010609060101010101" pitchFamily="49" charset="-122"/>
            </a:endParaRPr>
          </a:p>
        </p:txBody>
      </p:sp>
      <p:sp>
        <p:nvSpPr>
          <p:cNvPr id="63493"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ea typeface="楷体" panose="02010609060101010101" pitchFamily="49"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5539" name="备注占位符 2"/>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65540" name="页眉占位符 3"/>
          <p:cNvSpPr>
            <a:spLocks noGrp="1" noChangeArrowheads="1"/>
          </p:cNvSpPr>
          <p:nvPr>
            <p:ph type="hdr"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ea typeface="楷体" panose="02010609060101010101" pitchFamily="49" charset="-122"/>
            </a:endParaRPr>
          </a:p>
        </p:txBody>
      </p:sp>
      <p:sp>
        <p:nvSpPr>
          <p:cNvPr id="65541"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ea typeface="楷体" panose="02010609060101010101" pitchFamily="49"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5539" name="备注占位符 2"/>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65540" name="页眉占位符 3"/>
          <p:cNvSpPr>
            <a:spLocks noGrp="1" noChangeArrowheads="1"/>
          </p:cNvSpPr>
          <p:nvPr>
            <p:ph type="hdr"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ea typeface="楷体" panose="02010609060101010101" pitchFamily="49" charset="-122"/>
            </a:endParaRPr>
          </a:p>
        </p:txBody>
      </p:sp>
      <p:sp>
        <p:nvSpPr>
          <p:cNvPr id="65541"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ea typeface="楷体" panose="02010609060101010101" pitchFamily="49"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5539" name="备注占位符 2"/>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65540" name="页眉占位符 3"/>
          <p:cNvSpPr>
            <a:spLocks noGrp="1" noChangeArrowheads="1"/>
          </p:cNvSpPr>
          <p:nvPr>
            <p:ph type="hdr"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ea typeface="楷体" panose="02010609060101010101" pitchFamily="49" charset="-122"/>
            </a:endParaRPr>
          </a:p>
        </p:txBody>
      </p:sp>
      <p:sp>
        <p:nvSpPr>
          <p:cNvPr id="65541" name="页脚占位符 4"/>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ea typeface="楷体" panose="02010609060101010101" pitchFamily="49"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0">
          <a:blip r:embed="rId2">
            <a:lum/>
          </a:blip>
          <a:stretch>
            <a:fillRect/>
          </a:stretch>
        </a:blipFill>
        <a:effectLst/>
      </p:bgPr>
    </p:bg>
    <p:spTree>
      <p:nvGrpSpPr>
        <p:cNvPr id="1" name=""/>
        <p:cNvGrpSpPr/>
        <p:nvPr/>
      </p:nvGrpSpPr>
      <p:grpSpPr>
        <a:xfrm>
          <a:off x="0" y="0"/>
          <a:ext cx="0" cy="0"/>
          <a:chOff x="0" y="0"/>
          <a:chExt cx="0" cy="0"/>
        </a:xfrm>
      </p:grpSpPr>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6"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0" y="-740618"/>
            <a:ext cx="9144001" cy="5153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0_自定义版式">
    <p:bg>
      <p:bgPr>
        <a:noFill/>
        <a:effectLst/>
      </p:bgPr>
    </p:bg>
    <p:spTree>
      <p:nvGrpSpPr>
        <p:cNvPr id="1" name=""/>
        <p:cNvGrpSpPr/>
        <p:nvPr/>
      </p:nvGrpSpPr>
      <p:grpSpPr>
        <a:xfrm>
          <a:off x="0" y="0"/>
          <a:ext cx="0" cy="0"/>
          <a:chOff x="0" y="0"/>
          <a:chExt cx="0" cy="0"/>
        </a:xfrm>
      </p:grpSpPr>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自定义版式">
    <p:bg>
      <p:bgPr>
        <a:noFill/>
        <a:effectLst/>
      </p:bgPr>
    </p:bg>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file:///D:\qq&#25991;&#20214;\712321467\Image\C2C\Image2\%7b75232B38-A165-1FB7-499C-2E1C792CACB5%7d.png" TargetMode="External"/><Relationship Id="rId5" Type="http://schemas.openxmlformats.org/officeDocument/2006/relationships/image" Target="../media/image3.pn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pic>
        <p:nvPicPr>
          <p:cNvPr id="2" name="图片 1073743875" descr="学科网 zxxk.com"/>
          <p:cNvPicPr>
            <a:picLocks noChangeAspect="1"/>
          </p:cNvPicPr>
          <p:nvPr/>
        </p:nvPicPr>
        <p:blipFill>
          <a:blip r:embed="rId5" r:link="rId6"/>
          <a:stretch>
            <a:fillRect/>
          </a:stretch>
        </p:blipFill>
        <p:spPr>
          <a:xfrm>
            <a:off x="838200" y="365125"/>
            <a:ext cx="9525" cy="9525"/>
          </a:xfrm>
          <a:prstGeom prst="rect">
            <a:avLst/>
          </a:prstGeom>
          <a:noFill/>
          <a:ln>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1.jpeg"/><Relationship Id="rId1" Type="http://schemas.openxmlformats.org/officeDocument/2006/relationships/image" Target="../media/image10.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12.jpeg"/><Relationship Id="rId1" Type="http://schemas.openxmlformats.org/officeDocument/2006/relationships/image" Target="../media/image1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5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6.jpeg"/><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image" Target="../media/image13.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8.jpeg"/><Relationship Id="rId1" Type="http://schemas.openxmlformats.org/officeDocument/2006/relationships/image" Target="../media/image17.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8.jpeg"/><Relationship Id="rId1" Type="http://schemas.openxmlformats.org/officeDocument/2006/relationships/image" Target="../media/image17.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7.jpe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7.jpe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7.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7.jpe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2381250" y="1438276"/>
            <a:ext cx="6515100" cy="2751646"/>
            <a:chOff x="2381250" y="1438276"/>
            <a:chExt cx="6515100" cy="2751646"/>
          </a:xfrm>
        </p:grpSpPr>
        <p:sp>
          <p:nvSpPr>
            <p:cNvPr id="12" name="双波形 11"/>
            <p:cNvSpPr/>
            <p:nvPr/>
          </p:nvSpPr>
          <p:spPr bwMode="auto">
            <a:xfrm>
              <a:off x="2381250" y="1438276"/>
              <a:ext cx="6515100" cy="2751646"/>
            </a:xfrm>
            <a:prstGeom prst="doubleWave">
              <a:avLst>
                <a:gd name="adj1" fmla="val 6250"/>
                <a:gd name="adj2" fmla="val -8333"/>
              </a:avLst>
            </a:prstGeom>
            <a:blipFill>
              <a:blip r:embed="rId1"/>
              <a:tile tx="0" ty="0" sx="100000" sy="100000" flip="none" algn="tl"/>
            </a:blipFill>
            <a:ln w="9525">
              <a:noFill/>
              <a:miter lim="800000"/>
            </a:ln>
            <a:effectLst>
              <a:outerShdw blurRad="50800" dist="38100" algn="l" rotWithShape="0">
                <a:prstClr val="black">
                  <a:alpha val="40000"/>
                </a:prstClr>
              </a:outerShdw>
            </a:effectLst>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8" name="文本框 2"/>
            <p:cNvSpPr txBox="1">
              <a:spLocks noChangeArrowheads="1"/>
            </p:cNvSpPr>
            <p:nvPr/>
          </p:nvSpPr>
          <p:spPr bwMode="auto">
            <a:xfrm>
              <a:off x="3431241" y="1627696"/>
              <a:ext cx="5169834" cy="2192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sz="3200" b="1">
                  <a:latin typeface="楷体" panose="02010609060101010101" pitchFamily="49" charset="-122"/>
                  <a:ea typeface="楷体" panose="02010609060101010101" pitchFamily="49" charset="-122"/>
                </a:rPr>
                <a:t>酒入豪肠，七分酿成了月光</a:t>
              </a:r>
              <a:endParaRPr lang="zh-CN" altLang="en-US" sz="3200" b="1">
                <a:latin typeface="楷体" panose="02010609060101010101" pitchFamily="49" charset="-122"/>
                <a:ea typeface="楷体" panose="02010609060101010101" pitchFamily="49" charset="-122"/>
              </a:endParaRPr>
            </a:p>
            <a:p>
              <a:pPr>
                <a:lnSpc>
                  <a:spcPct val="150000"/>
                </a:lnSpc>
              </a:pPr>
              <a:r>
                <a:rPr lang="zh-CN" altLang="en-US" sz="3200" b="1">
                  <a:latin typeface="楷体" panose="02010609060101010101" pitchFamily="49" charset="-122"/>
                  <a:ea typeface="楷体" panose="02010609060101010101" pitchFamily="49" charset="-122"/>
                </a:rPr>
                <a:t>余下的三分啸成剑气</a:t>
              </a:r>
              <a:endParaRPr lang="zh-CN" altLang="en-US" sz="3200" b="1">
                <a:latin typeface="楷体" panose="02010609060101010101" pitchFamily="49" charset="-122"/>
                <a:ea typeface="楷体" panose="02010609060101010101" pitchFamily="49" charset="-122"/>
              </a:endParaRPr>
            </a:p>
            <a:p>
              <a:pPr>
                <a:lnSpc>
                  <a:spcPct val="150000"/>
                </a:lnSpc>
              </a:pPr>
              <a:r>
                <a:rPr lang="zh-CN" altLang="en-US" sz="3200" b="1">
                  <a:latin typeface="楷体" panose="02010609060101010101" pitchFamily="49" charset="-122"/>
                  <a:ea typeface="楷体" panose="02010609060101010101" pitchFamily="49" charset="-122"/>
                </a:rPr>
                <a:t>绣口一吐就半个盛唐</a:t>
              </a:r>
              <a:endParaRPr lang="zh-CN" altLang="en-US" sz="2400" b="1">
                <a:latin typeface="楷体" panose="02010609060101010101" pitchFamily="49" charset="-122"/>
                <a:ea typeface="楷体" panose="02010609060101010101" pitchFamily="49" charset="-122"/>
              </a:endParaRPr>
            </a:p>
          </p:txBody>
        </p:sp>
      </p:grpSp>
      <p:pic>
        <p:nvPicPr>
          <p:cNvPr id="5" name="图片 4"/>
          <p:cNvPicPr>
            <a:picLocks noChangeAspect="1"/>
          </p:cNvPicPr>
          <p:nvPr/>
        </p:nvPicPr>
        <p:blipFill>
          <a:blip r:embed="rId2"/>
          <a:stretch>
            <a:fillRect/>
          </a:stretch>
        </p:blipFill>
        <p:spPr>
          <a:xfrm>
            <a:off x="0" y="800100"/>
            <a:ext cx="3992096" cy="4343400"/>
          </a:xfrm>
          <a:prstGeom prst="rect">
            <a:avLst/>
          </a:prstGeom>
        </p:spPr>
      </p:pic>
      <p:sp>
        <p:nvSpPr>
          <p:cNvPr id="7" name="文本框 2"/>
          <p:cNvSpPr txBox="1">
            <a:spLocks noChangeArrowheads="1"/>
          </p:cNvSpPr>
          <p:nvPr/>
        </p:nvSpPr>
        <p:spPr bwMode="auto">
          <a:xfrm>
            <a:off x="2643188" y="388938"/>
            <a:ext cx="385762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3200" b="1">
                <a:latin typeface="楷体" panose="02010609060101010101" pitchFamily="49" charset="-122"/>
                <a:ea typeface="楷体" panose="02010609060101010101" pitchFamily="49" charset="-122"/>
              </a:rPr>
              <a:t>《</a:t>
            </a:r>
            <a:r>
              <a:rPr lang="zh-CN" altLang="en-US" sz="3200" b="1">
                <a:latin typeface="楷体" panose="02010609060101010101" pitchFamily="49" charset="-122"/>
                <a:ea typeface="楷体" panose="02010609060101010101" pitchFamily="49" charset="-122"/>
              </a:rPr>
              <a:t>行路难</a:t>
            </a:r>
            <a:r>
              <a:rPr lang="en-US" altLang="zh-CN" sz="3200" b="1">
                <a:latin typeface="楷体" panose="02010609060101010101" pitchFamily="49" charset="-122"/>
                <a:ea typeface="楷体" panose="02010609060101010101" pitchFamily="49" charset="-122"/>
              </a:rPr>
              <a:t>》</a:t>
            </a:r>
            <a:r>
              <a:rPr lang="zh-CN" altLang="en-US" sz="3200" b="1">
                <a:latin typeface="楷体" panose="02010609060101010101" pitchFamily="49" charset="-122"/>
                <a:ea typeface="楷体" panose="02010609060101010101" pitchFamily="49" charset="-122"/>
              </a:rPr>
              <a:t>（其一）</a:t>
            </a:r>
            <a:endParaRPr lang="zh-CN" altLang="en-US" sz="2400" b="1">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outVertical)">
                                      <p:cBhvr>
                                        <p:cTn id="7" dur="500"/>
                                        <p:tgtEl>
                                          <p:spTgt spid="13"/>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85725" y="81999"/>
            <a:ext cx="8753797" cy="1233003"/>
            <a:chOff x="0" y="72474"/>
            <a:chExt cx="8753797" cy="1233003"/>
          </a:xfrm>
        </p:grpSpPr>
        <p:pic>
          <p:nvPicPr>
            <p:cNvPr id="2" name="Picture 2"/>
            <p:cNvPicPr>
              <a:picLocks noChangeAspect="1" noChangeArrowheads="1"/>
            </p:cNvPicPr>
            <p:nvPr/>
          </p:nvPicPr>
          <p:blipFill>
            <a:blip r:embed="rId1"/>
            <a:stretch>
              <a:fillRect/>
            </a:stretch>
          </p:blipFill>
          <p:spPr bwMode="auto">
            <a:xfrm>
              <a:off x="0" y="72474"/>
              <a:ext cx="1485613" cy="1233003"/>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a:spLocks noChangeArrowheads="1"/>
            </p:cNvSpPr>
            <p:nvPr/>
          </p:nvSpPr>
          <p:spPr bwMode="auto">
            <a:xfrm>
              <a:off x="832917" y="328362"/>
              <a:ext cx="7920880"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目标任务一：认识作者，了解写作背景。</a:t>
              </a:r>
              <a:endParaRPr lang="zh-CN" altLang="en-US" sz="3200" b="1">
                <a:latin typeface="黑体" panose="02010609060101010101" pitchFamily="2" charset="-122"/>
                <a:ea typeface="黑体" panose="02010609060101010101" pitchFamily="2" charset="-122"/>
              </a:endParaRPr>
            </a:p>
          </p:txBody>
        </p:sp>
      </p:grpSp>
      <p:sp>
        <p:nvSpPr>
          <p:cNvPr id="5" name="矩形 4"/>
          <p:cNvSpPr>
            <a:spLocks noChangeArrowheads="1"/>
          </p:cNvSpPr>
          <p:nvPr/>
        </p:nvSpPr>
        <p:spPr bwMode="auto">
          <a:xfrm>
            <a:off x="313686" y="1877658"/>
            <a:ext cx="8525836" cy="2813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800" b="1">
                <a:solidFill>
                  <a:srgbClr val="C00000"/>
                </a:solidFill>
                <a:latin typeface="楷体" panose="02010609060101010101" pitchFamily="49" charset="-122"/>
                <a:ea typeface="楷体" panose="02010609060101010101" pitchFamily="49" charset="-122"/>
              </a:rPr>
              <a:t>    李白</a:t>
            </a:r>
            <a:r>
              <a:rPr lang="zh-CN" altLang="en-US" sz="2800" b="1">
                <a:latin typeface="楷体" panose="02010609060101010101" pitchFamily="49" charset="-122"/>
                <a:ea typeface="楷体" panose="02010609060101010101" pitchFamily="49" charset="-122"/>
              </a:rPr>
              <a:t>（</a:t>
            </a:r>
            <a:r>
              <a:rPr lang="en-US" altLang="zh-CN" sz="2800" b="1">
                <a:latin typeface="楷体" panose="02010609060101010101" pitchFamily="49" charset="-122"/>
                <a:ea typeface="楷体" panose="02010609060101010101" pitchFamily="49" charset="-122"/>
              </a:rPr>
              <a:t>701—762</a:t>
            </a:r>
            <a:r>
              <a:rPr lang="zh-CN" altLang="en-US" sz="2800" b="1">
                <a:latin typeface="楷体" panose="02010609060101010101" pitchFamily="49" charset="-122"/>
                <a:ea typeface="楷体" panose="02010609060101010101" pitchFamily="49" charset="-122"/>
              </a:rPr>
              <a:t>），字太白，号青莲居士，唐代伟大的浪漫主义诗人，被称为“诗仙”，与杜甫并称“李杜”。他的诗作感情奔放，想象丰富，并惯于采用历史典故和神话传说表达感情，代表作有</a:t>
            </a:r>
            <a:r>
              <a:rPr lang="en-US" altLang="zh-CN" sz="2800" b="1">
                <a:latin typeface="楷体" panose="02010609060101010101" pitchFamily="49" charset="-122"/>
                <a:ea typeface="楷体" panose="02010609060101010101" pitchFamily="49" charset="-122"/>
              </a:rPr>
              <a:t>《</a:t>
            </a:r>
            <a:r>
              <a:rPr lang="zh-CN" altLang="en-US" sz="2800" b="1">
                <a:latin typeface="楷体" panose="02010609060101010101" pitchFamily="49" charset="-122"/>
                <a:ea typeface="楷体" panose="02010609060101010101" pitchFamily="49" charset="-122"/>
              </a:rPr>
              <a:t>闻王昌龄左迁龙标遥有此寄</a:t>
            </a:r>
            <a:r>
              <a:rPr lang="en-US" altLang="zh-CN" sz="2800" b="1">
                <a:latin typeface="楷体" panose="02010609060101010101" pitchFamily="49" charset="-122"/>
                <a:ea typeface="楷体" panose="02010609060101010101" pitchFamily="49" charset="-122"/>
              </a:rPr>
              <a:t>》《</a:t>
            </a:r>
            <a:r>
              <a:rPr lang="zh-CN" altLang="en-US" sz="2800" b="1">
                <a:latin typeface="楷体" panose="02010609060101010101" pitchFamily="49" charset="-122"/>
                <a:ea typeface="楷体" panose="02010609060101010101" pitchFamily="49" charset="-122"/>
              </a:rPr>
              <a:t>将进酒</a:t>
            </a:r>
            <a:r>
              <a:rPr lang="en-US" altLang="zh-CN" sz="2800" b="1">
                <a:latin typeface="楷体" panose="02010609060101010101" pitchFamily="49" charset="-122"/>
                <a:ea typeface="楷体" panose="02010609060101010101" pitchFamily="49" charset="-122"/>
              </a:rPr>
              <a:t>》《</a:t>
            </a:r>
            <a:r>
              <a:rPr lang="zh-CN" altLang="en-US" sz="2800" b="1">
                <a:latin typeface="楷体" panose="02010609060101010101" pitchFamily="49" charset="-122"/>
                <a:ea typeface="楷体" panose="02010609060101010101" pitchFamily="49" charset="-122"/>
              </a:rPr>
              <a:t>蜀道难</a:t>
            </a:r>
            <a:r>
              <a:rPr lang="en-US" altLang="zh-CN" sz="2800" b="1">
                <a:latin typeface="楷体" panose="02010609060101010101" pitchFamily="49" charset="-122"/>
                <a:ea typeface="楷体" panose="02010609060101010101" pitchFamily="49" charset="-122"/>
              </a:rPr>
              <a:t>》</a:t>
            </a:r>
            <a:r>
              <a:rPr lang="zh-CN" altLang="en-US" sz="2800" b="1">
                <a:latin typeface="楷体" panose="02010609060101010101" pitchFamily="49" charset="-122"/>
                <a:ea typeface="楷体" panose="02010609060101010101" pitchFamily="49" charset="-122"/>
              </a:rPr>
              <a:t>等。</a:t>
            </a:r>
            <a:endParaRPr lang="zh-CN" altLang="en-US" sz="2800" b="1">
              <a:latin typeface="楷体" panose="02010609060101010101" pitchFamily="49" charset="-122"/>
              <a:ea typeface="楷体" panose="02010609060101010101" pitchFamily="49" charset="-122"/>
            </a:endParaRPr>
          </a:p>
        </p:txBody>
      </p:sp>
      <p:sp>
        <p:nvSpPr>
          <p:cNvPr id="6" name="文本框 2"/>
          <p:cNvSpPr txBox="1">
            <a:spLocks noChangeArrowheads="1"/>
          </p:cNvSpPr>
          <p:nvPr/>
        </p:nvSpPr>
        <p:spPr bwMode="auto">
          <a:xfrm>
            <a:off x="313686" y="1252172"/>
            <a:ext cx="2967832"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作者简介</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499743" y="1337330"/>
            <a:ext cx="8144514" cy="2813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800" b="1">
                <a:latin typeface="楷体" panose="02010609060101010101" pitchFamily="49" charset="-122"/>
                <a:ea typeface="楷体" panose="02010609060101010101" pitchFamily="49" charset="-122"/>
              </a:rPr>
              <a:t>    天宝元年（</a:t>
            </a:r>
            <a:r>
              <a:rPr lang="en-US" altLang="zh-CN" sz="2800" b="1">
                <a:latin typeface="楷体" panose="02010609060101010101" pitchFamily="49" charset="-122"/>
                <a:ea typeface="楷体" panose="02010609060101010101" pitchFamily="49" charset="-122"/>
              </a:rPr>
              <a:t>742</a:t>
            </a:r>
            <a:r>
              <a:rPr lang="zh-CN" altLang="en-US" sz="2800" b="1">
                <a:latin typeface="楷体" panose="02010609060101010101" pitchFamily="49" charset="-122"/>
                <a:ea typeface="楷体" panose="02010609060101010101" pitchFamily="49" charset="-122"/>
              </a:rPr>
              <a:t>），李白被征召入京，供奉翰林院。其才华虽为唐玄宗所赏识，但他“济苍生” “安社稷”的政治理想却无法实现，又受权贵排挤，仅一年多就被“赐金放还”，离开了长安。本诗应是李白在天宝三载（</a:t>
            </a:r>
            <a:r>
              <a:rPr lang="en-US" altLang="zh-CN" sz="2800" b="1">
                <a:latin typeface="楷体" panose="02010609060101010101" pitchFamily="49" charset="-122"/>
                <a:ea typeface="楷体" panose="02010609060101010101" pitchFamily="49" charset="-122"/>
              </a:rPr>
              <a:t>744</a:t>
            </a:r>
            <a:r>
              <a:rPr lang="zh-CN" altLang="en-US" sz="2800" b="1">
                <a:latin typeface="楷体" panose="02010609060101010101" pitchFamily="49" charset="-122"/>
                <a:ea typeface="楷体" panose="02010609060101010101" pitchFamily="49" charset="-122"/>
              </a:rPr>
              <a:t>）离开长安时所作。</a:t>
            </a:r>
            <a:endParaRPr lang="zh-CN" altLang="en-US" sz="2800" b="1">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499743" y="573298"/>
            <a:ext cx="2967832"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背景链接</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499743" y="1337330"/>
            <a:ext cx="8144514" cy="281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800" b="1">
                <a:latin typeface="楷体" panose="02010609060101010101" pitchFamily="49" charset="-122"/>
                <a:ea typeface="楷体" panose="02010609060101010101" pitchFamily="49" charset="-122"/>
              </a:rPr>
              <a:t>    乐府诗：本指乐府官署所采集、创作的乐歌，后用以称魏晋至唐代可以入乐的诗歌和后人仿效乐府古题的作品。宋元以后的词、散曲和剧曲，因配合音乐，有时也称乐府。乐府诗一般没有严格的押韵要求。</a:t>
            </a:r>
            <a:endParaRPr lang="zh-CN" altLang="en-US" sz="2800" b="1">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499743" y="573298"/>
            <a:ext cx="2967832"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文体知识</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85725" y="81999"/>
            <a:ext cx="8753797" cy="1233003"/>
            <a:chOff x="0" y="72474"/>
            <a:chExt cx="8753797" cy="1233003"/>
          </a:xfrm>
        </p:grpSpPr>
        <p:pic>
          <p:nvPicPr>
            <p:cNvPr id="2" name="Picture 2"/>
            <p:cNvPicPr>
              <a:picLocks noChangeAspect="1" noChangeArrowheads="1"/>
            </p:cNvPicPr>
            <p:nvPr/>
          </p:nvPicPr>
          <p:blipFill>
            <a:blip r:embed="rId1"/>
            <a:stretch>
              <a:fillRect/>
            </a:stretch>
          </p:blipFill>
          <p:spPr bwMode="auto">
            <a:xfrm>
              <a:off x="0" y="72474"/>
              <a:ext cx="1485613" cy="1233003"/>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a:spLocks noChangeArrowheads="1"/>
            </p:cNvSpPr>
            <p:nvPr/>
          </p:nvSpPr>
          <p:spPr bwMode="auto">
            <a:xfrm>
              <a:off x="832917" y="328362"/>
              <a:ext cx="7920880"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目标任务二：反复诵读，理解诗歌内容。</a:t>
              </a:r>
              <a:endParaRPr lang="zh-CN" altLang="en-US" sz="3200" b="1">
                <a:latin typeface="黑体" panose="02010609060101010101" pitchFamily="2" charset="-122"/>
                <a:ea typeface="黑体" panose="02010609060101010101" pitchFamily="2" charset="-122"/>
              </a:endParaRPr>
            </a:p>
          </p:txBody>
        </p:sp>
      </p:grpSp>
      <p:sp>
        <p:nvSpPr>
          <p:cNvPr id="7" name="文本框 6"/>
          <p:cNvSpPr txBox="1">
            <a:spLocks noChangeArrowheads="1"/>
          </p:cNvSpPr>
          <p:nvPr/>
        </p:nvSpPr>
        <p:spPr bwMode="auto">
          <a:xfrm>
            <a:off x="499743" y="1600200"/>
            <a:ext cx="2967832"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读准字音</a:t>
            </a:r>
            <a:endParaRPr lang="zh-CN" altLang="en-US"/>
          </a:p>
        </p:txBody>
      </p:sp>
      <p:sp>
        <p:nvSpPr>
          <p:cNvPr id="8" name="矩形 6"/>
          <p:cNvSpPr>
            <a:spLocks noChangeArrowheads="1"/>
          </p:cNvSpPr>
          <p:nvPr/>
        </p:nvSpPr>
        <p:spPr bwMode="auto">
          <a:xfrm>
            <a:off x="1033318" y="2331461"/>
            <a:ext cx="6829136" cy="1361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defRPr/>
            </a:pPr>
            <a:r>
              <a:rPr lang="zh-CN" altLang="en-US" sz="3200" b="1">
                <a:solidFill>
                  <a:srgbClr val="000000"/>
                </a:solidFill>
                <a:latin typeface="楷体" panose="02010609060101010101" pitchFamily="49" charset="-122"/>
                <a:ea typeface="楷体" panose="02010609060101010101" pitchFamily="49" charset="-122"/>
              </a:rPr>
              <a:t>金</a:t>
            </a:r>
            <a:r>
              <a:rPr lang="zh-CN" altLang="en-US" sz="3200" b="1">
                <a:solidFill>
                  <a:srgbClr val="C00000"/>
                </a:solidFill>
                <a:latin typeface="楷体" panose="02010609060101010101" pitchFamily="49" charset="-122"/>
                <a:ea typeface="楷体" panose="02010609060101010101" pitchFamily="49" charset="-122"/>
              </a:rPr>
              <a:t>樽</a:t>
            </a:r>
            <a:r>
              <a:rPr lang="zh-CN" altLang="en-US" sz="3200" b="1">
                <a:solidFill>
                  <a:srgbClr val="000000"/>
                </a:solidFill>
                <a:latin typeface="楷体" panose="02010609060101010101" pitchFamily="49" charset="-122"/>
                <a:ea typeface="楷体" panose="02010609060101010101" pitchFamily="49" charset="-122"/>
              </a:rPr>
              <a:t>（</a:t>
            </a:r>
            <a:r>
              <a:rPr lang="en-US" altLang="zh-CN" sz="3200" b="1">
                <a:solidFill>
                  <a:srgbClr val="000000"/>
                </a:solidFill>
                <a:latin typeface="楷体" panose="02010609060101010101" pitchFamily="49" charset="-122"/>
                <a:ea typeface="楷体" panose="02010609060101010101" pitchFamily="49" charset="-122"/>
              </a:rPr>
              <a:t>    </a:t>
            </a:r>
            <a:r>
              <a:rPr lang="zh-CN" altLang="en-US" sz="3200" b="1">
                <a:solidFill>
                  <a:srgbClr val="000000"/>
                </a:solidFill>
                <a:latin typeface="楷体" panose="02010609060101010101" pitchFamily="49" charset="-122"/>
                <a:ea typeface="楷体" panose="02010609060101010101" pitchFamily="49" charset="-122"/>
              </a:rPr>
              <a:t>）    </a:t>
            </a:r>
            <a:r>
              <a:rPr lang="zh-CN" altLang="en-US" sz="3200" b="1">
                <a:solidFill>
                  <a:srgbClr val="C00000"/>
                </a:solidFill>
                <a:latin typeface="楷体" panose="02010609060101010101" pitchFamily="49" charset="-122"/>
                <a:ea typeface="楷体" panose="02010609060101010101" pitchFamily="49" charset="-122"/>
              </a:rPr>
              <a:t>斗</a:t>
            </a:r>
            <a:r>
              <a:rPr lang="zh-CN" altLang="en-US" sz="3200" b="1">
                <a:solidFill>
                  <a:srgbClr val="000000"/>
                </a:solidFill>
                <a:latin typeface="楷体" panose="02010609060101010101" pitchFamily="49" charset="-122"/>
                <a:ea typeface="楷体" panose="02010609060101010101" pitchFamily="49" charset="-122"/>
              </a:rPr>
              <a:t>十千（</a:t>
            </a:r>
            <a:r>
              <a:rPr lang="en-US" altLang="zh-CN" sz="3200" b="1">
                <a:solidFill>
                  <a:srgbClr val="000000"/>
                </a:solidFill>
                <a:latin typeface="楷体" panose="02010609060101010101" pitchFamily="49" charset="-122"/>
                <a:ea typeface="楷体" panose="02010609060101010101" pitchFamily="49" charset="-122"/>
              </a:rPr>
              <a:t>    </a:t>
            </a:r>
            <a:r>
              <a:rPr lang="zh-CN" altLang="en-US" sz="3200" b="1">
                <a:solidFill>
                  <a:srgbClr val="000000"/>
                </a:solidFill>
                <a:latin typeface="楷体" panose="02010609060101010101" pitchFamily="49" charset="-122"/>
                <a:ea typeface="楷体" panose="02010609060101010101" pitchFamily="49" charset="-122"/>
              </a:rPr>
              <a:t>）</a:t>
            </a:r>
            <a:endParaRPr lang="en-US" altLang="zh-CN" sz="3200" b="1">
              <a:solidFill>
                <a:srgbClr val="000000"/>
              </a:solidFill>
              <a:latin typeface="楷体" panose="02010609060101010101" pitchFamily="49" charset="-122"/>
              <a:ea typeface="楷体" panose="02010609060101010101" pitchFamily="49" charset="-122"/>
            </a:endParaRPr>
          </a:p>
          <a:p>
            <a:pPr eaLnBrk="1" hangingPunct="1">
              <a:lnSpc>
                <a:spcPct val="150000"/>
              </a:lnSpc>
              <a:defRPr/>
            </a:pPr>
            <a:r>
              <a:rPr lang="zh-CN" altLang="en-US" sz="3200" b="1">
                <a:solidFill>
                  <a:srgbClr val="000000"/>
                </a:solidFill>
                <a:latin typeface="楷体" panose="02010609060101010101" pitchFamily="49" charset="-122"/>
                <a:ea typeface="楷体" panose="02010609060101010101" pitchFamily="49" charset="-122"/>
              </a:rPr>
              <a:t>投</a:t>
            </a:r>
            <a:r>
              <a:rPr lang="zh-CN" altLang="en-US" sz="3200" b="1">
                <a:solidFill>
                  <a:srgbClr val="C00000"/>
                </a:solidFill>
                <a:latin typeface="楷体" panose="02010609060101010101" pitchFamily="49" charset="-122"/>
                <a:ea typeface="楷体" panose="02010609060101010101" pitchFamily="49" charset="-122"/>
              </a:rPr>
              <a:t>箸</a:t>
            </a:r>
            <a:r>
              <a:rPr lang="zh-CN" altLang="en-US" sz="3200" b="1">
                <a:solidFill>
                  <a:srgbClr val="000000"/>
                </a:solidFill>
                <a:latin typeface="楷体" panose="02010609060101010101" pitchFamily="49" charset="-122"/>
                <a:ea typeface="楷体" panose="02010609060101010101" pitchFamily="49" charset="-122"/>
              </a:rPr>
              <a:t>（</a:t>
            </a:r>
            <a:r>
              <a:rPr lang="en-US" altLang="zh-CN" sz="3200" b="1">
                <a:solidFill>
                  <a:srgbClr val="000000"/>
                </a:solidFill>
                <a:latin typeface="楷体" panose="02010609060101010101" pitchFamily="49" charset="-122"/>
                <a:ea typeface="楷体" panose="02010609060101010101" pitchFamily="49" charset="-122"/>
              </a:rPr>
              <a:t>    </a:t>
            </a:r>
            <a:r>
              <a:rPr lang="zh-CN" altLang="en-US" sz="3200" b="1">
                <a:solidFill>
                  <a:srgbClr val="000000"/>
                </a:solidFill>
                <a:latin typeface="楷体" panose="02010609060101010101" pitchFamily="49" charset="-122"/>
                <a:ea typeface="楷体" panose="02010609060101010101" pitchFamily="49" charset="-122"/>
              </a:rPr>
              <a:t>）    </a:t>
            </a:r>
            <a:r>
              <a:rPr lang="zh-CN" altLang="en-US" sz="3200" b="1">
                <a:solidFill>
                  <a:srgbClr val="C00000"/>
                </a:solidFill>
                <a:latin typeface="楷体" panose="02010609060101010101" pitchFamily="49" charset="-122"/>
                <a:ea typeface="楷体" panose="02010609060101010101" pitchFamily="49" charset="-122"/>
              </a:rPr>
              <a:t>歧</a:t>
            </a:r>
            <a:r>
              <a:rPr lang="zh-CN" altLang="en-US" sz="3200" b="1">
                <a:solidFill>
                  <a:srgbClr val="000000"/>
                </a:solidFill>
                <a:latin typeface="楷体" panose="02010609060101010101" pitchFamily="49" charset="-122"/>
                <a:ea typeface="楷体" panose="02010609060101010101" pitchFamily="49" charset="-122"/>
              </a:rPr>
              <a:t>路（</a:t>
            </a:r>
            <a:r>
              <a:rPr lang="en-US" altLang="zh-CN" sz="3200" b="1">
                <a:solidFill>
                  <a:srgbClr val="000000"/>
                </a:solidFill>
                <a:latin typeface="楷体" panose="02010609060101010101" pitchFamily="49" charset="-122"/>
                <a:ea typeface="楷体" panose="02010609060101010101" pitchFamily="49" charset="-122"/>
              </a:rPr>
              <a:t>    </a:t>
            </a:r>
            <a:r>
              <a:rPr lang="zh-CN" altLang="en-US" sz="3200" b="1">
                <a:solidFill>
                  <a:srgbClr val="000000"/>
                </a:solidFill>
                <a:latin typeface="楷体" panose="02010609060101010101" pitchFamily="49" charset="-122"/>
                <a:ea typeface="楷体" panose="02010609060101010101" pitchFamily="49" charset="-122"/>
              </a:rPr>
              <a:t>）</a:t>
            </a:r>
            <a:endParaRPr lang="en-US" altLang="zh-CN" sz="3200" b="1">
              <a:solidFill>
                <a:srgbClr val="000000"/>
              </a:solidFill>
              <a:latin typeface="楷体" panose="02010609060101010101" pitchFamily="49" charset="-122"/>
              <a:ea typeface="楷体" panose="02010609060101010101" pitchFamily="49" charset="-122"/>
            </a:endParaRPr>
          </a:p>
        </p:txBody>
      </p:sp>
      <p:sp>
        <p:nvSpPr>
          <p:cNvPr id="9" name="矩形 8"/>
          <p:cNvSpPr>
            <a:spLocks noChangeArrowheads="1"/>
          </p:cNvSpPr>
          <p:nvPr/>
        </p:nvSpPr>
        <p:spPr bwMode="auto">
          <a:xfrm>
            <a:off x="2208862" y="2331461"/>
            <a:ext cx="94773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defRPr/>
            </a:pPr>
            <a:r>
              <a:rPr lang="en-US" altLang="zh-CN" sz="3600" b="1" err="1">
                <a:solidFill>
                  <a:srgbClr val="E60012"/>
                </a:solidFill>
                <a:latin typeface="汉语拼音" panose="020B0604020202020204" pitchFamily="34" charset="0"/>
                <a:ea typeface="+mn-ea"/>
                <a:cs typeface="汉语拼音" panose="020B0604020202020204" pitchFamily="34" charset="0"/>
              </a:rPr>
              <a:t>zūn</a:t>
            </a:r>
            <a:endParaRPr lang="zh-CN" altLang="en-US" sz="3600" b="1">
              <a:solidFill>
                <a:srgbClr val="E60012"/>
              </a:solidFill>
              <a:latin typeface="汉语拼音" panose="020B0604020202020204" pitchFamily="34" charset="0"/>
              <a:ea typeface="+mn-ea"/>
              <a:cs typeface="汉语拼音" panose="020B0604020202020204" pitchFamily="34" charset="0"/>
            </a:endParaRPr>
          </a:p>
        </p:txBody>
      </p:sp>
      <p:sp>
        <p:nvSpPr>
          <p:cNvPr id="10" name="矩形 9"/>
          <p:cNvSpPr>
            <a:spLocks noChangeArrowheads="1"/>
          </p:cNvSpPr>
          <p:nvPr/>
        </p:nvSpPr>
        <p:spPr bwMode="auto">
          <a:xfrm>
            <a:off x="5872957" y="2383848"/>
            <a:ext cx="1020762"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defRPr/>
            </a:pPr>
            <a:r>
              <a:rPr lang="en-US" altLang="zh-CN" sz="3600" b="1" err="1">
                <a:solidFill>
                  <a:srgbClr val="E60012"/>
                </a:solidFill>
                <a:latin typeface="汉语拼音" panose="020B0604020202020204" pitchFamily="34" charset="0"/>
                <a:ea typeface="+mn-ea"/>
                <a:cs typeface="汉语拼音" panose="020B0604020202020204" pitchFamily="34" charset="0"/>
              </a:rPr>
              <a:t>dǒu</a:t>
            </a:r>
            <a:endParaRPr lang="zh-CN" altLang="en-US" sz="3600" b="1">
              <a:solidFill>
                <a:srgbClr val="E60012"/>
              </a:solidFill>
              <a:latin typeface="汉语拼音" panose="020B0604020202020204" pitchFamily="34" charset="0"/>
              <a:ea typeface="+mn-ea"/>
              <a:cs typeface="汉语拼音" panose="020B0604020202020204" pitchFamily="34" charset="0"/>
            </a:endParaRPr>
          </a:p>
        </p:txBody>
      </p:sp>
      <p:sp>
        <p:nvSpPr>
          <p:cNvPr id="11" name="矩形 10"/>
          <p:cNvSpPr>
            <a:spLocks noChangeArrowheads="1"/>
          </p:cNvSpPr>
          <p:nvPr/>
        </p:nvSpPr>
        <p:spPr bwMode="auto">
          <a:xfrm>
            <a:off x="2172350" y="3063299"/>
            <a:ext cx="1020762"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defRPr/>
            </a:pPr>
            <a:r>
              <a:rPr lang="en-US" altLang="zh-CN" sz="3600" b="1" err="1">
                <a:solidFill>
                  <a:srgbClr val="E60012"/>
                </a:solidFill>
                <a:latin typeface="汉语拼音" panose="020B0604020202020204" pitchFamily="34" charset="0"/>
                <a:ea typeface="+mn-ea"/>
                <a:cs typeface="汉语拼音" panose="020B0604020202020204" pitchFamily="34" charset="0"/>
              </a:rPr>
              <a:t>zhù</a:t>
            </a:r>
            <a:endParaRPr lang="zh-CN" altLang="en-US" sz="3600" b="1">
              <a:solidFill>
                <a:srgbClr val="E60012"/>
              </a:solidFill>
              <a:latin typeface="汉语拼音" panose="020B0604020202020204" pitchFamily="34" charset="0"/>
              <a:ea typeface="+mn-ea"/>
              <a:cs typeface="汉语拼音" panose="020B0604020202020204" pitchFamily="34" charset="0"/>
            </a:endParaRPr>
          </a:p>
        </p:txBody>
      </p:sp>
      <p:sp>
        <p:nvSpPr>
          <p:cNvPr id="12" name="矩形 11"/>
          <p:cNvSpPr>
            <a:spLocks noChangeArrowheads="1"/>
          </p:cNvSpPr>
          <p:nvPr/>
        </p:nvSpPr>
        <p:spPr bwMode="auto">
          <a:xfrm>
            <a:off x="5656344" y="3062495"/>
            <a:ext cx="588963"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defRPr/>
            </a:pPr>
            <a:r>
              <a:rPr lang="en-US" altLang="zh-CN" sz="3600" b="1" err="1">
                <a:solidFill>
                  <a:srgbClr val="E60012"/>
                </a:solidFill>
                <a:latin typeface="汉语拼音" panose="020B0604020202020204" pitchFamily="34" charset="0"/>
                <a:ea typeface="+mn-ea"/>
                <a:cs typeface="汉语拼音" panose="020B0604020202020204" pitchFamily="34" charset="0"/>
              </a:rPr>
              <a:t>qí</a:t>
            </a:r>
            <a:endParaRPr lang="zh-CN" altLang="en-US" sz="3600" b="1">
              <a:solidFill>
                <a:srgbClr val="E60012"/>
              </a:solidFill>
              <a:latin typeface="汉语拼音" panose="020B0604020202020204" pitchFamily="34" charset="0"/>
              <a:ea typeface="+mn-ea"/>
              <a:cs typeface="汉语拼音"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a:spLocks noChangeArrowheads="1"/>
          </p:cNvSpPr>
          <p:nvPr/>
        </p:nvSpPr>
        <p:spPr bwMode="auto">
          <a:xfrm>
            <a:off x="499743" y="1080654"/>
            <a:ext cx="4460184"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了解诗歌形式</a:t>
            </a:r>
            <a:endParaRPr lang="zh-CN" altLang="en-US"/>
          </a:p>
        </p:txBody>
      </p:sp>
      <p:sp>
        <p:nvSpPr>
          <p:cNvPr id="3" name="矩形 6"/>
          <p:cNvSpPr>
            <a:spLocks noChangeArrowheads="1"/>
          </p:cNvSpPr>
          <p:nvPr/>
        </p:nvSpPr>
        <p:spPr bwMode="auto">
          <a:xfrm>
            <a:off x="1781465" y="2012807"/>
            <a:ext cx="6392717" cy="1361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defRPr/>
            </a:pPr>
            <a:r>
              <a:rPr lang="zh-CN" altLang="en-US" sz="3200" b="1">
                <a:solidFill>
                  <a:srgbClr val="000000"/>
                </a:solidFill>
                <a:latin typeface="楷体" panose="02010609060101010101" pitchFamily="49" charset="-122"/>
                <a:ea typeface="楷体" panose="02010609060101010101" pitchFamily="49" charset="-122"/>
              </a:rPr>
              <a:t>    乐府诗，形式上以七言为主，杂以“三言”，节奏鲜明。</a:t>
            </a:r>
            <a:endParaRPr lang="en-US" altLang="zh-CN" sz="3200" b="1">
              <a:solidFill>
                <a:srgbClr val="000000"/>
              </a:solidFill>
              <a:latin typeface="楷体" panose="02010609060101010101" pitchFamily="49" charset="-122"/>
              <a:ea typeface="楷体" panose="02010609060101010101" pitchFamily="49"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6"/>
          <p:cNvSpPr>
            <a:spLocks noChangeArrowheads="1"/>
          </p:cNvSpPr>
          <p:nvPr/>
        </p:nvSpPr>
        <p:spPr bwMode="auto">
          <a:xfrm>
            <a:off x="1738747" y="853209"/>
            <a:ext cx="7155871" cy="3794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b="1">
                <a:solidFill>
                  <a:srgbClr val="000000"/>
                </a:solidFill>
                <a:latin typeface="宋体" panose="02010600030101010101" pitchFamily="2" charset="-122"/>
              </a:rPr>
              <a:t>金樽</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清酒</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斗十千，玉盘</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珍羞</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直万钱。</a:t>
            </a:r>
            <a:endParaRPr lang="en-US" altLang="zh-CN" sz="2800" b="1">
              <a:solidFill>
                <a:srgbClr val="000000"/>
              </a:solidFill>
              <a:latin typeface="宋体" panose="02010600030101010101" pitchFamily="2" charset="-122"/>
            </a:endParaRPr>
          </a:p>
          <a:p>
            <a:pPr eaLnBrk="1" hangingPunct="1">
              <a:lnSpc>
                <a:spcPct val="150000"/>
              </a:lnSpc>
            </a:pPr>
            <a:r>
              <a:rPr lang="zh-CN" altLang="en-US" sz="2800" b="1">
                <a:solidFill>
                  <a:srgbClr val="000000"/>
                </a:solidFill>
                <a:latin typeface="宋体" panose="02010600030101010101" pitchFamily="2" charset="-122"/>
              </a:rPr>
              <a:t>停杯</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投箸</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不能食，拔剑</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四顾</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心茫然。</a:t>
            </a:r>
            <a:endParaRPr lang="zh-CN" altLang="en-US" sz="2800" b="1">
              <a:solidFill>
                <a:srgbClr val="000000"/>
              </a:solidFill>
              <a:latin typeface="宋体" panose="02010600030101010101" pitchFamily="2" charset="-122"/>
            </a:endParaRPr>
          </a:p>
          <a:p>
            <a:pPr eaLnBrk="1" hangingPunct="1">
              <a:lnSpc>
                <a:spcPct val="150000"/>
              </a:lnSpc>
            </a:pPr>
            <a:r>
              <a:rPr lang="zh-CN" altLang="en-US" sz="2800" b="1">
                <a:solidFill>
                  <a:srgbClr val="000000"/>
                </a:solidFill>
                <a:latin typeface="宋体" panose="02010600030101010101" pitchFamily="2" charset="-122"/>
              </a:rPr>
              <a:t>欲渡</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黄河</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冰塞川，将登</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太行</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雪满山。</a:t>
            </a:r>
            <a:endParaRPr lang="en-US" altLang="zh-CN" sz="2800" b="1">
              <a:solidFill>
                <a:srgbClr val="000000"/>
              </a:solidFill>
              <a:latin typeface="宋体" panose="02010600030101010101" pitchFamily="2" charset="-122"/>
            </a:endParaRPr>
          </a:p>
          <a:p>
            <a:pPr eaLnBrk="1" hangingPunct="1">
              <a:lnSpc>
                <a:spcPct val="150000"/>
              </a:lnSpc>
            </a:pPr>
            <a:r>
              <a:rPr lang="zh-CN" altLang="en-US" sz="2800" b="1">
                <a:solidFill>
                  <a:srgbClr val="000000"/>
                </a:solidFill>
                <a:latin typeface="宋体" panose="02010600030101010101" pitchFamily="2" charset="-122"/>
              </a:rPr>
              <a:t>闲来</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垂钓</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碧溪上，忽复</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乘舟</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梦日边。</a:t>
            </a:r>
            <a:endParaRPr lang="zh-CN" altLang="en-US" sz="2800" b="1">
              <a:solidFill>
                <a:srgbClr val="000000"/>
              </a:solidFill>
              <a:latin typeface="宋体" panose="02010600030101010101" pitchFamily="2" charset="-122"/>
            </a:endParaRPr>
          </a:p>
          <a:p>
            <a:pPr eaLnBrk="1" hangingPunct="1">
              <a:lnSpc>
                <a:spcPct val="150000"/>
              </a:lnSpc>
            </a:pPr>
            <a:r>
              <a:rPr lang="zh-CN" altLang="en-US" sz="2800" b="1">
                <a:solidFill>
                  <a:srgbClr val="000000"/>
                </a:solidFill>
                <a:latin typeface="宋体" panose="02010600030101010101" pitchFamily="2" charset="-122"/>
              </a:rPr>
              <a:t>行路难，行路难，多歧路，今安在？</a:t>
            </a:r>
            <a:endParaRPr lang="en-US" altLang="zh-CN" sz="2800" b="1">
              <a:solidFill>
                <a:srgbClr val="000000"/>
              </a:solidFill>
              <a:latin typeface="宋体" panose="02010600030101010101" pitchFamily="2" charset="-122"/>
            </a:endParaRPr>
          </a:p>
          <a:p>
            <a:pPr eaLnBrk="1" hangingPunct="1">
              <a:lnSpc>
                <a:spcPct val="150000"/>
              </a:lnSpc>
            </a:pPr>
            <a:r>
              <a:rPr lang="zh-CN" altLang="en-US" sz="2800" b="1">
                <a:solidFill>
                  <a:srgbClr val="000000"/>
                </a:solidFill>
                <a:latin typeface="宋体" panose="02010600030101010101" pitchFamily="2" charset="-122"/>
              </a:rPr>
              <a:t>长风</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破浪</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会有时，直挂</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云帆</a:t>
            </a:r>
            <a:r>
              <a:rPr lang="en-US" altLang="zh-CN" sz="2800" b="1">
                <a:solidFill>
                  <a:srgbClr val="C00000"/>
                </a:solidFill>
                <a:latin typeface="宋体" panose="02010600030101010101" pitchFamily="2" charset="-122"/>
              </a:rPr>
              <a:t>/</a:t>
            </a:r>
            <a:r>
              <a:rPr lang="zh-CN" altLang="en-US" sz="2800" b="1">
                <a:solidFill>
                  <a:srgbClr val="000000"/>
                </a:solidFill>
                <a:latin typeface="宋体" panose="02010600030101010101" pitchFamily="2" charset="-122"/>
              </a:rPr>
              <a:t>济沧海。</a:t>
            </a:r>
            <a:endParaRPr lang="zh-CN" altLang="en-US" sz="1600">
              <a:ea typeface="楷体" panose="02010609060101010101" pitchFamily="49" charset="-122"/>
            </a:endParaRPr>
          </a:p>
        </p:txBody>
      </p:sp>
      <p:sp>
        <p:nvSpPr>
          <p:cNvPr id="3" name="文本框 2"/>
          <p:cNvSpPr txBox="1">
            <a:spLocks noChangeArrowheads="1"/>
          </p:cNvSpPr>
          <p:nvPr/>
        </p:nvSpPr>
        <p:spPr bwMode="auto">
          <a:xfrm>
            <a:off x="499743" y="263236"/>
            <a:ext cx="4460184"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把握节奏</a:t>
            </a:r>
            <a:endParaRPr lang="zh-CN" alt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6"/>
          <p:cNvSpPr>
            <a:spLocks noChangeArrowheads="1"/>
          </p:cNvSpPr>
          <p:nvPr/>
        </p:nvSpPr>
        <p:spPr bwMode="auto">
          <a:xfrm>
            <a:off x="322955" y="1468522"/>
            <a:ext cx="8498091" cy="3297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pPr>
            <a:r>
              <a:rPr lang="zh-CN" altLang="en-US" sz="2600" b="1">
                <a:solidFill>
                  <a:schemeClr val="accent6">
                    <a:lumMod val="50000"/>
                  </a:schemeClr>
                </a:solidFill>
                <a:latin typeface="楷体" panose="02010609060101010101" pitchFamily="49" charset="-122"/>
                <a:ea typeface="楷体" panose="02010609060101010101" pitchFamily="49" charset="-122"/>
              </a:rPr>
              <a:t>    酒杯里盛着价格昂贵的清醇美酒，盘子里装满价值万钱的佳肴。（我）放下酒杯和筷子，食不下咽，拔剑起舞，环顾四周，心里茫然。想渡黄河，坚冰堵塞大川；想登太行山，大雪遍布高山。闲时像姜太公一样坐在碧溪边钓鱼，忽又像伊尹梦见乘船经过太阳旁边。行路难啊，行路难啊，岔路多啊，现在要走的路在哪里？坚信乘风破浪的那一天终将到来，（到那时）将扬起高高的帆横渡沧海。</a:t>
            </a:r>
            <a:endParaRPr lang="zh-CN" altLang="en-US" sz="2600">
              <a:solidFill>
                <a:schemeClr val="accent6">
                  <a:lumMod val="50000"/>
                </a:schemeClr>
              </a:solidFill>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322955" y="424642"/>
            <a:ext cx="8406652" cy="954107"/>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sz="2800"/>
              <a:t>理解诗意。利用课下注释和工具书，读懂大意，用自己的话对诗歌的内容进行复述。</a:t>
            </a: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wipe(down)">
                                      <p:cBhvr>
                                        <p:cTn id="7" dur="500"/>
                                        <p:tgtEl>
                                          <p:spTgt spid="17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5725" y="531579"/>
            <a:ext cx="8753797" cy="1233003"/>
            <a:chOff x="0" y="72474"/>
            <a:chExt cx="8753797" cy="1233003"/>
          </a:xfrm>
        </p:grpSpPr>
        <p:pic>
          <p:nvPicPr>
            <p:cNvPr id="3" name="Picture 2"/>
            <p:cNvPicPr>
              <a:picLocks noChangeAspect="1" noChangeArrowheads="1"/>
            </p:cNvPicPr>
            <p:nvPr/>
          </p:nvPicPr>
          <p:blipFill>
            <a:blip r:embed="rId1"/>
            <a:stretch>
              <a:fillRect/>
            </a:stretch>
          </p:blipFill>
          <p:spPr bwMode="auto">
            <a:xfrm>
              <a:off x="0" y="72474"/>
              <a:ext cx="1485613" cy="1233003"/>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a:spLocks noChangeArrowheads="1"/>
            </p:cNvSpPr>
            <p:nvPr/>
          </p:nvSpPr>
          <p:spPr bwMode="auto">
            <a:xfrm>
              <a:off x="832917" y="328362"/>
              <a:ext cx="7920880"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目标任务三：品词析句，理清情感脉络。</a:t>
              </a:r>
              <a:endParaRPr lang="zh-CN" altLang="en-US" sz="3200" b="1">
                <a:latin typeface="黑体" panose="02010609060101010101" pitchFamily="2" charset="-122"/>
                <a:ea typeface="黑体" panose="02010609060101010101" pitchFamily="2" charset="-122"/>
              </a:endParaRPr>
            </a:p>
          </p:txBody>
        </p:sp>
      </p:grpSp>
      <p:sp>
        <p:nvSpPr>
          <p:cNvPr id="5" name="文本框 4"/>
          <p:cNvSpPr txBox="1">
            <a:spLocks noChangeArrowheads="1"/>
          </p:cNvSpPr>
          <p:nvPr/>
        </p:nvSpPr>
        <p:spPr bwMode="auto">
          <a:xfrm>
            <a:off x="498215" y="2131522"/>
            <a:ext cx="8406652" cy="553998"/>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sz="3000"/>
              <a:t>找出诗眼。文题中哪一个字可见作者的心情？</a:t>
            </a:r>
            <a:endParaRPr lang="zh-CN" altLang="en-US" sz="3000"/>
          </a:p>
        </p:txBody>
      </p:sp>
      <p:sp>
        <p:nvSpPr>
          <p:cNvPr id="6" name="矩形 5"/>
          <p:cNvSpPr>
            <a:spLocks noChangeArrowheads="1"/>
          </p:cNvSpPr>
          <p:nvPr/>
        </p:nvSpPr>
        <p:spPr bwMode="auto">
          <a:xfrm>
            <a:off x="1039093" y="2956734"/>
            <a:ext cx="749530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chemeClr val="accent6">
                    <a:lumMod val="50000"/>
                  </a:schemeClr>
                </a:solidFill>
                <a:latin typeface="楷体" panose="02010609060101010101" pitchFamily="49" charset="-122"/>
                <a:ea typeface="楷体" panose="02010609060101010101" pitchFamily="49" charset="-122"/>
              </a:rPr>
              <a:t>“难”。暗示了诗人李白对人生的感慨。</a:t>
            </a:r>
            <a:endParaRPr lang="zh-CN" altLang="en-US">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a:spLocks noChangeArrowheads="1"/>
          </p:cNvSpPr>
          <p:nvPr/>
        </p:nvSpPr>
        <p:spPr bwMode="auto">
          <a:xfrm>
            <a:off x="841390" y="1290630"/>
            <a:ext cx="7461221" cy="2562240"/>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30000"/>
              </a:lnSpc>
            </a:pPr>
            <a:r>
              <a:rPr lang="zh-CN" altLang="en-US"/>
              <a:t>寻找诗句。诗题为“行路难”，一个“难”字，道尽诗人千千心结。反复品读诗歌，说说哪些诗句体现了诗人处境和心境之艰难。</a:t>
            </a:r>
            <a:endParaRPr lang="zh-CN" alt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675410" y="933970"/>
            <a:ext cx="71212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000" b="1">
                <a:latin typeface="+mn-ea"/>
                <a:ea typeface="+mn-ea"/>
              </a:rPr>
              <a:t>（</a:t>
            </a:r>
            <a:r>
              <a:rPr lang="en-US" altLang="zh-CN" sz="3000" b="1">
                <a:latin typeface="+mn-ea"/>
                <a:ea typeface="+mn-ea"/>
              </a:rPr>
              <a:t>1</a:t>
            </a:r>
            <a:r>
              <a:rPr lang="zh-CN" altLang="en-US" sz="3000" b="1">
                <a:latin typeface="+mn-ea"/>
                <a:ea typeface="+mn-ea"/>
              </a:rPr>
              <a:t>）金樽清酒斗十千，玉盘珍羞直万钱。</a:t>
            </a:r>
            <a:endParaRPr lang="zh-CN" altLang="en-US" sz="3000" b="1">
              <a:latin typeface="+mn-ea"/>
              <a:ea typeface="+mn-ea"/>
            </a:endParaRPr>
          </a:p>
        </p:txBody>
      </p:sp>
      <p:sp>
        <p:nvSpPr>
          <p:cNvPr id="3" name="矩形 2"/>
          <p:cNvSpPr>
            <a:spLocks noChangeArrowheads="1"/>
          </p:cNvSpPr>
          <p:nvPr/>
        </p:nvSpPr>
        <p:spPr bwMode="auto">
          <a:xfrm>
            <a:off x="675410" y="1611078"/>
            <a:ext cx="7793180" cy="2315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3000" b="1">
                <a:solidFill>
                  <a:schemeClr val="accent6">
                    <a:lumMod val="50000"/>
                  </a:schemeClr>
                </a:solidFill>
                <a:latin typeface="楷体" panose="02010609060101010101" pitchFamily="49" charset="-122"/>
                <a:ea typeface="楷体" panose="02010609060101010101" pitchFamily="49" charset="-122"/>
              </a:rPr>
              <a:t>    “金樽”与“玉盘”，“斗十千”与“直万钱”，妙用对偶和夸张，极写宴会的丰盛，仿佛在渲染欢乐的氛围，实则是为下文写苦闷茫然的心绪作铺垫。</a:t>
            </a:r>
            <a:endParaRPr lang="zh-CN" altLang="en-US" sz="3000">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817420" y="933970"/>
            <a:ext cx="73613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000" b="1">
                <a:latin typeface="+mn-ea"/>
                <a:ea typeface="+mn-ea"/>
              </a:rPr>
              <a:t>（</a:t>
            </a:r>
            <a:r>
              <a:rPr lang="en-US" altLang="zh-CN" sz="3000" b="1">
                <a:latin typeface="+mn-ea"/>
                <a:ea typeface="+mn-ea"/>
              </a:rPr>
              <a:t>2</a:t>
            </a:r>
            <a:r>
              <a:rPr lang="zh-CN" altLang="en-US" sz="3000" b="1">
                <a:latin typeface="+mn-ea"/>
                <a:ea typeface="+mn-ea"/>
              </a:rPr>
              <a:t>）停杯投箸不能食，拔剑四顾心茫然。</a:t>
            </a:r>
            <a:endParaRPr lang="zh-CN" altLang="en-US" sz="3000" b="1">
              <a:latin typeface="+mn-ea"/>
              <a:ea typeface="+mn-ea"/>
            </a:endParaRPr>
          </a:p>
        </p:txBody>
      </p:sp>
      <p:sp>
        <p:nvSpPr>
          <p:cNvPr id="3" name="矩形 2"/>
          <p:cNvSpPr>
            <a:spLocks noChangeArrowheads="1"/>
          </p:cNvSpPr>
          <p:nvPr/>
        </p:nvSpPr>
        <p:spPr bwMode="auto">
          <a:xfrm>
            <a:off x="2457500" y="1687278"/>
            <a:ext cx="6091413" cy="1715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3000" b="1">
                <a:solidFill>
                  <a:schemeClr val="accent6">
                    <a:lumMod val="50000"/>
                  </a:schemeClr>
                </a:solidFill>
                <a:latin typeface="楷体" panose="02010609060101010101" pitchFamily="49" charset="-122"/>
                <a:ea typeface="楷体" panose="02010609060101010101" pitchFamily="49" charset="-122"/>
              </a:rPr>
              <a:t>    “停、投、拔、顾”四个连续动作，形象地表现出了诗人内心的苦闷抑郁和感情的激荡变化。</a:t>
            </a:r>
            <a:endParaRPr lang="zh-CN" altLang="en-US" sz="3000" b="1">
              <a:solidFill>
                <a:schemeClr val="accent6">
                  <a:lumMod val="50000"/>
                </a:schemeClr>
              </a:solidFill>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1"/>
          <a:stretch>
            <a:fillRect/>
          </a:stretch>
        </p:blipFill>
        <p:spPr>
          <a:xfrm>
            <a:off x="0" y="2072640"/>
            <a:ext cx="3376746" cy="307086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557482" y="530838"/>
            <a:ext cx="71212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000" b="1">
                <a:latin typeface="+mn-ea"/>
                <a:ea typeface="+mn-ea"/>
              </a:rPr>
              <a:t>（</a:t>
            </a:r>
            <a:r>
              <a:rPr lang="en-US" altLang="zh-CN" sz="3000" b="1">
                <a:latin typeface="+mn-ea"/>
                <a:ea typeface="+mn-ea"/>
              </a:rPr>
              <a:t>3</a:t>
            </a:r>
            <a:r>
              <a:rPr lang="zh-CN" altLang="en-US" sz="3000" b="1">
                <a:latin typeface="+mn-ea"/>
                <a:ea typeface="+mn-ea"/>
              </a:rPr>
              <a:t>）欲渡黄河冰塞川，将登太行雪满山。</a:t>
            </a:r>
            <a:endParaRPr lang="zh-CN" altLang="en-US" sz="3000" b="1">
              <a:latin typeface="+mn-ea"/>
              <a:ea typeface="+mn-ea"/>
            </a:endParaRPr>
          </a:p>
        </p:txBody>
      </p:sp>
      <p:sp>
        <p:nvSpPr>
          <p:cNvPr id="3" name="矩形 2"/>
          <p:cNvSpPr>
            <a:spLocks noChangeArrowheads="1"/>
          </p:cNvSpPr>
          <p:nvPr/>
        </p:nvSpPr>
        <p:spPr bwMode="auto">
          <a:xfrm>
            <a:off x="557482" y="1108886"/>
            <a:ext cx="8029037" cy="3567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eaLnBrk="1" hangingPunct="1">
              <a:lnSpc>
                <a:spcPct val="130000"/>
              </a:lnSpc>
            </a:pPr>
            <a:r>
              <a:rPr lang="zh-CN" altLang="en-US" sz="2600" b="1">
                <a:solidFill>
                  <a:schemeClr val="accent6">
                    <a:lumMod val="50000"/>
                  </a:schemeClr>
                </a:solidFill>
                <a:latin typeface="楷体" panose="02010609060101010101" pitchFamily="49" charset="-122"/>
                <a:ea typeface="楷体" panose="02010609060101010101" pitchFamily="49" charset="-122"/>
              </a:rPr>
              <a:t>    “冰塞川”“雪满山”象征人生之路上的艰难险阻，与标题的行路之“难”相照应。这两句表面上看是景物描写，实际上诗人以“渡黄河”和“登太行”象征自己的理想和志向，“冰塞川”和“雪满山”象征路途中遇到的艰险和困难，诗人是以自然景象象征人世现实，以路途艰险比况仕途艰难。这两句诗紧承“心茫然”，正面写“行路难”，此时诗人的心境是悲愤的。</a:t>
            </a:r>
            <a:endParaRPr lang="zh-CN" altLang="en-US" sz="2600" b="1">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675410" y="933970"/>
            <a:ext cx="71212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000" b="1">
                <a:latin typeface="+mn-ea"/>
                <a:ea typeface="+mn-ea"/>
              </a:rPr>
              <a:t>（</a:t>
            </a:r>
            <a:r>
              <a:rPr lang="en-US" altLang="zh-CN" sz="3000" b="1">
                <a:latin typeface="+mn-ea"/>
                <a:ea typeface="+mn-ea"/>
              </a:rPr>
              <a:t>4</a:t>
            </a:r>
            <a:r>
              <a:rPr lang="zh-CN" altLang="en-US" sz="3000" b="1">
                <a:latin typeface="+mn-ea"/>
                <a:ea typeface="+mn-ea"/>
              </a:rPr>
              <a:t>）闲来垂钓碧溪上，忽复乘舟梦日边。</a:t>
            </a:r>
            <a:endParaRPr lang="zh-CN" altLang="en-US" sz="3000" b="1">
              <a:latin typeface="+mn-ea"/>
              <a:ea typeface="+mn-ea"/>
            </a:endParaRPr>
          </a:p>
        </p:txBody>
      </p:sp>
      <p:sp>
        <p:nvSpPr>
          <p:cNvPr id="3" name="矩形 2"/>
          <p:cNvSpPr>
            <a:spLocks noChangeArrowheads="1"/>
          </p:cNvSpPr>
          <p:nvPr/>
        </p:nvSpPr>
        <p:spPr bwMode="auto">
          <a:xfrm>
            <a:off x="675410" y="1611078"/>
            <a:ext cx="7793180" cy="2915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eaLnBrk="1" hangingPunct="1">
              <a:lnSpc>
                <a:spcPct val="130000"/>
              </a:lnSpc>
            </a:pPr>
            <a:r>
              <a:rPr lang="zh-CN" altLang="en-US" sz="3000" b="1">
                <a:solidFill>
                  <a:schemeClr val="accent6">
                    <a:lumMod val="50000"/>
                  </a:schemeClr>
                </a:solidFill>
                <a:latin typeface="楷体" panose="02010609060101010101" pitchFamily="49" charset="-122"/>
                <a:ea typeface="楷体" panose="02010609060101010101" pitchFamily="49" charset="-122"/>
              </a:rPr>
              <a:t>    运用姜尚、伊尹的典故，这两个人在仕途上都是开始不顺利，但最终大有所为。诗人以“垂钓碧溪”自比姜尚，以“乘舟梦日”自比伊尹，表达了他期望有朝一日能得到明主赏识，施展自己的才华和抱负的强烈愿望。</a:t>
            </a:r>
            <a:endParaRPr lang="zh-CN" altLang="en-US" sz="3000" b="1">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675410" y="912425"/>
            <a:ext cx="71212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000" b="1">
                <a:latin typeface="+mn-ea"/>
                <a:ea typeface="+mn-ea"/>
              </a:rPr>
              <a:t>（</a:t>
            </a:r>
            <a:r>
              <a:rPr lang="en-US" altLang="zh-CN" sz="3000" b="1">
                <a:latin typeface="+mn-ea"/>
                <a:ea typeface="+mn-ea"/>
              </a:rPr>
              <a:t>5</a:t>
            </a:r>
            <a:r>
              <a:rPr lang="zh-CN" altLang="en-US" sz="3000" b="1">
                <a:latin typeface="+mn-ea"/>
                <a:ea typeface="+mn-ea"/>
              </a:rPr>
              <a:t>）行路难，行路难，多歧路，今安在？</a:t>
            </a:r>
            <a:endParaRPr lang="zh-CN" altLang="en-US" sz="3000" b="1">
              <a:latin typeface="+mn-ea"/>
              <a:ea typeface="+mn-ea"/>
            </a:endParaRPr>
          </a:p>
        </p:txBody>
      </p:sp>
      <p:sp>
        <p:nvSpPr>
          <p:cNvPr id="3" name="矩形 2"/>
          <p:cNvSpPr>
            <a:spLocks noChangeArrowheads="1"/>
          </p:cNvSpPr>
          <p:nvPr/>
        </p:nvSpPr>
        <p:spPr bwMode="auto">
          <a:xfrm>
            <a:off x="675410" y="1611078"/>
            <a:ext cx="7793180" cy="2315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eaLnBrk="1" hangingPunct="1">
              <a:lnSpc>
                <a:spcPct val="130000"/>
              </a:lnSpc>
            </a:pPr>
            <a:r>
              <a:rPr lang="zh-CN" altLang="en-US" sz="3000" b="1">
                <a:solidFill>
                  <a:schemeClr val="accent6">
                    <a:lumMod val="50000"/>
                  </a:schemeClr>
                </a:solidFill>
                <a:latin typeface="楷体" panose="02010609060101010101" pitchFamily="49" charset="-122"/>
                <a:ea typeface="楷体" panose="02010609060101010101" pitchFamily="49" charset="-122"/>
              </a:rPr>
              <a:t>    运用反复的修辞手法，连用四个三字句，节奏短促，形象地传达出进退失据而又要继续探索追求的复杂心理。表达了诗人对仕途坎坷、理想抱负不能实现的感慨。</a:t>
            </a:r>
            <a:endParaRPr lang="zh-CN" altLang="en-US" sz="3000" b="1">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6"/>
          <p:cNvSpPr>
            <a:spLocks noChangeArrowheads="1"/>
          </p:cNvSpPr>
          <p:nvPr/>
        </p:nvSpPr>
        <p:spPr bwMode="auto">
          <a:xfrm>
            <a:off x="1614057" y="1383598"/>
            <a:ext cx="6019798" cy="2430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200000"/>
              </a:lnSpc>
            </a:pPr>
            <a:r>
              <a:rPr lang="zh-CN" altLang="en-US" sz="2800" b="1">
                <a:solidFill>
                  <a:srgbClr val="000000"/>
                </a:solidFill>
                <a:latin typeface="宋体" panose="02010600030101010101" pitchFamily="2" charset="-122"/>
              </a:rPr>
              <a:t>金樽清酒斗十千，玉盘珍羞直万钱。</a:t>
            </a:r>
            <a:endParaRPr lang="en-US" altLang="zh-CN" sz="2800" b="1">
              <a:solidFill>
                <a:srgbClr val="000000"/>
              </a:solidFill>
              <a:latin typeface="宋体" panose="02010600030101010101" pitchFamily="2" charset="-122"/>
            </a:endParaRPr>
          </a:p>
          <a:p>
            <a:pPr algn="ctr" eaLnBrk="1" hangingPunct="1">
              <a:lnSpc>
                <a:spcPct val="200000"/>
              </a:lnSpc>
            </a:pPr>
            <a:r>
              <a:rPr lang="zh-CN" altLang="en-US" sz="2800" b="1">
                <a:solidFill>
                  <a:srgbClr val="000000"/>
                </a:solidFill>
                <a:latin typeface="宋体" panose="02010600030101010101" pitchFamily="2" charset="-122"/>
              </a:rPr>
              <a:t>停杯投箸不能食，拔剑四顾心茫然。</a:t>
            </a:r>
            <a:endParaRPr lang="zh-CN" altLang="en-US" sz="2800" b="1">
              <a:solidFill>
                <a:srgbClr val="000000"/>
              </a:solidFill>
              <a:latin typeface="宋体" panose="02010600030101010101" pitchFamily="2" charset="-122"/>
            </a:endParaRPr>
          </a:p>
          <a:p>
            <a:pPr algn="ctr" eaLnBrk="1" hangingPunct="1">
              <a:lnSpc>
                <a:spcPct val="200000"/>
              </a:lnSpc>
            </a:pPr>
            <a:r>
              <a:rPr lang="zh-CN" altLang="en-US" sz="2800" b="1">
                <a:solidFill>
                  <a:srgbClr val="000000"/>
                </a:solidFill>
                <a:latin typeface="宋体" panose="02010600030101010101" pitchFamily="2" charset="-122"/>
              </a:rPr>
              <a:t>欲渡黄河冰塞川，将登太行雪满山。</a:t>
            </a:r>
            <a:endParaRPr lang="en-US" altLang="zh-CN" sz="2800" b="1">
              <a:solidFill>
                <a:srgbClr val="000000"/>
              </a:solidFill>
              <a:latin typeface="宋体" panose="02010600030101010101" pitchFamily="2" charset="-122"/>
            </a:endParaRPr>
          </a:p>
        </p:txBody>
      </p:sp>
      <p:sp>
        <p:nvSpPr>
          <p:cNvPr id="3" name="文本框 2"/>
          <p:cNvSpPr txBox="1">
            <a:spLocks noChangeArrowheads="1"/>
          </p:cNvSpPr>
          <p:nvPr/>
        </p:nvSpPr>
        <p:spPr bwMode="auto">
          <a:xfrm>
            <a:off x="354270" y="374073"/>
            <a:ext cx="8256330" cy="1148263"/>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32000"/>
              </a:lnSpc>
            </a:pPr>
            <a:r>
              <a:rPr lang="zh-CN" altLang="en-US" sz="2800"/>
              <a:t>梳理情感脉络。纵观全诗，结合具体内容，分析诗人的情感变化。</a:t>
            </a:r>
            <a:endParaRPr lang="zh-CN" altLang="en-US" sz="2800"/>
          </a:p>
        </p:txBody>
      </p:sp>
      <p:sp>
        <p:nvSpPr>
          <p:cNvPr id="4" name="矩形 3"/>
          <p:cNvSpPr>
            <a:spLocks noChangeArrowheads="1"/>
          </p:cNvSpPr>
          <p:nvPr/>
        </p:nvSpPr>
        <p:spPr bwMode="auto">
          <a:xfrm>
            <a:off x="3924303" y="2076326"/>
            <a:ext cx="139930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solidFill>
                  <a:srgbClr val="C00000"/>
                </a:solidFill>
                <a:latin typeface="楷体" panose="02010609060101010101" pitchFamily="49" charset="-122"/>
                <a:ea typeface="楷体" panose="02010609060101010101" pitchFamily="49" charset="-122"/>
              </a:rPr>
              <a:t>欢乐</a:t>
            </a:r>
            <a:endParaRPr lang="zh-CN" altLang="en-US" sz="1600">
              <a:solidFill>
                <a:srgbClr val="C00000"/>
              </a:solidFill>
              <a:latin typeface="楷体" panose="02010609060101010101" pitchFamily="49" charset="-122"/>
              <a:ea typeface="楷体" panose="02010609060101010101" pitchFamily="49" charset="-122"/>
            </a:endParaRPr>
          </a:p>
        </p:txBody>
      </p:sp>
      <p:sp>
        <p:nvSpPr>
          <p:cNvPr id="5" name="矩形 4"/>
          <p:cNvSpPr>
            <a:spLocks noChangeArrowheads="1"/>
          </p:cNvSpPr>
          <p:nvPr/>
        </p:nvSpPr>
        <p:spPr bwMode="auto">
          <a:xfrm>
            <a:off x="1859974" y="2947964"/>
            <a:ext cx="552796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solidFill>
                  <a:srgbClr val="C00000"/>
                </a:solidFill>
                <a:latin typeface="楷体" panose="02010609060101010101" pitchFamily="49" charset="-122"/>
                <a:ea typeface="楷体" panose="02010609060101010101" pitchFamily="49" charset="-122"/>
              </a:rPr>
              <a:t>情绪急转，郁闷悲苦</a:t>
            </a:r>
            <a:endParaRPr lang="zh-CN" altLang="en-US" sz="1600">
              <a:solidFill>
                <a:srgbClr val="C00000"/>
              </a:solidFill>
              <a:latin typeface="楷体" panose="02010609060101010101" pitchFamily="49" charset="-122"/>
              <a:ea typeface="楷体" panose="02010609060101010101" pitchFamily="49" charset="-122"/>
            </a:endParaRPr>
          </a:p>
        </p:txBody>
      </p:sp>
      <p:sp>
        <p:nvSpPr>
          <p:cNvPr id="9" name="矩形 8"/>
          <p:cNvSpPr>
            <a:spLocks noChangeArrowheads="1"/>
          </p:cNvSpPr>
          <p:nvPr/>
        </p:nvSpPr>
        <p:spPr bwMode="auto">
          <a:xfrm>
            <a:off x="1859974" y="3836592"/>
            <a:ext cx="552796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solidFill>
                  <a:srgbClr val="C00000"/>
                </a:solidFill>
                <a:latin typeface="楷体" panose="02010609060101010101" pitchFamily="49" charset="-122"/>
                <a:ea typeface="楷体" panose="02010609060101010101" pitchFamily="49" charset="-122"/>
              </a:rPr>
              <a:t>仕途艰难，无限惆怅</a:t>
            </a:r>
            <a:endParaRPr lang="zh-CN" altLang="en-US" sz="1600">
              <a:solidFill>
                <a:srgbClr val="C0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6"/>
          <p:cNvSpPr>
            <a:spLocks noChangeArrowheads="1"/>
          </p:cNvSpPr>
          <p:nvPr/>
        </p:nvSpPr>
        <p:spPr bwMode="auto">
          <a:xfrm>
            <a:off x="1571807" y="580033"/>
            <a:ext cx="6019798" cy="244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200000"/>
              </a:lnSpc>
            </a:pPr>
            <a:r>
              <a:rPr lang="zh-CN" altLang="en-US" sz="2800" b="1">
                <a:solidFill>
                  <a:srgbClr val="000000"/>
                </a:solidFill>
                <a:latin typeface="宋体" panose="02010600030101010101" pitchFamily="2" charset="-122"/>
              </a:rPr>
              <a:t>闲来垂钓碧溪上，忽复乘舟梦日边。</a:t>
            </a:r>
            <a:endParaRPr lang="zh-CN" altLang="en-US" sz="2800" b="1">
              <a:solidFill>
                <a:srgbClr val="000000"/>
              </a:solidFill>
              <a:latin typeface="宋体" panose="02010600030101010101" pitchFamily="2" charset="-122"/>
            </a:endParaRPr>
          </a:p>
          <a:p>
            <a:pPr algn="ctr" eaLnBrk="1" hangingPunct="1">
              <a:lnSpc>
                <a:spcPct val="200000"/>
              </a:lnSpc>
            </a:pPr>
            <a:r>
              <a:rPr lang="zh-CN" altLang="en-US" sz="2800" b="1">
                <a:solidFill>
                  <a:srgbClr val="000000"/>
                </a:solidFill>
                <a:latin typeface="宋体" panose="02010600030101010101" pitchFamily="2" charset="-122"/>
              </a:rPr>
              <a:t>行路难，行路难，多歧路，今安在？</a:t>
            </a:r>
            <a:endParaRPr lang="en-US" altLang="zh-CN" sz="2800" b="1">
              <a:solidFill>
                <a:srgbClr val="000000"/>
              </a:solidFill>
              <a:latin typeface="宋体" panose="02010600030101010101" pitchFamily="2" charset="-122"/>
            </a:endParaRPr>
          </a:p>
          <a:p>
            <a:pPr algn="ctr" eaLnBrk="1" hangingPunct="1">
              <a:lnSpc>
                <a:spcPct val="200000"/>
              </a:lnSpc>
            </a:pPr>
            <a:r>
              <a:rPr lang="zh-CN" altLang="en-US" sz="2800" b="1">
                <a:solidFill>
                  <a:srgbClr val="000000"/>
                </a:solidFill>
                <a:latin typeface="宋体" panose="02010600030101010101" pitchFamily="2" charset="-122"/>
              </a:rPr>
              <a:t>长风破浪会有时，直挂云帆济沧海。</a:t>
            </a:r>
            <a:endParaRPr lang="zh-CN" altLang="en-US" sz="1600">
              <a:ea typeface="楷体" panose="02010609060101010101" pitchFamily="49" charset="-122"/>
            </a:endParaRPr>
          </a:p>
        </p:txBody>
      </p:sp>
      <p:sp>
        <p:nvSpPr>
          <p:cNvPr id="7" name="矩形 6"/>
          <p:cNvSpPr>
            <a:spLocks noChangeArrowheads="1"/>
          </p:cNvSpPr>
          <p:nvPr/>
        </p:nvSpPr>
        <p:spPr bwMode="auto">
          <a:xfrm>
            <a:off x="2562652" y="1283480"/>
            <a:ext cx="403810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solidFill>
                  <a:srgbClr val="C00000"/>
                </a:solidFill>
                <a:latin typeface="楷体" panose="02010609060101010101" pitchFamily="49" charset="-122"/>
                <a:ea typeface="楷体" panose="02010609060101010101" pitchFamily="49" charset="-122"/>
              </a:rPr>
              <a:t>对政治前途抱有幻想</a:t>
            </a:r>
            <a:endParaRPr lang="zh-CN" altLang="en-US" sz="1600">
              <a:solidFill>
                <a:srgbClr val="C00000"/>
              </a:solidFill>
              <a:latin typeface="楷体" panose="02010609060101010101" pitchFamily="49" charset="-122"/>
              <a:ea typeface="楷体" panose="02010609060101010101" pitchFamily="49" charset="-122"/>
            </a:endParaRPr>
          </a:p>
        </p:txBody>
      </p:sp>
      <p:sp>
        <p:nvSpPr>
          <p:cNvPr id="9" name="矩形 8"/>
          <p:cNvSpPr>
            <a:spLocks noChangeArrowheads="1"/>
          </p:cNvSpPr>
          <p:nvPr/>
        </p:nvSpPr>
        <p:spPr bwMode="auto">
          <a:xfrm>
            <a:off x="1625609" y="2135855"/>
            <a:ext cx="591219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solidFill>
                  <a:srgbClr val="C00000"/>
                </a:solidFill>
                <a:latin typeface="楷体" panose="02010609060101010101" pitchFamily="49" charset="-122"/>
                <a:ea typeface="楷体" panose="02010609060101010101" pitchFamily="49" charset="-122"/>
              </a:rPr>
              <a:t>理想与现实的距离使人痛苦无奈</a:t>
            </a:r>
            <a:endParaRPr lang="en-US" altLang="zh-CN" sz="2800" b="1">
              <a:solidFill>
                <a:srgbClr val="C00000"/>
              </a:solidFill>
              <a:latin typeface="楷体" panose="02010609060101010101" pitchFamily="49" charset="-122"/>
              <a:ea typeface="楷体" panose="02010609060101010101" pitchFamily="49" charset="-122"/>
            </a:endParaRPr>
          </a:p>
        </p:txBody>
      </p:sp>
      <p:sp>
        <p:nvSpPr>
          <p:cNvPr id="10" name="矩形 9"/>
          <p:cNvSpPr>
            <a:spLocks noChangeArrowheads="1"/>
          </p:cNvSpPr>
          <p:nvPr/>
        </p:nvSpPr>
        <p:spPr bwMode="auto">
          <a:xfrm>
            <a:off x="2562652" y="2988231"/>
            <a:ext cx="403810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solidFill>
                  <a:srgbClr val="C00000"/>
                </a:solidFill>
                <a:latin typeface="楷体" panose="02010609060101010101" pitchFamily="49" charset="-122"/>
                <a:ea typeface="楷体" panose="02010609060101010101" pitchFamily="49" charset="-122"/>
              </a:rPr>
              <a:t>奋发振作，坚定信心</a:t>
            </a:r>
            <a:endParaRPr lang="zh-CN" altLang="en-US" sz="1600">
              <a:solidFill>
                <a:srgbClr val="C00000"/>
              </a:solidFill>
              <a:latin typeface="楷体" panose="02010609060101010101" pitchFamily="49" charset="-122"/>
              <a:ea typeface="楷体" panose="02010609060101010101" pitchFamily="49" charset="-122"/>
            </a:endParaRPr>
          </a:p>
        </p:txBody>
      </p:sp>
      <p:sp>
        <p:nvSpPr>
          <p:cNvPr id="11" name="矩形 10"/>
          <p:cNvSpPr>
            <a:spLocks noChangeArrowheads="1"/>
          </p:cNvSpPr>
          <p:nvPr/>
        </p:nvSpPr>
        <p:spPr bwMode="auto">
          <a:xfrm>
            <a:off x="1409481" y="3516521"/>
            <a:ext cx="6598446" cy="104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800" b="1">
                <a:solidFill>
                  <a:srgbClr val="C00000"/>
                </a:solidFill>
                <a:latin typeface="楷体" panose="02010609060101010101" pitchFamily="49" charset="-122"/>
                <a:ea typeface="楷体" panose="02010609060101010101" pitchFamily="49" charset="-122"/>
              </a:rPr>
              <a:t>总结：苦闷茫然→惆怅悲慨→憧憬希望→焦灼不安→奋发昂扬</a:t>
            </a:r>
            <a:endParaRPr lang="zh-CN" altLang="en-US" sz="1600">
              <a:solidFill>
                <a:srgbClr val="C0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5725" y="81999"/>
            <a:ext cx="8753797" cy="1233003"/>
            <a:chOff x="0" y="72474"/>
            <a:chExt cx="8753797" cy="1233003"/>
          </a:xfrm>
        </p:grpSpPr>
        <p:pic>
          <p:nvPicPr>
            <p:cNvPr id="3" name="Picture 2"/>
            <p:cNvPicPr>
              <a:picLocks noChangeAspect="1" noChangeArrowheads="1"/>
            </p:cNvPicPr>
            <p:nvPr/>
          </p:nvPicPr>
          <p:blipFill>
            <a:blip r:embed="rId1"/>
            <a:stretch>
              <a:fillRect/>
            </a:stretch>
          </p:blipFill>
          <p:spPr bwMode="auto">
            <a:xfrm>
              <a:off x="0" y="72474"/>
              <a:ext cx="1485613" cy="1233003"/>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a:spLocks noChangeArrowheads="1"/>
            </p:cNvSpPr>
            <p:nvPr/>
          </p:nvSpPr>
          <p:spPr bwMode="auto">
            <a:xfrm>
              <a:off x="832917" y="328362"/>
              <a:ext cx="7920880"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目标任务五：悟读诗歌，体悟精神追求。</a:t>
              </a:r>
              <a:endParaRPr lang="zh-CN" altLang="en-US" sz="3200" b="1">
                <a:latin typeface="黑体" panose="02010609060101010101" pitchFamily="2" charset="-122"/>
                <a:ea typeface="黑体" panose="02010609060101010101" pitchFamily="2" charset="-122"/>
              </a:endParaRPr>
            </a:p>
          </p:txBody>
        </p:sp>
      </p:grpSp>
      <p:sp>
        <p:nvSpPr>
          <p:cNvPr id="5" name="文本框 4"/>
          <p:cNvSpPr txBox="1">
            <a:spLocks noChangeArrowheads="1"/>
          </p:cNvSpPr>
          <p:nvPr/>
        </p:nvSpPr>
        <p:spPr bwMode="auto">
          <a:xfrm>
            <a:off x="360452" y="1399752"/>
            <a:ext cx="8479070" cy="1195712"/>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a:t>这首诗歌中哪些句子富含哲思？请找出来并说说其蕴含的哲理。</a:t>
            </a:r>
            <a:endParaRPr lang="zh-CN" altLang="en-US"/>
          </a:p>
        </p:txBody>
      </p:sp>
      <p:sp>
        <p:nvSpPr>
          <p:cNvPr id="9" name="矩形 8"/>
          <p:cNvSpPr>
            <a:spLocks noChangeArrowheads="1"/>
          </p:cNvSpPr>
          <p:nvPr/>
        </p:nvSpPr>
        <p:spPr bwMode="auto">
          <a:xfrm>
            <a:off x="939423" y="2721887"/>
            <a:ext cx="7608832" cy="1601336"/>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800" b="1">
                <a:solidFill>
                  <a:schemeClr val="accent6">
                    <a:lumMod val="50000"/>
                  </a:schemeClr>
                </a:solidFill>
                <a:latin typeface="楷体" panose="02010609060101010101" pitchFamily="49" charset="-122"/>
                <a:ea typeface="楷体" panose="02010609060101010101" pitchFamily="49" charset="-122"/>
              </a:rPr>
              <a:t>诗句：长风破浪会有时，直挂云帆济沧海。</a:t>
            </a:r>
            <a:endParaRPr lang="zh-CN" altLang="en-US" sz="2800" b="1">
              <a:solidFill>
                <a:schemeClr val="accent6">
                  <a:lumMod val="50000"/>
                </a:schemeClr>
              </a:solidFill>
              <a:latin typeface="楷体" panose="02010609060101010101" pitchFamily="49" charset="-122"/>
              <a:ea typeface="楷体" panose="02010609060101010101" pitchFamily="49" charset="-122"/>
            </a:endParaRPr>
          </a:p>
          <a:p>
            <a:pPr eaLnBrk="1" hangingPunct="1">
              <a:lnSpc>
                <a:spcPct val="130000"/>
              </a:lnSpc>
            </a:pPr>
            <a:r>
              <a:rPr lang="zh-CN" altLang="en-US" sz="2800" b="1">
                <a:solidFill>
                  <a:schemeClr val="accent6">
                    <a:lumMod val="50000"/>
                  </a:schemeClr>
                </a:solidFill>
                <a:latin typeface="楷体" panose="02010609060101010101" pitchFamily="49" charset="-122"/>
                <a:ea typeface="楷体" panose="02010609060101010101" pitchFamily="49" charset="-122"/>
              </a:rPr>
              <a:t>哲理：即使处于低潮、困境，也不应放弃理想，因为只有坚持，理想才会实现。</a:t>
            </a:r>
            <a:endParaRPr lang="zh-CN" altLang="en-US" sz="2800">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a:spLocks noChangeArrowheads="1"/>
          </p:cNvSpPr>
          <p:nvPr/>
        </p:nvSpPr>
        <p:spPr bwMode="auto">
          <a:xfrm>
            <a:off x="360452" y="644678"/>
            <a:ext cx="8479070" cy="1196033"/>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a:t>感悟精神。联系全诗，谈谈你对“长风破浪会有时，直挂云帆济沧海”两句的理解。</a:t>
            </a:r>
            <a:endParaRPr lang="zh-CN" altLang="en-US"/>
          </a:p>
        </p:txBody>
      </p:sp>
      <p:sp>
        <p:nvSpPr>
          <p:cNvPr id="4" name="矩形 3"/>
          <p:cNvSpPr>
            <a:spLocks noChangeArrowheads="1"/>
          </p:cNvSpPr>
          <p:nvPr/>
        </p:nvSpPr>
        <p:spPr bwMode="auto">
          <a:xfrm>
            <a:off x="939423" y="1966813"/>
            <a:ext cx="7608832" cy="2721322"/>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800" b="1">
                <a:solidFill>
                  <a:schemeClr val="accent6">
                    <a:lumMod val="50000"/>
                  </a:schemeClr>
                </a:solidFill>
                <a:latin typeface="楷体" panose="02010609060101010101" pitchFamily="49" charset="-122"/>
                <a:ea typeface="楷体" panose="02010609060101010101" pitchFamily="49" charset="-122"/>
              </a:rPr>
              <a:t>    这两句诗写的是：尽管前路障碍重重，但我相信终有一天，我会乘长风破万里浪，扬起高高的帆，横渡沧海，到达理想的彼岸。这两句运用典故，表达了诗人自强不息的奋斗精神和身处逆境仍保持乐观进取的人生态度。</a:t>
            </a:r>
            <a:endParaRPr lang="zh-CN" altLang="en-US" sz="2800">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2"/>
          <p:cNvGraphicFramePr>
            <a:graphicFrameLocks noGrp="1"/>
          </p:cNvGraphicFramePr>
          <p:nvPr/>
        </p:nvGraphicFramePr>
        <p:xfrm>
          <a:off x="267393" y="579121"/>
          <a:ext cx="8609214" cy="4472939"/>
        </p:xfrm>
        <a:graphic>
          <a:graphicData uri="http://schemas.openxmlformats.org/drawingml/2006/table">
            <a:tbl>
              <a:tblPr firstRow="1" bandRow="1">
                <a:tableStyleId>{073A0DAA-6AF3-43AB-8588-CEC1D06C72B9}</a:tableStyleId>
              </a:tblPr>
              <a:tblGrid>
                <a:gridCol w="1865514"/>
                <a:gridCol w="3425190"/>
                <a:gridCol w="3318510"/>
              </a:tblGrid>
              <a:tr h="420627">
                <a:tc>
                  <a:txBody>
                    <a:bodyPr wrap="square"/>
                    <a:lstStyle/>
                    <a:p>
                      <a:pPr algn="ctr"/>
                      <a:r>
                        <a:rPr lang="zh-CN" altLang="en-US" sz="2000"/>
                        <a:t>诗句</a:t>
                      </a:r>
                      <a:endParaRPr lang="zh-CN" altLang="en-US" sz="2000"/>
                    </a:p>
                  </a:txBody>
                  <a:tcPr vert="horz"/>
                </a:tc>
                <a:tc>
                  <a:txBody>
                    <a:bodyPr wrap="square"/>
                    <a:lstStyle/>
                    <a:p>
                      <a:pPr algn="ctr"/>
                      <a:r>
                        <a:rPr lang="zh-CN" altLang="en-US" sz="2000"/>
                        <a:t>典故</a:t>
                      </a:r>
                      <a:endParaRPr lang="zh-CN" altLang="en-US" sz="2000"/>
                    </a:p>
                  </a:txBody>
                  <a:tcPr vert="horz"/>
                </a:tc>
                <a:tc>
                  <a:txBody>
                    <a:bodyPr wrap="square"/>
                    <a:lstStyle/>
                    <a:p>
                      <a:pPr algn="ctr"/>
                      <a:r>
                        <a:rPr lang="zh-CN" altLang="en-US" sz="2000"/>
                        <a:t>作用</a:t>
                      </a:r>
                      <a:endParaRPr lang="zh-CN" altLang="en-US" sz="2000"/>
                    </a:p>
                  </a:txBody>
                  <a:tcPr vert="horz"/>
                </a:tc>
              </a:tr>
              <a:tr h="950100">
                <a:tc>
                  <a:txBody>
                    <a:bodyPr wrap="square"/>
                    <a:lstStyle/>
                    <a:p>
                      <a:endParaRPr lang="zh-CN" altLang="en-US" sz="2000"/>
                    </a:p>
                  </a:txBody>
                  <a:tcPr vert="horz"/>
                </a:tc>
                <a:tc>
                  <a:txBody>
                    <a:bodyPr wrap="square"/>
                    <a:lstStyle/>
                    <a:p>
                      <a:endParaRPr lang="zh-CN" altLang="en-US" sz="2000"/>
                    </a:p>
                  </a:txBody>
                  <a:tcPr vert="horz"/>
                </a:tc>
                <a:tc>
                  <a:txBody>
                    <a:bodyPr wrap="square"/>
                    <a:lstStyle/>
                    <a:p>
                      <a:endParaRPr lang="zh-CN" altLang="en-US" sz="2000"/>
                    </a:p>
                  </a:txBody>
                  <a:tcPr vert="horz"/>
                </a:tc>
              </a:tr>
              <a:tr h="1217747">
                <a:tc>
                  <a:txBody>
                    <a:bodyPr wrap="square"/>
                    <a:lstStyle/>
                    <a:p>
                      <a:endParaRPr lang="zh-CN" altLang="en-US" sz="2000"/>
                    </a:p>
                  </a:txBody>
                  <a:tcPr vert="horz"/>
                </a:tc>
                <a:tc>
                  <a:txBody>
                    <a:bodyPr wrap="square"/>
                    <a:lstStyle/>
                    <a:p>
                      <a:endParaRPr lang="zh-CN" altLang="en-US" sz="2000"/>
                    </a:p>
                  </a:txBody>
                  <a:tcPr vert="horz"/>
                </a:tc>
                <a:tc rowSpan="2">
                  <a:txBody>
                    <a:bodyPr wrap="square"/>
                    <a:lstStyle/>
                    <a:p>
                      <a:endParaRPr lang="zh-CN" altLang="en-US" sz="2000"/>
                    </a:p>
                  </a:txBody>
                  <a:tcPr vert="horz"/>
                </a:tc>
              </a:tr>
              <a:tr h="650519">
                <a:tc>
                  <a:txBody>
                    <a:bodyPr wrap="square"/>
                    <a:lstStyle/>
                    <a:p>
                      <a:endParaRPr lang="zh-CN" altLang="en-US" sz="2000"/>
                    </a:p>
                  </a:txBody>
                  <a:tcPr vert="horz"/>
                </a:tc>
                <a:tc>
                  <a:txBody>
                    <a:bodyPr wrap="square"/>
                    <a:lstStyle/>
                    <a:p>
                      <a:endParaRPr lang="zh-CN" altLang="en-US" sz="2000"/>
                    </a:p>
                  </a:txBody>
                  <a:tcPr vert="horz"/>
                </a:tc>
                <a:tc vMerge="1">
                  <a:tcPr/>
                </a:tc>
              </a:tr>
              <a:tr h="1233946">
                <a:tc>
                  <a:txBody>
                    <a:bodyPr wrap="square"/>
                    <a:lstStyle/>
                    <a:p>
                      <a:endParaRPr lang="zh-CN" altLang="en-US" sz="2000"/>
                    </a:p>
                  </a:txBody>
                  <a:tcPr vert="horz"/>
                </a:tc>
                <a:tc>
                  <a:txBody>
                    <a:bodyPr wrap="square"/>
                    <a:lstStyle/>
                    <a:p>
                      <a:endParaRPr lang="zh-CN" altLang="en-US" sz="2000"/>
                    </a:p>
                  </a:txBody>
                  <a:tcPr vert="horz"/>
                </a:tc>
                <a:tc>
                  <a:txBody>
                    <a:bodyPr wrap="square"/>
                    <a:lstStyle/>
                    <a:p>
                      <a:endParaRPr lang="zh-CN" altLang="en-US" sz="2000"/>
                    </a:p>
                  </a:txBody>
                  <a:tcPr vert="horz"/>
                </a:tc>
              </a:tr>
            </a:tbl>
          </a:graphicData>
        </a:graphic>
      </p:graphicFrame>
      <p:sp>
        <p:nvSpPr>
          <p:cNvPr id="3" name="文本框 2"/>
          <p:cNvSpPr txBox="1">
            <a:spLocks noChangeArrowheads="1"/>
          </p:cNvSpPr>
          <p:nvPr/>
        </p:nvSpPr>
        <p:spPr bwMode="auto">
          <a:xfrm>
            <a:off x="183573" y="46555"/>
            <a:ext cx="8479070" cy="50866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sz="2600"/>
              <a:t>诗中运用了哪些典故？分别有什么作用？</a:t>
            </a:r>
            <a:endParaRPr lang="zh-CN" altLang="en-US" sz="2600"/>
          </a:p>
        </p:txBody>
      </p:sp>
      <p:sp>
        <p:nvSpPr>
          <p:cNvPr id="6" name="矩形 5"/>
          <p:cNvSpPr>
            <a:spLocks noChangeArrowheads="1"/>
          </p:cNvSpPr>
          <p:nvPr/>
        </p:nvSpPr>
        <p:spPr bwMode="auto">
          <a:xfrm>
            <a:off x="342549" y="1200623"/>
            <a:ext cx="1925970" cy="553998"/>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C00000"/>
                </a:solidFill>
                <a:latin typeface="楷体" panose="02010609060101010101" pitchFamily="49" charset="-122"/>
                <a:ea typeface="楷体" panose="02010609060101010101" pitchFamily="49" charset="-122"/>
              </a:rPr>
              <a:t>停杯投箸不能食，拔剑四顾心茫然</a:t>
            </a:r>
            <a:endParaRPr lang="zh-CN" altLang="en-US">
              <a:solidFill>
                <a:srgbClr val="C00000"/>
              </a:solidFill>
              <a:latin typeface="楷体" panose="02010609060101010101" pitchFamily="49" charset="-122"/>
              <a:ea typeface="楷体" panose="02010609060101010101" pitchFamily="49" charset="-122"/>
            </a:endParaRPr>
          </a:p>
        </p:txBody>
      </p:sp>
      <p:sp>
        <p:nvSpPr>
          <p:cNvPr id="7" name="矩形 6"/>
          <p:cNvSpPr>
            <a:spLocks noChangeArrowheads="1"/>
          </p:cNvSpPr>
          <p:nvPr/>
        </p:nvSpPr>
        <p:spPr bwMode="auto">
          <a:xfrm>
            <a:off x="2301596" y="1062124"/>
            <a:ext cx="3185657" cy="830997"/>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C00000"/>
                </a:solidFill>
                <a:latin typeface="楷体" panose="02010609060101010101" pitchFamily="49" charset="-122"/>
                <a:ea typeface="楷体" panose="02010609060101010101" pitchFamily="49" charset="-122"/>
              </a:rPr>
              <a:t>鲍照</a:t>
            </a:r>
            <a:r>
              <a:rPr lang="en-US" altLang="zh-CN" b="1">
                <a:solidFill>
                  <a:srgbClr val="C00000"/>
                </a:solidFill>
                <a:latin typeface="楷体" panose="02010609060101010101" pitchFamily="49" charset="-122"/>
                <a:ea typeface="楷体" panose="02010609060101010101" pitchFamily="49" charset="-122"/>
              </a:rPr>
              <a:t>《</a:t>
            </a:r>
            <a:r>
              <a:rPr lang="zh-CN" altLang="en-US" b="1">
                <a:solidFill>
                  <a:srgbClr val="C00000"/>
                </a:solidFill>
                <a:latin typeface="楷体" panose="02010609060101010101" pitchFamily="49" charset="-122"/>
                <a:ea typeface="楷体" panose="02010609060101010101" pitchFamily="49" charset="-122"/>
              </a:rPr>
              <a:t>拟行路难</a:t>
            </a:r>
            <a:r>
              <a:rPr lang="en-US" altLang="zh-CN" b="1">
                <a:solidFill>
                  <a:srgbClr val="C00000"/>
                </a:solidFill>
                <a:latin typeface="楷体" panose="02010609060101010101" pitchFamily="49" charset="-122"/>
                <a:ea typeface="楷体" panose="02010609060101010101" pitchFamily="49" charset="-122"/>
              </a:rPr>
              <a:t>》</a:t>
            </a:r>
            <a:r>
              <a:rPr lang="zh-CN" altLang="en-US" b="1">
                <a:solidFill>
                  <a:srgbClr val="C00000"/>
                </a:solidFill>
                <a:latin typeface="楷体" panose="02010609060101010101" pitchFamily="49" charset="-122"/>
                <a:ea typeface="楷体" panose="02010609060101010101" pitchFamily="49" charset="-122"/>
              </a:rPr>
              <a:t>（其六）中有“对案不能食，拔剑击柱长叹息”的诗句。</a:t>
            </a:r>
            <a:endParaRPr lang="zh-CN" altLang="en-US" b="1">
              <a:solidFill>
                <a:srgbClr val="C00000"/>
              </a:solidFill>
              <a:latin typeface="楷体" panose="02010609060101010101" pitchFamily="49" charset="-122"/>
              <a:ea typeface="楷体" panose="02010609060101010101" pitchFamily="49" charset="-122"/>
            </a:endParaRPr>
          </a:p>
        </p:txBody>
      </p:sp>
      <p:sp>
        <p:nvSpPr>
          <p:cNvPr id="8" name="矩形 7"/>
          <p:cNvSpPr>
            <a:spLocks noChangeArrowheads="1"/>
          </p:cNvSpPr>
          <p:nvPr/>
        </p:nvSpPr>
        <p:spPr bwMode="auto">
          <a:xfrm>
            <a:off x="342549" y="2433212"/>
            <a:ext cx="1925970" cy="308995"/>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b="1">
                <a:solidFill>
                  <a:srgbClr val="C00000"/>
                </a:solidFill>
                <a:latin typeface="楷体" panose="02010609060101010101" pitchFamily="49" charset="-122"/>
                <a:ea typeface="楷体" panose="02010609060101010101" pitchFamily="49" charset="-122"/>
              </a:rPr>
              <a:t>闲来垂钓碧溪上</a:t>
            </a:r>
            <a:endParaRPr lang="zh-CN" altLang="en-US" b="1">
              <a:solidFill>
                <a:srgbClr val="C00000"/>
              </a:solidFill>
              <a:latin typeface="楷体" panose="02010609060101010101" pitchFamily="49" charset="-122"/>
              <a:ea typeface="楷体" panose="02010609060101010101" pitchFamily="49" charset="-122"/>
            </a:endParaRPr>
          </a:p>
        </p:txBody>
      </p:sp>
      <p:sp>
        <p:nvSpPr>
          <p:cNvPr id="9" name="矩形 8"/>
          <p:cNvSpPr>
            <a:spLocks noChangeArrowheads="1"/>
          </p:cNvSpPr>
          <p:nvPr/>
        </p:nvSpPr>
        <p:spPr bwMode="auto">
          <a:xfrm>
            <a:off x="5657872" y="1062124"/>
            <a:ext cx="3185657" cy="830997"/>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C00000"/>
                </a:solidFill>
                <a:latin typeface="楷体" panose="02010609060101010101" pitchFamily="49" charset="-122"/>
                <a:ea typeface="楷体" panose="02010609060101010101" pitchFamily="49" charset="-122"/>
              </a:rPr>
              <a:t>化用诗句，增加“对比度”，以乐景写哀情，更加强烈地抒发出了悲苦之情。</a:t>
            </a:r>
            <a:endParaRPr lang="zh-CN" altLang="en-US" b="1">
              <a:solidFill>
                <a:srgbClr val="C00000"/>
              </a:solidFill>
              <a:latin typeface="楷体" panose="02010609060101010101" pitchFamily="49" charset="-122"/>
              <a:ea typeface="楷体" panose="02010609060101010101" pitchFamily="49" charset="-122"/>
            </a:endParaRPr>
          </a:p>
        </p:txBody>
      </p:sp>
      <p:sp>
        <p:nvSpPr>
          <p:cNvPr id="10" name="矩形 9"/>
          <p:cNvSpPr>
            <a:spLocks noChangeArrowheads="1"/>
          </p:cNvSpPr>
          <p:nvPr/>
        </p:nvSpPr>
        <p:spPr bwMode="auto">
          <a:xfrm>
            <a:off x="2301596" y="1989844"/>
            <a:ext cx="3185657" cy="1107996"/>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C00000"/>
                </a:solidFill>
                <a:latin typeface="楷体" panose="02010609060101010101" pitchFamily="49" charset="-122"/>
                <a:ea typeface="楷体" panose="02010609060101010101" pitchFamily="49" charset="-122"/>
              </a:rPr>
              <a:t>周文王出猎，偶遇在渭水垂钓的姜尚，交谈之下，大为敬佩，载而俱归，立为国师。后来姜尚辅佐周武王灭商建周。</a:t>
            </a:r>
            <a:endParaRPr lang="zh-CN" altLang="en-US" b="1">
              <a:solidFill>
                <a:srgbClr val="C00000"/>
              </a:solidFill>
              <a:latin typeface="楷体" panose="02010609060101010101" pitchFamily="49" charset="-122"/>
              <a:ea typeface="楷体" panose="02010609060101010101" pitchFamily="49" charset="-122"/>
            </a:endParaRPr>
          </a:p>
        </p:txBody>
      </p:sp>
      <p:sp>
        <p:nvSpPr>
          <p:cNvPr id="11" name="矩形 10"/>
          <p:cNvSpPr>
            <a:spLocks noChangeArrowheads="1"/>
          </p:cNvSpPr>
          <p:nvPr/>
        </p:nvSpPr>
        <p:spPr bwMode="auto">
          <a:xfrm>
            <a:off x="342549" y="3327283"/>
            <a:ext cx="1925970" cy="308995"/>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b="1">
                <a:solidFill>
                  <a:srgbClr val="C00000"/>
                </a:solidFill>
                <a:latin typeface="楷体" panose="02010609060101010101" pitchFamily="49" charset="-122"/>
                <a:ea typeface="楷体" panose="02010609060101010101" pitchFamily="49" charset="-122"/>
              </a:rPr>
              <a:t>忽复乘舟梦日边</a:t>
            </a:r>
            <a:endParaRPr lang="zh-CN" altLang="en-US" b="1">
              <a:solidFill>
                <a:srgbClr val="C00000"/>
              </a:solidFill>
              <a:latin typeface="楷体" panose="02010609060101010101" pitchFamily="49" charset="-122"/>
              <a:ea typeface="楷体" panose="02010609060101010101" pitchFamily="49" charset="-122"/>
            </a:endParaRPr>
          </a:p>
        </p:txBody>
      </p:sp>
      <p:sp>
        <p:nvSpPr>
          <p:cNvPr id="12" name="矩形 11"/>
          <p:cNvSpPr>
            <a:spLocks noChangeArrowheads="1"/>
          </p:cNvSpPr>
          <p:nvPr/>
        </p:nvSpPr>
        <p:spPr bwMode="auto">
          <a:xfrm>
            <a:off x="2301596" y="3191189"/>
            <a:ext cx="3016806" cy="553998"/>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C00000"/>
                </a:solidFill>
                <a:latin typeface="楷体" panose="02010609060101010101" pitchFamily="49" charset="-122"/>
                <a:ea typeface="楷体" panose="02010609060101010101" pitchFamily="49" charset="-122"/>
              </a:rPr>
              <a:t>伊尹受商汤任用前，曾梦见自己乘船经过太阳旁边。</a:t>
            </a:r>
            <a:endParaRPr lang="zh-CN" altLang="en-US" b="1">
              <a:solidFill>
                <a:srgbClr val="C00000"/>
              </a:solidFill>
              <a:latin typeface="楷体" panose="02010609060101010101" pitchFamily="49" charset="-122"/>
              <a:ea typeface="楷体" panose="02010609060101010101" pitchFamily="49" charset="-122"/>
            </a:endParaRPr>
          </a:p>
        </p:txBody>
      </p:sp>
      <p:sp>
        <p:nvSpPr>
          <p:cNvPr id="13" name="矩形 12"/>
          <p:cNvSpPr>
            <a:spLocks noChangeArrowheads="1"/>
          </p:cNvSpPr>
          <p:nvPr/>
        </p:nvSpPr>
        <p:spPr bwMode="auto">
          <a:xfrm>
            <a:off x="5657872" y="2276220"/>
            <a:ext cx="3185657" cy="1107996"/>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C00000"/>
                </a:solidFill>
                <a:latin typeface="楷体" panose="02010609060101010101" pitchFamily="49" charset="-122"/>
                <a:ea typeface="楷体" panose="02010609060101010101" pitchFamily="49" charset="-122"/>
              </a:rPr>
              <a:t>姜尚、伊尹两人在仕途上都是开始不顺利，但最终大有所为。诗人以二人自喻，希望得到明君赏识，对前途仍抱有希望。</a:t>
            </a:r>
            <a:endParaRPr lang="zh-CN" altLang="en-US" b="1">
              <a:solidFill>
                <a:srgbClr val="C00000"/>
              </a:solidFill>
              <a:latin typeface="楷体" panose="02010609060101010101" pitchFamily="49" charset="-122"/>
              <a:ea typeface="楷体" panose="02010609060101010101" pitchFamily="49" charset="-122"/>
            </a:endParaRPr>
          </a:p>
        </p:txBody>
      </p:sp>
      <p:sp>
        <p:nvSpPr>
          <p:cNvPr id="14" name="矩形 13"/>
          <p:cNvSpPr>
            <a:spLocks noChangeArrowheads="1"/>
          </p:cNvSpPr>
          <p:nvPr/>
        </p:nvSpPr>
        <p:spPr bwMode="auto">
          <a:xfrm>
            <a:off x="342549" y="4267526"/>
            <a:ext cx="1925970" cy="308995"/>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b="1">
                <a:solidFill>
                  <a:srgbClr val="C00000"/>
                </a:solidFill>
                <a:latin typeface="楷体" panose="02010609060101010101" pitchFamily="49" charset="-122"/>
                <a:ea typeface="楷体" panose="02010609060101010101" pitchFamily="49" charset="-122"/>
              </a:rPr>
              <a:t>长风破浪会有时</a:t>
            </a:r>
            <a:endParaRPr lang="zh-CN" altLang="en-US" b="1">
              <a:solidFill>
                <a:srgbClr val="C00000"/>
              </a:solidFill>
              <a:latin typeface="楷体" panose="02010609060101010101" pitchFamily="49" charset="-122"/>
              <a:ea typeface="楷体" panose="02010609060101010101" pitchFamily="49" charset="-122"/>
            </a:endParaRPr>
          </a:p>
        </p:txBody>
      </p:sp>
      <p:sp>
        <p:nvSpPr>
          <p:cNvPr id="15" name="矩形 14"/>
          <p:cNvSpPr>
            <a:spLocks noChangeArrowheads="1"/>
          </p:cNvSpPr>
          <p:nvPr/>
        </p:nvSpPr>
        <p:spPr bwMode="auto">
          <a:xfrm>
            <a:off x="2301596" y="3868025"/>
            <a:ext cx="3216852" cy="1107996"/>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C00000"/>
                </a:solidFill>
                <a:latin typeface="楷体" panose="02010609060101010101" pitchFamily="49" charset="-122"/>
                <a:ea typeface="楷体" panose="02010609060101010101" pitchFamily="49" charset="-122"/>
              </a:rPr>
              <a:t>南朝宋将领宗悫年少时，叔父询问他的志向，他回答：</a:t>
            </a:r>
            <a:r>
              <a:rPr lang="en-US" altLang="zh-CN" b="1">
                <a:solidFill>
                  <a:srgbClr val="C00000"/>
                </a:solidFill>
                <a:latin typeface="楷体" panose="02010609060101010101" pitchFamily="49" charset="-122"/>
                <a:ea typeface="楷体" panose="02010609060101010101" pitchFamily="49" charset="-122"/>
              </a:rPr>
              <a:t>“</a:t>
            </a:r>
            <a:r>
              <a:rPr lang="zh-CN" altLang="en-US" b="1">
                <a:solidFill>
                  <a:srgbClr val="C00000"/>
                </a:solidFill>
                <a:latin typeface="楷体" panose="02010609060101010101" pitchFamily="49" charset="-122"/>
                <a:ea typeface="楷体" panose="02010609060101010101" pitchFamily="49" charset="-122"/>
              </a:rPr>
              <a:t>愿乘长风破万里浪。”后来他带兵打仗取胜，被封为左卫将军。</a:t>
            </a:r>
            <a:endParaRPr lang="zh-CN" altLang="en-US" b="1">
              <a:solidFill>
                <a:srgbClr val="C00000"/>
              </a:solidFill>
              <a:latin typeface="楷体" panose="02010609060101010101" pitchFamily="49" charset="-122"/>
              <a:ea typeface="楷体" panose="02010609060101010101" pitchFamily="49" charset="-122"/>
            </a:endParaRPr>
          </a:p>
        </p:txBody>
      </p:sp>
      <p:sp>
        <p:nvSpPr>
          <p:cNvPr id="16" name="矩形 15"/>
          <p:cNvSpPr>
            <a:spLocks noChangeArrowheads="1"/>
          </p:cNvSpPr>
          <p:nvPr/>
        </p:nvSpPr>
        <p:spPr bwMode="auto">
          <a:xfrm>
            <a:off x="5657872" y="3868025"/>
            <a:ext cx="3185657" cy="1107996"/>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C00000"/>
                </a:solidFill>
                <a:latin typeface="楷体" panose="02010609060101010101" pitchFamily="49" charset="-122"/>
                <a:ea typeface="楷体" panose="02010609060101010101" pitchFamily="49" charset="-122"/>
              </a:rPr>
              <a:t>借宗悫壮志终成现实自勉，表达了诗人自强不息的奋斗精神和身处逆境仍保持乐观进取的人生态度。</a:t>
            </a:r>
            <a:endParaRPr lang="zh-CN" altLang="en-US" b="1">
              <a:solidFill>
                <a:srgbClr val="C0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childTnLst>
                          </p:cTn>
                        </p:par>
                        <p:par>
                          <p:cTn id="34" fill="hold">
                            <p:stCondLst>
                              <p:cond delay="1000"/>
                            </p:stCondLst>
                            <p:childTnLst>
                              <p:par>
                                <p:cTn id="35" presetID="22" presetClass="entr" presetSubtype="8"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ipe(left)">
                                      <p:cBhvr>
                                        <p:cTn id="46" dur="500"/>
                                        <p:tgtEl>
                                          <p:spTgt spid="15"/>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a:spLocks noChangeArrowheads="1"/>
          </p:cNvSpPr>
          <p:nvPr/>
        </p:nvSpPr>
        <p:spPr bwMode="auto">
          <a:xfrm>
            <a:off x="360452" y="438938"/>
            <a:ext cx="8479070" cy="1057790"/>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sz="2800"/>
              <a:t>体悟诗人李白“难”的心理历程，并结合自己的生活经历，谈一谈你的感受和启发。</a:t>
            </a:r>
            <a:endParaRPr lang="zh-CN" altLang="en-US" sz="2800"/>
          </a:p>
        </p:txBody>
      </p:sp>
      <p:sp>
        <p:nvSpPr>
          <p:cNvPr id="4" name="矩形 3"/>
          <p:cNvSpPr>
            <a:spLocks noChangeArrowheads="1"/>
          </p:cNvSpPr>
          <p:nvPr/>
        </p:nvSpPr>
        <p:spPr bwMode="auto">
          <a:xfrm>
            <a:off x="683390" y="1524853"/>
            <a:ext cx="7798177" cy="3297121"/>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600" b="1">
                <a:solidFill>
                  <a:schemeClr val="accent6">
                    <a:lumMod val="50000"/>
                  </a:schemeClr>
                </a:solidFill>
                <a:latin typeface="楷体" panose="02010609060101010101" pitchFamily="49" charset="-122"/>
                <a:ea typeface="楷体" panose="02010609060101010101" pitchFamily="49" charset="-122"/>
              </a:rPr>
              <a:t>    李白面对人生路上的崎岖，由对现实的失望到想象中的希望，再到对未来的茫然，但最后表现出积极乐观的心态、直面困难的勇敢和对未来的信心。每个人心中都有理想，也许我们会面临很多困难，但不论怎样，我们都要像诗人一样相信“长风破浪会有时，直挂云帆济沧海”，并为之不断努力。这样，即使最后没有实现自己的理想，我们也会过得很充实。</a:t>
            </a:r>
            <a:endParaRPr lang="zh-CN" altLang="en-US" sz="2600">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组合 69"/>
          <p:cNvGrpSpPr/>
          <p:nvPr/>
        </p:nvGrpSpPr>
        <p:grpSpPr>
          <a:xfrm>
            <a:off x="1270000" y="1323111"/>
            <a:ext cx="6896100" cy="1706289"/>
            <a:chOff x="1282700" y="1460500"/>
            <a:chExt cx="6896100" cy="1706289"/>
          </a:xfrm>
        </p:grpSpPr>
        <p:sp>
          <p:nvSpPr>
            <p:cNvPr id="60" name="任意多边形: 形状 59"/>
            <p:cNvSpPr/>
            <p:nvPr/>
          </p:nvSpPr>
          <p:spPr bwMode="auto">
            <a:xfrm>
              <a:off x="1282700" y="1460500"/>
              <a:ext cx="6896100" cy="1706289"/>
            </a:xfrm>
            <a:custGeom>
              <a:avLst/>
              <a:gdLst>
                <a:gd name="connsiteX0" fmla="*/ 0 w 6896100"/>
                <a:gd name="connsiteY0" fmla="*/ 685800 h 1706289"/>
                <a:gd name="connsiteX1" fmla="*/ 1689100 w 6896100"/>
                <a:gd name="connsiteY1" fmla="*/ 1701800 h 1706289"/>
                <a:gd name="connsiteX2" fmla="*/ 3708400 w 6896100"/>
                <a:gd name="connsiteY2" fmla="*/ 330200 h 1706289"/>
                <a:gd name="connsiteX3" fmla="*/ 5422900 w 6896100"/>
                <a:gd name="connsiteY3" fmla="*/ 1231900 h 1706289"/>
                <a:gd name="connsiteX4" fmla="*/ 6896100 w 6896100"/>
                <a:gd name="connsiteY4" fmla="*/ 0 h 1706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6100" h="1706289">
                  <a:moveTo>
                    <a:pt x="0" y="685800"/>
                  </a:moveTo>
                  <a:cubicBezTo>
                    <a:pt x="535516" y="1223433"/>
                    <a:pt x="1071033" y="1761067"/>
                    <a:pt x="1689100" y="1701800"/>
                  </a:cubicBezTo>
                  <a:cubicBezTo>
                    <a:pt x="2307167" y="1642533"/>
                    <a:pt x="3086100" y="408517"/>
                    <a:pt x="3708400" y="330200"/>
                  </a:cubicBezTo>
                  <a:cubicBezTo>
                    <a:pt x="4330700" y="251883"/>
                    <a:pt x="4891617" y="1286933"/>
                    <a:pt x="5422900" y="1231900"/>
                  </a:cubicBezTo>
                  <a:cubicBezTo>
                    <a:pt x="5954183" y="1176867"/>
                    <a:pt x="6425141" y="588433"/>
                    <a:pt x="6896100" y="0"/>
                  </a:cubicBezTo>
                </a:path>
              </a:pathLst>
            </a:custGeom>
            <a:noFill/>
            <a:ln w="196850">
              <a:solidFill>
                <a:srgbClr val="D3D2D2"/>
              </a:solidFill>
              <a:miter lim="800000"/>
            </a:ln>
            <a:extLst>
              <a:ext uri="{909E8E84-426E-40DD-AFC4-6F175D3DCCD1}">
                <a14:hiddenFill xmlns:a14="http://schemas.microsoft.com/office/drawing/2010/main">
                  <a:solidFill>
                    <a:srgbClr val="FFFFFF"/>
                  </a:solidFill>
                </a14:hiddenFill>
              </a:ext>
            </a:extLst>
          </p:spPr>
          <p:txBody>
            <a:bodyPr rtlCol="0" anchor="ctr"/>
            <a:lstStyle/>
            <a:p>
              <a:pPr algn="ctr"/>
              <a:endParaRPr lang="zh-CN" altLang="en-US"/>
            </a:p>
          </p:txBody>
        </p:sp>
        <p:sp>
          <p:nvSpPr>
            <p:cNvPr id="61" name="箭头: V 形 60"/>
            <p:cNvSpPr/>
            <p:nvPr/>
          </p:nvSpPr>
          <p:spPr bwMode="auto">
            <a:xfrm rot="2416131">
              <a:off x="1639952" y="2509045"/>
              <a:ext cx="209318" cy="174682"/>
            </a:xfrm>
            <a:prstGeom prst="chevron">
              <a:avLst/>
            </a:prstGeom>
            <a:solidFill>
              <a:schemeClr val="bg1"/>
            </a:solidFill>
            <a:ln w="9525">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62" name="箭头: V 形 61"/>
            <p:cNvSpPr/>
            <p:nvPr/>
          </p:nvSpPr>
          <p:spPr bwMode="auto">
            <a:xfrm rot="2416131">
              <a:off x="1997878" y="2799101"/>
              <a:ext cx="209318" cy="174682"/>
            </a:xfrm>
            <a:prstGeom prst="chevron">
              <a:avLst/>
            </a:prstGeom>
            <a:solidFill>
              <a:schemeClr val="bg1"/>
            </a:solidFill>
            <a:ln w="9525">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63" name="箭头: V 形 62"/>
            <p:cNvSpPr/>
            <p:nvPr/>
          </p:nvSpPr>
          <p:spPr bwMode="auto">
            <a:xfrm rot="19167176">
              <a:off x="3708862" y="2547145"/>
              <a:ext cx="209318" cy="174682"/>
            </a:xfrm>
            <a:prstGeom prst="chevron">
              <a:avLst/>
            </a:prstGeom>
            <a:solidFill>
              <a:schemeClr val="bg1"/>
            </a:solidFill>
            <a:ln w="9525">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65" name="箭头: V 形 64"/>
            <p:cNvSpPr/>
            <p:nvPr/>
          </p:nvSpPr>
          <p:spPr bwMode="auto">
            <a:xfrm rot="19167176">
              <a:off x="4022660" y="2257292"/>
              <a:ext cx="209318" cy="174682"/>
            </a:xfrm>
            <a:prstGeom prst="chevron">
              <a:avLst/>
            </a:prstGeom>
            <a:solidFill>
              <a:schemeClr val="bg1"/>
            </a:solidFill>
            <a:ln w="9525">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66" name="箭头: V 形 65"/>
            <p:cNvSpPr/>
            <p:nvPr/>
          </p:nvSpPr>
          <p:spPr bwMode="auto">
            <a:xfrm rot="2087309">
              <a:off x="5555273" y="1960678"/>
              <a:ext cx="209318" cy="174682"/>
            </a:xfrm>
            <a:prstGeom prst="chevron">
              <a:avLst/>
            </a:prstGeom>
            <a:solidFill>
              <a:schemeClr val="bg1"/>
            </a:solidFill>
            <a:ln w="9525">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67" name="箭头: V 形 66"/>
            <p:cNvSpPr/>
            <p:nvPr/>
          </p:nvSpPr>
          <p:spPr bwMode="auto">
            <a:xfrm rot="2087309">
              <a:off x="5826844" y="2184189"/>
              <a:ext cx="209318" cy="174682"/>
            </a:xfrm>
            <a:prstGeom prst="chevron">
              <a:avLst/>
            </a:prstGeom>
            <a:solidFill>
              <a:schemeClr val="bg1"/>
            </a:solidFill>
            <a:ln w="9525">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68" name="箭头: V 形 67"/>
            <p:cNvSpPr/>
            <p:nvPr/>
          </p:nvSpPr>
          <p:spPr bwMode="auto">
            <a:xfrm rot="19167176">
              <a:off x="7213179" y="2332317"/>
              <a:ext cx="209318" cy="174682"/>
            </a:xfrm>
            <a:prstGeom prst="chevron">
              <a:avLst/>
            </a:prstGeom>
            <a:solidFill>
              <a:schemeClr val="bg1"/>
            </a:solidFill>
            <a:ln w="9525">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69" name="箭头: V 形 68"/>
            <p:cNvSpPr/>
            <p:nvPr/>
          </p:nvSpPr>
          <p:spPr bwMode="auto">
            <a:xfrm rot="19167176">
              <a:off x="7412266" y="2138838"/>
              <a:ext cx="209318" cy="174682"/>
            </a:xfrm>
            <a:prstGeom prst="chevron">
              <a:avLst/>
            </a:prstGeom>
            <a:solidFill>
              <a:schemeClr val="bg1"/>
            </a:solidFill>
            <a:ln w="9525">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grpSp>
      <p:grpSp>
        <p:nvGrpSpPr>
          <p:cNvPr id="2" name="组合 1"/>
          <p:cNvGrpSpPr/>
          <p:nvPr/>
        </p:nvGrpSpPr>
        <p:grpSpPr>
          <a:xfrm>
            <a:off x="85725" y="81999"/>
            <a:ext cx="3442335" cy="1233003"/>
            <a:chOff x="0" y="72474"/>
            <a:chExt cx="3442335" cy="1233003"/>
          </a:xfrm>
        </p:grpSpPr>
        <p:pic>
          <p:nvPicPr>
            <p:cNvPr id="3" name="Picture 2"/>
            <p:cNvPicPr>
              <a:picLocks noChangeAspect="1" noChangeArrowheads="1"/>
            </p:cNvPicPr>
            <p:nvPr/>
          </p:nvPicPr>
          <p:blipFill>
            <a:blip r:embed="rId1"/>
            <a:stretch>
              <a:fillRect/>
            </a:stretch>
          </p:blipFill>
          <p:spPr bwMode="auto">
            <a:xfrm>
              <a:off x="0" y="72474"/>
              <a:ext cx="1485613" cy="1233003"/>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a:spLocks noChangeArrowheads="1"/>
            </p:cNvSpPr>
            <p:nvPr/>
          </p:nvSpPr>
          <p:spPr bwMode="auto">
            <a:xfrm>
              <a:off x="832917" y="328362"/>
              <a:ext cx="2609418"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板书设计</a:t>
              </a:r>
              <a:endParaRPr lang="zh-CN" altLang="en-US" sz="3200" b="1">
                <a:latin typeface="黑体" panose="02010609060101010101" pitchFamily="2" charset="-122"/>
                <a:ea typeface="黑体" panose="02010609060101010101" pitchFamily="2" charset="-122"/>
              </a:endParaRPr>
            </a:p>
          </p:txBody>
        </p:sp>
      </p:grpSp>
      <p:sp>
        <p:nvSpPr>
          <p:cNvPr id="5" name="TextBox 7"/>
          <p:cNvSpPr txBox="1">
            <a:spLocks noChangeArrowheads="1"/>
          </p:cNvSpPr>
          <p:nvPr/>
        </p:nvSpPr>
        <p:spPr bwMode="auto">
          <a:xfrm>
            <a:off x="2687814" y="471805"/>
            <a:ext cx="3768372" cy="530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3000" b="1">
                <a:latin typeface="楷体" panose="02010609060101010101" pitchFamily="49" charset="-122"/>
                <a:ea typeface="楷体" panose="02010609060101010101" pitchFamily="49" charset="-122"/>
              </a:rPr>
              <a:t>行路难（其一）</a:t>
            </a:r>
            <a:endParaRPr lang="zh-CN" altLang="en-US" sz="3000" b="1">
              <a:latin typeface="楷体" panose="02010609060101010101" pitchFamily="49" charset="-122"/>
              <a:ea typeface="楷体" panose="02010609060101010101" pitchFamily="49" charset="-122"/>
            </a:endParaRPr>
          </a:p>
        </p:txBody>
      </p:sp>
      <p:grpSp>
        <p:nvGrpSpPr>
          <p:cNvPr id="23" name="组合 22"/>
          <p:cNvGrpSpPr/>
          <p:nvPr/>
        </p:nvGrpSpPr>
        <p:grpSpPr>
          <a:xfrm>
            <a:off x="183988" y="1470955"/>
            <a:ext cx="1797550" cy="2456242"/>
            <a:chOff x="196688" y="1608344"/>
            <a:chExt cx="1797550" cy="2456242"/>
          </a:xfrm>
        </p:grpSpPr>
        <p:sp>
          <p:nvSpPr>
            <p:cNvPr id="7" name="椭圆 6"/>
            <p:cNvSpPr/>
            <p:nvPr/>
          </p:nvSpPr>
          <p:spPr bwMode="auto">
            <a:xfrm>
              <a:off x="554516" y="1608344"/>
              <a:ext cx="1081894" cy="1081894"/>
            </a:xfrm>
            <a:prstGeom prst="ellipse">
              <a:avLst/>
            </a:prstGeom>
            <a:solidFill>
              <a:schemeClr val="bg1"/>
            </a:solidFill>
            <a:ln w="76200">
              <a:solidFill>
                <a:srgbClr val="B1E6FA"/>
              </a:solid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8" name="TextBox 7"/>
            <p:cNvSpPr txBox="1">
              <a:spLocks noChangeArrowheads="1"/>
            </p:cNvSpPr>
            <p:nvPr/>
          </p:nvSpPr>
          <p:spPr bwMode="auto">
            <a:xfrm>
              <a:off x="601045" y="1664729"/>
              <a:ext cx="988836" cy="93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800" b="1">
                  <a:latin typeface="楷体" panose="02010609060101010101" pitchFamily="49" charset="-122"/>
                  <a:ea typeface="楷体" panose="02010609060101010101" pitchFamily="49" charset="-122"/>
                </a:rPr>
                <a:t>苦闷茫然</a:t>
              </a:r>
              <a:endParaRPr lang="zh-CN" altLang="en-US" sz="2800" b="1">
                <a:latin typeface="楷体" panose="02010609060101010101" pitchFamily="49" charset="-122"/>
                <a:ea typeface="楷体" panose="02010609060101010101" pitchFamily="49" charset="-122"/>
              </a:endParaRPr>
            </a:p>
          </p:txBody>
        </p:sp>
        <p:sp>
          <p:nvSpPr>
            <p:cNvPr id="9" name="椭圆 8"/>
            <p:cNvSpPr/>
            <p:nvPr/>
          </p:nvSpPr>
          <p:spPr bwMode="auto">
            <a:xfrm>
              <a:off x="1050425" y="2789807"/>
              <a:ext cx="90077" cy="90077"/>
            </a:xfrm>
            <a:prstGeom prst="ellipse">
              <a:avLst/>
            </a:prstGeom>
            <a:solidFill>
              <a:srgbClr val="B1E6FA"/>
            </a:solidFill>
            <a:ln w="76200">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10" name="椭圆 9"/>
            <p:cNvSpPr/>
            <p:nvPr/>
          </p:nvSpPr>
          <p:spPr bwMode="auto">
            <a:xfrm>
              <a:off x="1035517" y="2944416"/>
              <a:ext cx="119892" cy="119892"/>
            </a:xfrm>
            <a:prstGeom prst="ellipse">
              <a:avLst/>
            </a:prstGeom>
            <a:solidFill>
              <a:srgbClr val="B1E6FA"/>
            </a:solidFill>
            <a:ln w="76200">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11" name="矩形: 圆角 10"/>
            <p:cNvSpPr/>
            <p:nvPr/>
          </p:nvSpPr>
          <p:spPr bwMode="auto">
            <a:xfrm>
              <a:off x="196688" y="3170459"/>
              <a:ext cx="1797550" cy="894127"/>
            </a:xfrm>
            <a:prstGeom prst="roundRect">
              <a:avLst/>
            </a:prstGeom>
            <a:solidFill>
              <a:schemeClr val="bg1"/>
            </a:solidFill>
            <a:ln w="19050">
              <a:solidFill>
                <a:srgbClr val="B1E6FA"/>
              </a:solidFill>
              <a:miter lim="800000"/>
            </a:ln>
          </p:spPr>
          <p:txBody>
            <a:bodyPr lIns="0" tIns="0" rIns="0" bIns="0" rtlCol="0" anchor="ctr">
              <a:noAutofit/>
            </a:bodyPr>
            <a:lstStyle/>
            <a:p>
              <a:pPr algn="ctr"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12" name="TextBox 7"/>
            <p:cNvSpPr txBox="1">
              <a:spLocks noChangeArrowheads="1"/>
            </p:cNvSpPr>
            <p:nvPr/>
          </p:nvSpPr>
          <p:spPr bwMode="auto">
            <a:xfrm>
              <a:off x="231883" y="3132572"/>
              <a:ext cx="1727160" cy="93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800" b="1">
                  <a:latin typeface="楷体" panose="02010609060101010101" pitchFamily="49" charset="-122"/>
                  <a:ea typeface="楷体" panose="02010609060101010101" pitchFamily="49" charset="-122"/>
                </a:rPr>
                <a:t>停杯投箸</a:t>
              </a:r>
              <a:endParaRPr lang="en-US" altLang="zh-CN" sz="2800" b="1">
                <a:latin typeface="楷体" panose="02010609060101010101" pitchFamily="49" charset="-122"/>
                <a:ea typeface="楷体" panose="02010609060101010101" pitchFamily="49" charset="-122"/>
              </a:endParaRPr>
            </a:p>
            <a:p>
              <a:pPr algn="ctr" eaLnBrk="1" hangingPunct="1">
                <a:defRPr/>
              </a:pPr>
              <a:r>
                <a:rPr lang="zh-CN" altLang="en-US" sz="2800" b="1">
                  <a:latin typeface="楷体" panose="02010609060101010101" pitchFamily="49" charset="-122"/>
                  <a:ea typeface="楷体" panose="02010609060101010101" pitchFamily="49" charset="-122"/>
                </a:rPr>
                <a:t>拔剑四顾</a:t>
              </a:r>
              <a:endParaRPr lang="zh-CN" altLang="en-US" sz="2800" b="1">
                <a:latin typeface="楷体" panose="02010609060101010101" pitchFamily="49" charset="-122"/>
                <a:ea typeface="楷体" panose="02010609060101010101" pitchFamily="49" charset="-122"/>
              </a:endParaRPr>
            </a:p>
          </p:txBody>
        </p:sp>
      </p:grpSp>
      <p:grpSp>
        <p:nvGrpSpPr>
          <p:cNvPr id="24" name="组合 23"/>
          <p:cNvGrpSpPr/>
          <p:nvPr/>
        </p:nvGrpSpPr>
        <p:grpSpPr>
          <a:xfrm>
            <a:off x="1806235" y="2437496"/>
            <a:ext cx="2175036" cy="2488483"/>
            <a:chOff x="7945" y="1608344"/>
            <a:chExt cx="2175036" cy="2488483"/>
          </a:xfrm>
        </p:grpSpPr>
        <p:sp>
          <p:nvSpPr>
            <p:cNvPr id="25" name="椭圆 24"/>
            <p:cNvSpPr/>
            <p:nvPr/>
          </p:nvSpPr>
          <p:spPr bwMode="auto">
            <a:xfrm>
              <a:off x="554516" y="1608344"/>
              <a:ext cx="1081894" cy="1081894"/>
            </a:xfrm>
            <a:prstGeom prst="ellipse">
              <a:avLst/>
            </a:prstGeom>
            <a:solidFill>
              <a:schemeClr val="bg1"/>
            </a:solidFill>
            <a:ln w="76200">
              <a:solidFill>
                <a:srgbClr val="B1E6FA"/>
              </a:solid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26" name="TextBox 7"/>
            <p:cNvSpPr txBox="1">
              <a:spLocks noChangeArrowheads="1"/>
            </p:cNvSpPr>
            <p:nvPr/>
          </p:nvSpPr>
          <p:spPr bwMode="auto">
            <a:xfrm>
              <a:off x="601045" y="1664729"/>
              <a:ext cx="988836" cy="93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800" b="1">
                  <a:latin typeface="楷体" panose="02010609060101010101" pitchFamily="49" charset="-122"/>
                  <a:ea typeface="楷体" panose="02010609060101010101" pitchFamily="49" charset="-122"/>
                </a:rPr>
                <a:t>惆怅悲概</a:t>
              </a:r>
              <a:endParaRPr lang="zh-CN" altLang="en-US" sz="2800" b="1">
                <a:latin typeface="楷体" panose="02010609060101010101" pitchFamily="49" charset="-122"/>
                <a:ea typeface="楷体" panose="02010609060101010101" pitchFamily="49" charset="-122"/>
              </a:endParaRPr>
            </a:p>
          </p:txBody>
        </p:sp>
        <p:sp>
          <p:nvSpPr>
            <p:cNvPr id="27" name="椭圆 26"/>
            <p:cNvSpPr/>
            <p:nvPr/>
          </p:nvSpPr>
          <p:spPr bwMode="auto">
            <a:xfrm>
              <a:off x="1050425" y="2789807"/>
              <a:ext cx="90077" cy="90077"/>
            </a:xfrm>
            <a:prstGeom prst="ellipse">
              <a:avLst/>
            </a:prstGeom>
            <a:solidFill>
              <a:srgbClr val="B1E6FA"/>
            </a:solidFill>
            <a:ln w="76200">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28" name="椭圆 27"/>
            <p:cNvSpPr/>
            <p:nvPr/>
          </p:nvSpPr>
          <p:spPr bwMode="auto">
            <a:xfrm>
              <a:off x="1035517" y="2944416"/>
              <a:ext cx="119892" cy="119892"/>
            </a:xfrm>
            <a:prstGeom prst="ellipse">
              <a:avLst/>
            </a:prstGeom>
            <a:solidFill>
              <a:srgbClr val="B1E6FA"/>
            </a:solidFill>
            <a:ln w="76200">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29" name="矩形: 圆角 28"/>
            <p:cNvSpPr/>
            <p:nvPr/>
          </p:nvSpPr>
          <p:spPr bwMode="auto">
            <a:xfrm>
              <a:off x="7945" y="3184252"/>
              <a:ext cx="2175036" cy="894127"/>
            </a:xfrm>
            <a:prstGeom prst="roundRect">
              <a:avLst/>
            </a:prstGeom>
            <a:solidFill>
              <a:schemeClr val="bg1"/>
            </a:solidFill>
            <a:ln w="19050">
              <a:solidFill>
                <a:srgbClr val="B1E6FA"/>
              </a:solidFill>
              <a:miter lim="800000"/>
            </a:ln>
          </p:spPr>
          <p:txBody>
            <a:bodyPr lIns="0" tIns="0" rIns="0" bIns="0" rtlCol="0" anchor="ctr">
              <a:noAutofit/>
            </a:bodyPr>
            <a:lstStyle/>
            <a:p>
              <a:pPr algn="ctr"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30" name="TextBox 7"/>
            <p:cNvSpPr txBox="1">
              <a:spLocks noChangeArrowheads="1"/>
            </p:cNvSpPr>
            <p:nvPr/>
          </p:nvSpPr>
          <p:spPr bwMode="auto">
            <a:xfrm>
              <a:off x="50531" y="3165803"/>
              <a:ext cx="2089864" cy="93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800" b="1">
                  <a:latin typeface="楷体" panose="02010609060101010101" pitchFamily="49" charset="-122"/>
                  <a:ea typeface="楷体" panose="02010609060101010101" pitchFamily="49" charset="-122"/>
                </a:rPr>
                <a:t>黄河不可渡</a:t>
              </a:r>
              <a:endParaRPr lang="en-US" altLang="zh-CN" sz="2800" b="1">
                <a:latin typeface="楷体" panose="02010609060101010101" pitchFamily="49" charset="-122"/>
                <a:ea typeface="楷体" panose="02010609060101010101" pitchFamily="49" charset="-122"/>
              </a:endParaRPr>
            </a:p>
            <a:p>
              <a:pPr algn="ctr" eaLnBrk="1" hangingPunct="1">
                <a:defRPr/>
              </a:pPr>
              <a:r>
                <a:rPr lang="zh-CN" altLang="en-US" sz="2800" b="1">
                  <a:latin typeface="楷体" panose="02010609060101010101" pitchFamily="49" charset="-122"/>
                  <a:ea typeface="楷体" panose="02010609060101010101" pitchFamily="49" charset="-122"/>
                </a:rPr>
                <a:t>太行不能登</a:t>
              </a:r>
              <a:endParaRPr lang="en-US" altLang="zh-CN" sz="2800" b="1">
                <a:latin typeface="楷体" panose="02010609060101010101" pitchFamily="49" charset="-122"/>
                <a:ea typeface="楷体" panose="02010609060101010101" pitchFamily="49" charset="-122"/>
              </a:endParaRPr>
            </a:p>
          </p:txBody>
        </p:sp>
      </p:grpSp>
      <p:grpSp>
        <p:nvGrpSpPr>
          <p:cNvPr id="31" name="组合 30"/>
          <p:cNvGrpSpPr/>
          <p:nvPr/>
        </p:nvGrpSpPr>
        <p:grpSpPr>
          <a:xfrm>
            <a:off x="3805968" y="1152598"/>
            <a:ext cx="2175036" cy="2488483"/>
            <a:chOff x="7945" y="1608344"/>
            <a:chExt cx="2175036" cy="2488483"/>
          </a:xfrm>
        </p:grpSpPr>
        <p:sp>
          <p:nvSpPr>
            <p:cNvPr id="32" name="椭圆 31"/>
            <p:cNvSpPr/>
            <p:nvPr/>
          </p:nvSpPr>
          <p:spPr bwMode="auto">
            <a:xfrm>
              <a:off x="554516" y="1608344"/>
              <a:ext cx="1081894" cy="1081894"/>
            </a:xfrm>
            <a:prstGeom prst="ellipse">
              <a:avLst/>
            </a:prstGeom>
            <a:solidFill>
              <a:schemeClr val="bg1"/>
            </a:solidFill>
            <a:ln w="76200">
              <a:solidFill>
                <a:srgbClr val="B1E6FA"/>
              </a:solid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33" name="TextBox 7"/>
            <p:cNvSpPr txBox="1">
              <a:spLocks noChangeArrowheads="1"/>
            </p:cNvSpPr>
            <p:nvPr/>
          </p:nvSpPr>
          <p:spPr bwMode="auto">
            <a:xfrm>
              <a:off x="601045" y="1664729"/>
              <a:ext cx="988836" cy="93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800" b="1">
                  <a:latin typeface="楷体" panose="02010609060101010101" pitchFamily="49" charset="-122"/>
                  <a:ea typeface="楷体" panose="02010609060101010101" pitchFamily="49" charset="-122"/>
                </a:rPr>
                <a:t>憧憬</a:t>
              </a:r>
              <a:endParaRPr lang="en-US" altLang="zh-CN" sz="2800" b="1">
                <a:latin typeface="楷体" panose="02010609060101010101" pitchFamily="49" charset="-122"/>
                <a:ea typeface="楷体" panose="02010609060101010101" pitchFamily="49" charset="-122"/>
              </a:endParaRPr>
            </a:p>
            <a:p>
              <a:pPr algn="ctr" eaLnBrk="1" hangingPunct="1">
                <a:defRPr/>
              </a:pPr>
              <a:r>
                <a:rPr lang="zh-CN" altLang="en-US" sz="2800" b="1">
                  <a:latin typeface="楷体" panose="02010609060101010101" pitchFamily="49" charset="-122"/>
                  <a:ea typeface="楷体" panose="02010609060101010101" pitchFamily="49" charset="-122"/>
                </a:rPr>
                <a:t>希望</a:t>
              </a:r>
              <a:endParaRPr lang="zh-CN" altLang="en-US" sz="2800" b="1">
                <a:latin typeface="楷体" panose="02010609060101010101" pitchFamily="49" charset="-122"/>
                <a:ea typeface="楷体" panose="02010609060101010101" pitchFamily="49" charset="-122"/>
              </a:endParaRPr>
            </a:p>
          </p:txBody>
        </p:sp>
        <p:sp>
          <p:nvSpPr>
            <p:cNvPr id="34" name="椭圆 33"/>
            <p:cNvSpPr/>
            <p:nvPr/>
          </p:nvSpPr>
          <p:spPr bwMode="auto">
            <a:xfrm>
              <a:off x="1050425" y="2789807"/>
              <a:ext cx="90077" cy="90077"/>
            </a:xfrm>
            <a:prstGeom prst="ellipse">
              <a:avLst/>
            </a:prstGeom>
            <a:solidFill>
              <a:srgbClr val="B1E6FA"/>
            </a:solidFill>
            <a:ln w="76200">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35" name="椭圆 34"/>
            <p:cNvSpPr/>
            <p:nvPr/>
          </p:nvSpPr>
          <p:spPr bwMode="auto">
            <a:xfrm>
              <a:off x="1035517" y="2944416"/>
              <a:ext cx="119892" cy="119892"/>
            </a:xfrm>
            <a:prstGeom prst="ellipse">
              <a:avLst/>
            </a:prstGeom>
            <a:solidFill>
              <a:srgbClr val="B1E6FA"/>
            </a:solidFill>
            <a:ln w="76200">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36" name="矩形: 圆角 35"/>
            <p:cNvSpPr/>
            <p:nvPr/>
          </p:nvSpPr>
          <p:spPr bwMode="auto">
            <a:xfrm>
              <a:off x="7945" y="3184252"/>
              <a:ext cx="2175036" cy="894127"/>
            </a:xfrm>
            <a:prstGeom prst="roundRect">
              <a:avLst/>
            </a:prstGeom>
            <a:solidFill>
              <a:schemeClr val="bg1"/>
            </a:solidFill>
            <a:ln w="19050">
              <a:solidFill>
                <a:srgbClr val="B1E6FA"/>
              </a:solidFill>
              <a:miter lim="800000"/>
            </a:ln>
          </p:spPr>
          <p:txBody>
            <a:bodyPr lIns="0" tIns="0" rIns="0" bIns="0" rtlCol="0" anchor="ctr">
              <a:noAutofit/>
            </a:bodyPr>
            <a:lstStyle/>
            <a:p>
              <a:pPr algn="ctr"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37" name="TextBox 7"/>
            <p:cNvSpPr txBox="1">
              <a:spLocks noChangeArrowheads="1"/>
            </p:cNvSpPr>
            <p:nvPr/>
          </p:nvSpPr>
          <p:spPr bwMode="auto">
            <a:xfrm>
              <a:off x="50531" y="3165803"/>
              <a:ext cx="2089864" cy="93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800" b="1">
                  <a:latin typeface="楷体" panose="02010609060101010101" pitchFamily="49" charset="-122"/>
                  <a:ea typeface="楷体" panose="02010609060101010101" pitchFamily="49" charset="-122"/>
                </a:rPr>
                <a:t>垂钓碧溪上</a:t>
              </a:r>
              <a:endParaRPr lang="en-US" altLang="zh-CN" sz="2800" b="1">
                <a:latin typeface="楷体" panose="02010609060101010101" pitchFamily="49" charset="-122"/>
                <a:ea typeface="楷体" panose="02010609060101010101" pitchFamily="49" charset="-122"/>
              </a:endParaRPr>
            </a:p>
            <a:p>
              <a:pPr algn="ctr" eaLnBrk="1" hangingPunct="1">
                <a:defRPr/>
              </a:pPr>
              <a:r>
                <a:rPr lang="zh-CN" altLang="en-US" sz="2800" b="1">
                  <a:latin typeface="楷体" panose="02010609060101010101" pitchFamily="49" charset="-122"/>
                  <a:ea typeface="楷体" panose="02010609060101010101" pitchFamily="49" charset="-122"/>
                </a:rPr>
                <a:t>乘舟梦日边</a:t>
              </a:r>
              <a:endParaRPr lang="en-US" altLang="zh-CN" sz="2800" b="1">
                <a:latin typeface="楷体" panose="02010609060101010101" pitchFamily="49" charset="-122"/>
                <a:ea typeface="楷体" panose="02010609060101010101" pitchFamily="49" charset="-122"/>
              </a:endParaRPr>
            </a:p>
          </p:txBody>
        </p:sp>
      </p:grpSp>
      <p:grpSp>
        <p:nvGrpSpPr>
          <p:cNvPr id="38" name="组合 37"/>
          <p:cNvGrpSpPr/>
          <p:nvPr/>
        </p:nvGrpSpPr>
        <p:grpSpPr>
          <a:xfrm>
            <a:off x="5805701" y="2022328"/>
            <a:ext cx="1485578" cy="2488483"/>
            <a:chOff x="352674" y="1608344"/>
            <a:chExt cx="1485578" cy="2488483"/>
          </a:xfrm>
        </p:grpSpPr>
        <p:sp>
          <p:nvSpPr>
            <p:cNvPr id="39" name="椭圆 38"/>
            <p:cNvSpPr/>
            <p:nvPr/>
          </p:nvSpPr>
          <p:spPr bwMode="auto">
            <a:xfrm>
              <a:off x="554516" y="1608344"/>
              <a:ext cx="1081894" cy="1081894"/>
            </a:xfrm>
            <a:prstGeom prst="ellipse">
              <a:avLst/>
            </a:prstGeom>
            <a:solidFill>
              <a:schemeClr val="bg1"/>
            </a:solidFill>
            <a:ln w="76200">
              <a:solidFill>
                <a:srgbClr val="B1E6FA"/>
              </a:solid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40" name="TextBox 7"/>
            <p:cNvSpPr txBox="1">
              <a:spLocks noChangeArrowheads="1"/>
            </p:cNvSpPr>
            <p:nvPr/>
          </p:nvSpPr>
          <p:spPr bwMode="auto">
            <a:xfrm>
              <a:off x="601045" y="1664729"/>
              <a:ext cx="988836" cy="93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800" b="1">
                  <a:latin typeface="楷体" panose="02010609060101010101" pitchFamily="49" charset="-122"/>
                  <a:ea typeface="楷体" panose="02010609060101010101" pitchFamily="49" charset="-122"/>
                </a:rPr>
                <a:t>憧憬</a:t>
              </a:r>
              <a:endParaRPr lang="en-US" altLang="zh-CN" sz="2800" b="1">
                <a:latin typeface="楷体" panose="02010609060101010101" pitchFamily="49" charset="-122"/>
                <a:ea typeface="楷体" panose="02010609060101010101" pitchFamily="49" charset="-122"/>
              </a:endParaRPr>
            </a:p>
            <a:p>
              <a:pPr algn="ctr" eaLnBrk="1" hangingPunct="1">
                <a:defRPr/>
              </a:pPr>
              <a:r>
                <a:rPr lang="zh-CN" altLang="en-US" sz="2800" b="1">
                  <a:latin typeface="楷体" panose="02010609060101010101" pitchFamily="49" charset="-122"/>
                  <a:ea typeface="楷体" panose="02010609060101010101" pitchFamily="49" charset="-122"/>
                </a:rPr>
                <a:t>希望</a:t>
              </a:r>
              <a:endParaRPr lang="zh-CN" altLang="en-US" sz="2800" b="1">
                <a:latin typeface="楷体" panose="02010609060101010101" pitchFamily="49" charset="-122"/>
                <a:ea typeface="楷体" panose="02010609060101010101" pitchFamily="49" charset="-122"/>
              </a:endParaRPr>
            </a:p>
          </p:txBody>
        </p:sp>
        <p:sp>
          <p:nvSpPr>
            <p:cNvPr id="41" name="椭圆 40"/>
            <p:cNvSpPr/>
            <p:nvPr/>
          </p:nvSpPr>
          <p:spPr bwMode="auto">
            <a:xfrm>
              <a:off x="1050425" y="2789807"/>
              <a:ext cx="90077" cy="90077"/>
            </a:xfrm>
            <a:prstGeom prst="ellipse">
              <a:avLst/>
            </a:prstGeom>
            <a:solidFill>
              <a:srgbClr val="B1E6FA"/>
            </a:solidFill>
            <a:ln w="76200">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42" name="椭圆 41"/>
            <p:cNvSpPr/>
            <p:nvPr/>
          </p:nvSpPr>
          <p:spPr bwMode="auto">
            <a:xfrm>
              <a:off x="1035517" y="2944416"/>
              <a:ext cx="119892" cy="119892"/>
            </a:xfrm>
            <a:prstGeom prst="ellipse">
              <a:avLst/>
            </a:prstGeom>
            <a:solidFill>
              <a:srgbClr val="B1E6FA"/>
            </a:solidFill>
            <a:ln w="76200">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43" name="矩形: 圆角 42"/>
            <p:cNvSpPr/>
            <p:nvPr/>
          </p:nvSpPr>
          <p:spPr bwMode="auto">
            <a:xfrm>
              <a:off x="352674" y="3184252"/>
              <a:ext cx="1485578" cy="894127"/>
            </a:xfrm>
            <a:prstGeom prst="roundRect">
              <a:avLst/>
            </a:prstGeom>
            <a:solidFill>
              <a:schemeClr val="bg1"/>
            </a:solidFill>
            <a:ln w="19050">
              <a:solidFill>
                <a:srgbClr val="B1E6FA"/>
              </a:solidFill>
              <a:miter lim="800000"/>
            </a:ln>
          </p:spPr>
          <p:txBody>
            <a:bodyPr lIns="0" tIns="0" rIns="0" bIns="0" rtlCol="0" anchor="ctr">
              <a:noAutofit/>
            </a:bodyPr>
            <a:lstStyle/>
            <a:p>
              <a:pPr algn="ctr"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44" name="TextBox 7"/>
            <p:cNvSpPr txBox="1">
              <a:spLocks noChangeArrowheads="1"/>
            </p:cNvSpPr>
            <p:nvPr/>
          </p:nvSpPr>
          <p:spPr bwMode="auto">
            <a:xfrm>
              <a:off x="446643" y="3165803"/>
              <a:ext cx="1297641" cy="93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800" b="1">
                  <a:latin typeface="楷体" panose="02010609060101010101" pitchFamily="49" charset="-122"/>
                  <a:ea typeface="楷体" panose="02010609060101010101" pitchFamily="49" charset="-122"/>
                </a:rPr>
                <a:t>行路难</a:t>
              </a:r>
              <a:endParaRPr lang="en-US" altLang="zh-CN" sz="2800" b="1">
                <a:latin typeface="楷体" panose="02010609060101010101" pitchFamily="49" charset="-122"/>
                <a:ea typeface="楷体" panose="02010609060101010101" pitchFamily="49" charset="-122"/>
              </a:endParaRPr>
            </a:p>
            <a:p>
              <a:pPr algn="ctr" eaLnBrk="1" hangingPunct="1">
                <a:defRPr/>
              </a:pPr>
              <a:r>
                <a:rPr lang="zh-CN" altLang="en-US" sz="2800" b="1">
                  <a:latin typeface="楷体" panose="02010609060101010101" pitchFamily="49" charset="-122"/>
                  <a:ea typeface="楷体" panose="02010609060101010101" pitchFamily="49" charset="-122"/>
                </a:rPr>
                <a:t>多歧路</a:t>
              </a:r>
              <a:endParaRPr lang="zh-CN" altLang="en-US" sz="2800" b="1">
                <a:latin typeface="楷体" panose="02010609060101010101" pitchFamily="49" charset="-122"/>
                <a:ea typeface="楷体" panose="02010609060101010101" pitchFamily="49" charset="-122"/>
              </a:endParaRPr>
            </a:p>
          </p:txBody>
        </p:sp>
      </p:grpSp>
      <p:grpSp>
        <p:nvGrpSpPr>
          <p:cNvPr id="52" name="组合 51"/>
          <p:cNvGrpSpPr/>
          <p:nvPr/>
        </p:nvGrpSpPr>
        <p:grpSpPr>
          <a:xfrm>
            <a:off x="7179475" y="1017512"/>
            <a:ext cx="1797550" cy="2456242"/>
            <a:chOff x="196688" y="1608344"/>
            <a:chExt cx="1797550" cy="2456242"/>
          </a:xfrm>
        </p:grpSpPr>
        <p:sp>
          <p:nvSpPr>
            <p:cNvPr id="53" name="椭圆 52"/>
            <p:cNvSpPr/>
            <p:nvPr/>
          </p:nvSpPr>
          <p:spPr bwMode="auto">
            <a:xfrm>
              <a:off x="554516" y="1608344"/>
              <a:ext cx="1081894" cy="1081894"/>
            </a:xfrm>
            <a:prstGeom prst="ellipse">
              <a:avLst/>
            </a:prstGeom>
            <a:solidFill>
              <a:schemeClr val="bg1"/>
            </a:solidFill>
            <a:ln w="76200">
              <a:solidFill>
                <a:srgbClr val="B1E6FA"/>
              </a:solid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54" name="TextBox 7"/>
            <p:cNvSpPr txBox="1">
              <a:spLocks noChangeArrowheads="1"/>
            </p:cNvSpPr>
            <p:nvPr/>
          </p:nvSpPr>
          <p:spPr bwMode="auto">
            <a:xfrm>
              <a:off x="601045" y="1664729"/>
              <a:ext cx="988836" cy="93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800" b="1">
                  <a:latin typeface="楷体" panose="02010609060101010101" pitchFamily="49" charset="-122"/>
                  <a:ea typeface="楷体" panose="02010609060101010101" pitchFamily="49" charset="-122"/>
                </a:rPr>
                <a:t>自信</a:t>
              </a:r>
              <a:endParaRPr lang="en-US" altLang="zh-CN" sz="2800" b="1">
                <a:latin typeface="楷体" panose="02010609060101010101" pitchFamily="49" charset="-122"/>
                <a:ea typeface="楷体" panose="02010609060101010101" pitchFamily="49" charset="-122"/>
              </a:endParaRPr>
            </a:p>
            <a:p>
              <a:pPr algn="ctr" eaLnBrk="1" hangingPunct="1">
                <a:defRPr/>
              </a:pPr>
              <a:r>
                <a:rPr lang="zh-CN" altLang="en-US" sz="2800" b="1">
                  <a:latin typeface="楷体" panose="02010609060101010101" pitchFamily="49" charset="-122"/>
                  <a:ea typeface="楷体" panose="02010609060101010101" pitchFamily="49" charset="-122"/>
                </a:rPr>
                <a:t>乐观</a:t>
              </a:r>
              <a:endParaRPr lang="zh-CN" altLang="en-US" sz="2800" b="1">
                <a:latin typeface="楷体" panose="02010609060101010101" pitchFamily="49" charset="-122"/>
                <a:ea typeface="楷体" panose="02010609060101010101" pitchFamily="49" charset="-122"/>
              </a:endParaRPr>
            </a:p>
          </p:txBody>
        </p:sp>
        <p:sp>
          <p:nvSpPr>
            <p:cNvPr id="55" name="椭圆 54"/>
            <p:cNvSpPr/>
            <p:nvPr/>
          </p:nvSpPr>
          <p:spPr bwMode="auto">
            <a:xfrm>
              <a:off x="1050425" y="2789807"/>
              <a:ext cx="90077" cy="90077"/>
            </a:xfrm>
            <a:prstGeom prst="ellipse">
              <a:avLst/>
            </a:prstGeom>
            <a:solidFill>
              <a:srgbClr val="B1E6FA"/>
            </a:solidFill>
            <a:ln w="76200">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56" name="椭圆 55"/>
            <p:cNvSpPr/>
            <p:nvPr/>
          </p:nvSpPr>
          <p:spPr bwMode="auto">
            <a:xfrm>
              <a:off x="1035517" y="2944416"/>
              <a:ext cx="119892" cy="119892"/>
            </a:xfrm>
            <a:prstGeom prst="ellipse">
              <a:avLst/>
            </a:prstGeom>
            <a:solidFill>
              <a:srgbClr val="B1E6FA"/>
            </a:solidFill>
            <a:ln w="76200">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57" name="矩形: 圆角 56"/>
            <p:cNvSpPr/>
            <p:nvPr/>
          </p:nvSpPr>
          <p:spPr bwMode="auto">
            <a:xfrm>
              <a:off x="196688" y="3170459"/>
              <a:ext cx="1797550" cy="894127"/>
            </a:xfrm>
            <a:prstGeom prst="roundRect">
              <a:avLst/>
            </a:prstGeom>
            <a:solidFill>
              <a:schemeClr val="bg1"/>
            </a:solidFill>
            <a:ln w="19050">
              <a:solidFill>
                <a:srgbClr val="B1E6FA"/>
              </a:solidFill>
              <a:miter lim="800000"/>
            </a:ln>
          </p:spPr>
          <p:txBody>
            <a:bodyPr lIns="0" tIns="0" rIns="0" bIns="0" rtlCol="0" anchor="ctr">
              <a:noAutofit/>
            </a:bodyPr>
            <a:lstStyle/>
            <a:p>
              <a:pPr algn="ctr"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58" name="TextBox 7"/>
            <p:cNvSpPr txBox="1">
              <a:spLocks noChangeArrowheads="1"/>
            </p:cNvSpPr>
            <p:nvPr/>
          </p:nvSpPr>
          <p:spPr bwMode="auto">
            <a:xfrm>
              <a:off x="231883" y="3132572"/>
              <a:ext cx="1727160" cy="93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800" b="1">
                  <a:latin typeface="楷体" panose="02010609060101010101" pitchFamily="49" charset="-122"/>
                  <a:ea typeface="楷体" panose="02010609060101010101" pitchFamily="49" charset="-122"/>
                </a:rPr>
                <a:t>乘风破浪</a:t>
              </a:r>
              <a:endParaRPr lang="en-US" altLang="zh-CN" sz="2800" b="1">
                <a:latin typeface="楷体" panose="02010609060101010101" pitchFamily="49" charset="-122"/>
                <a:ea typeface="楷体" panose="02010609060101010101" pitchFamily="49" charset="-122"/>
              </a:endParaRPr>
            </a:p>
            <a:p>
              <a:pPr algn="ctr" eaLnBrk="1" hangingPunct="1">
                <a:defRPr/>
              </a:pPr>
              <a:r>
                <a:rPr lang="zh-CN" altLang="en-US" sz="2800" b="1">
                  <a:latin typeface="楷体" panose="02010609060101010101" pitchFamily="49" charset="-122"/>
                  <a:ea typeface="楷体" panose="02010609060101010101" pitchFamily="49" charset="-122"/>
                </a:rPr>
                <a:t>云帆渡海</a:t>
              </a:r>
              <a:endParaRPr lang="zh-CN" altLang="en-US" sz="2800" b="1">
                <a:latin typeface="楷体" panose="02010609060101010101" pitchFamily="49" charset="-122"/>
                <a:ea typeface="楷体" panose="02010609060101010101"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500"/>
                                        <p:tgtEl>
                                          <p:spTgt spid="2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up)">
                                      <p:cBhvr>
                                        <p:cTn id="11" dur="500"/>
                                        <p:tgtEl>
                                          <p:spTgt spid="24"/>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ipe(up)">
                                      <p:cBhvr>
                                        <p:cTn id="15" dur="500"/>
                                        <p:tgtEl>
                                          <p:spTgt spid="31"/>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wipe(up)">
                                      <p:cBhvr>
                                        <p:cTn id="19" dur="500"/>
                                        <p:tgtEl>
                                          <p:spTgt spid="38"/>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wipe(up)">
                                      <p:cBhvr>
                                        <p:cTn id="23" dur="500"/>
                                        <p:tgtEl>
                                          <p:spTgt spid="52"/>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70"/>
                                        </p:tgtEl>
                                        <p:attrNameLst>
                                          <p:attrName>style.visibility</p:attrName>
                                        </p:attrNameLst>
                                      </p:cBhvr>
                                      <p:to>
                                        <p:strVal val="visible"/>
                                      </p:to>
                                    </p:set>
                                    <p:animEffect transition="in" filter="wipe(left)">
                                      <p:cBhvr>
                                        <p:cTn id="2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a:spLocks noChangeArrowheads="1"/>
          </p:cNvSpPr>
          <p:nvPr/>
        </p:nvSpPr>
        <p:spPr bwMode="auto">
          <a:xfrm>
            <a:off x="977106" y="388938"/>
            <a:ext cx="718978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3200" b="1">
                <a:latin typeface="楷体" panose="02010609060101010101" pitchFamily="49" charset="-122"/>
                <a:ea typeface="楷体" panose="02010609060101010101" pitchFamily="49" charset="-122"/>
              </a:rPr>
              <a:t>第</a:t>
            </a:r>
            <a:r>
              <a:rPr lang="en-US" altLang="zh-CN" sz="3200" b="1">
                <a:latin typeface="楷体" panose="02010609060101010101" pitchFamily="49" charset="-122"/>
                <a:ea typeface="楷体" panose="02010609060101010101" pitchFamily="49" charset="-122"/>
              </a:rPr>
              <a:t>2</a:t>
            </a:r>
            <a:r>
              <a:rPr lang="zh-CN" altLang="en-US" sz="3200" b="1">
                <a:latin typeface="楷体" panose="02010609060101010101" pitchFamily="49" charset="-122"/>
                <a:ea typeface="楷体" panose="02010609060101010101" pitchFamily="49" charset="-122"/>
              </a:rPr>
              <a:t>课时 </a:t>
            </a:r>
            <a:r>
              <a:rPr lang="en-US" altLang="zh-CN" sz="3200" b="1">
                <a:latin typeface="楷体" panose="02010609060101010101" pitchFamily="49" charset="-122"/>
                <a:ea typeface="楷体" panose="02010609060101010101" pitchFamily="49" charset="-122"/>
              </a:rPr>
              <a:t>《</a:t>
            </a:r>
            <a:r>
              <a:rPr lang="zh-CN" altLang="en-US" sz="3200" b="1">
                <a:latin typeface="楷体" panose="02010609060101010101" pitchFamily="49" charset="-122"/>
                <a:ea typeface="楷体" panose="02010609060101010101" pitchFamily="49" charset="-122"/>
              </a:rPr>
              <a:t>酬乐天扬州初逢席上见赠</a:t>
            </a:r>
            <a:r>
              <a:rPr lang="en-US" altLang="zh-CN" sz="3200" b="1">
                <a:latin typeface="楷体" panose="02010609060101010101" pitchFamily="49" charset="-122"/>
                <a:ea typeface="楷体" panose="02010609060101010101" pitchFamily="49" charset="-122"/>
              </a:rPr>
              <a:t>》</a:t>
            </a:r>
            <a:endParaRPr lang="zh-CN" altLang="en-US" sz="2400" b="1">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1"/>
          <a:stretch>
            <a:fillRect/>
          </a:stretch>
        </p:blipFill>
        <p:spPr>
          <a:xfrm>
            <a:off x="609042" y="838200"/>
            <a:ext cx="3555344" cy="4305300"/>
          </a:xfrm>
          <a:prstGeom prst="rect">
            <a:avLst/>
          </a:prstGeom>
        </p:spPr>
      </p:pic>
      <p:sp>
        <p:nvSpPr>
          <p:cNvPr id="8" name="文本框 2"/>
          <p:cNvSpPr txBox="1">
            <a:spLocks noChangeArrowheads="1"/>
          </p:cNvSpPr>
          <p:nvPr/>
        </p:nvSpPr>
        <p:spPr bwMode="auto">
          <a:xfrm>
            <a:off x="3421715" y="1427721"/>
            <a:ext cx="4645959" cy="71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sz="3200" b="1">
                <a:latin typeface="楷体" panose="02010609060101010101" pitchFamily="49" charset="-122"/>
                <a:ea typeface="楷体" panose="02010609060101010101" pitchFamily="49" charset="-122"/>
              </a:rPr>
              <a:t>斯是陋室，惟吾德馨。</a:t>
            </a:r>
            <a:endParaRPr lang="zh-CN" altLang="en-US" sz="2400" b="1">
              <a:latin typeface="楷体" panose="02010609060101010101" pitchFamily="49" charset="-122"/>
              <a:ea typeface="楷体" panose="02010609060101010101" pitchFamily="49" charset="-122"/>
            </a:endParaRPr>
          </a:p>
        </p:txBody>
      </p:sp>
      <p:sp>
        <p:nvSpPr>
          <p:cNvPr id="9" name="文本框 2"/>
          <p:cNvSpPr txBox="1">
            <a:spLocks noChangeArrowheads="1"/>
          </p:cNvSpPr>
          <p:nvPr/>
        </p:nvSpPr>
        <p:spPr bwMode="auto">
          <a:xfrm>
            <a:off x="3421715" y="2300271"/>
            <a:ext cx="4645959" cy="145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sz="3200" b="1">
                <a:latin typeface="楷体" panose="02010609060101010101" pitchFamily="49" charset="-122"/>
                <a:ea typeface="楷体" panose="02010609060101010101" pitchFamily="49" charset="-122"/>
              </a:rPr>
              <a:t>自古逢秋悲寂寥，</a:t>
            </a:r>
            <a:endParaRPr lang="en-US" altLang="zh-CN" sz="3200" b="1">
              <a:latin typeface="楷体" panose="02010609060101010101" pitchFamily="49" charset="-122"/>
              <a:ea typeface="楷体" panose="02010609060101010101" pitchFamily="49" charset="-122"/>
            </a:endParaRPr>
          </a:p>
          <a:p>
            <a:pPr>
              <a:lnSpc>
                <a:spcPct val="150000"/>
              </a:lnSpc>
            </a:pPr>
            <a:r>
              <a:rPr lang="zh-CN" altLang="en-US" sz="3200" b="1">
                <a:latin typeface="楷体" panose="02010609060101010101" pitchFamily="49" charset="-122"/>
                <a:ea typeface="楷体" panose="02010609060101010101" pitchFamily="49" charset="-122"/>
              </a:rPr>
              <a:t>我言秋日胜春朝。</a:t>
            </a:r>
            <a:endParaRPr lang="zh-CN" altLang="en-US" sz="2400" b="1">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6260" y="180687"/>
            <a:ext cx="8883882" cy="1135904"/>
            <a:chOff x="-6260" y="180687"/>
            <a:chExt cx="8883882" cy="1135904"/>
          </a:xfrm>
        </p:grpSpPr>
        <p:sp>
          <p:nvSpPr>
            <p:cNvPr id="4" name="文本框 3"/>
            <p:cNvSpPr txBox="1">
              <a:spLocks noChangeArrowheads="1"/>
            </p:cNvSpPr>
            <p:nvPr/>
          </p:nvSpPr>
          <p:spPr bwMode="auto">
            <a:xfrm>
              <a:off x="956742" y="274387"/>
              <a:ext cx="7920880"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目标任务一：破题感知，课前热身。</a:t>
              </a:r>
              <a:endParaRPr lang="zh-CN" altLang="en-US" sz="3200" b="1">
                <a:latin typeface="黑体" panose="02010609060101010101" pitchFamily="2" charset="-122"/>
                <a:ea typeface="黑体" panose="02010609060101010101" pitchFamily="2" charset="-122"/>
              </a:endParaRPr>
            </a:p>
          </p:txBody>
        </p:sp>
        <p:pic>
          <p:nvPicPr>
            <p:cNvPr id="22" name="图片 21"/>
            <p:cNvPicPr>
              <a:picLocks noChangeAspect="1"/>
            </p:cNvPicPr>
            <p:nvPr/>
          </p:nvPicPr>
          <p:blipFill>
            <a:blip r:embed="rId1"/>
            <a:stretch>
              <a:fillRect/>
            </a:stretch>
          </p:blipFill>
          <p:spPr>
            <a:xfrm>
              <a:off x="-6260" y="180687"/>
              <a:ext cx="1135904" cy="1135904"/>
            </a:xfrm>
            <a:prstGeom prst="rect">
              <a:avLst/>
            </a:prstGeom>
          </p:spPr>
        </p:pic>
      </p:grpSp>
      <p:sp>
        <p:nvSpPr>
          <p:cNvPr id="7" name="矩形 6"/>
          <p:cNvSpPr>
            <a:spLocks noChangeArrowheads="1"/>
          </p:cNvSpPr>
          <p:nvPr/>
        </p:nvSpPr>
        <p:spPr bwMode="auto">
          <a:xfrm>
            <a:off x="499743" y="3741094"/>
            <a:ext cx="8144514" cy="573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pPr>
            <a:r>
              <a:rPr lang="zh-CN" altLang="en-US" sz="2800" b="1">
                <a:solidFill>
                  <a:srgbClr val="C00000"/>
                </a:solidFill>
                <a:latin typeface="楷体" panose="02010609060101010101" pitchFamily="49" charset="-122"/>
                <a:ea typeface="楷体" panose="02010609060101010101" pitchFamily="49" charset="-122"/>
              </a:rPr>
              <a:t>题目点出了酬赠的人物、地点、缘由。</a:t>
            </a:r>
            <a:endParaRPr lang="zh-CN" altLang="en-US" sz="2800" b="1">
              <a:solidFill>
                <a:srgbClr val="C00000"/>
              </a:solidFill>
              <a:latin typeface="楷体" panose="02010609060101010101" pitchFamily="49" charset="-122"/>
              <a:ea typeface="楷体" panose="02010609060101010101" pitchFamily="49" charset="-122"/>
            </a:endParaRPr>
          </a:p>
        </p:txBody>
      </p:sp>
      <p:sp>
        <p:nvSpPr>
          <p:cNvPr id="8" name="文本框 7"/>
          <p:cNvSpPr txBox="1">
            <a:spLocks noChangeArrowheads="1"/>
          </p:cNvSpPr>
          <p:nvPr/>
        </p:nvSpPr>
        <p:spPr bwMode="auto">
          <a:xfrm>
            <a:off x="499743" y="1272953"/>
            <a:ext cx="2967832"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文题理解</a:t>
            </a:r>
            <a:endParaRPr lang="zh-CN" altLang="en-US"/>
          </a:p>
        </p:txBody>
      </p:sp>
      <p:sp>
        <p:nvSpPr>
          <p:cNvPr id="9" name="文本框 2"/>
          <p:cNvSpPr txBox="1">
            <a:spLocks noChangeArrowheads="1"/>
          </p:cNvSpPr>
          <p:nvPr/>
        </p:nvSpPr>
        <p:spPr bwMode="auto">
          <a:xfrm>
            <a:off x="2213822" y="2397156"/>
            <a:ext cx="47163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3200" b="1">
                <a:latin typeface="楷体" panose="02010609060101010101" pitchFamily="49" charset="-122"/>
                <a:ea typeface="楷体" panose="02010609060101010101" pitchFamily="49" charset="-122"/>
              </a:rPr>
              <a:t>酬乐天扬州初逢席上见赠</a:t>
            </a:r>
            <a:endParaRPr lang="zh-CN" altLang="en-US" sz="2400" b="1">
              <a:latin typeface="楷体" panose="02010609060101010101" pitchFamily="49" charset="-122"/>
              <a:ea typeface="楷体" panose="02010609060101010101" pitchFamily="49" charset="-122"/>
            </a:endParaRPr>
          </a:p>
        </p:txBody>
      </p:sp>
      <p:cxnSp>
        <p:nvCxnSpPr>
          <p:cNvPr id="3" name="直接连接符 2"/>
          <p:cNvCxnSpPr/>
          <p:nvPr/>
        </p:nvCxnSpPr>
        <p:spPr>
          <a:xfrm>
            <a:off x="2293969" y="2922616"/>
            <a:ext cx="434339"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777571" y="2922616"/>
            <a:ext cx="769459"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191633" y="2922616"/>
            <a:ext cx="164940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矩形 13"/>
          <p:cNvSpPr>
            <a:spLocks noChangeArrowheads="1"/>
          </p:cNvSpPr>
          <p:nvPr/>
        </p:nvSpPr>
        <p:spPr bwMode="auto">
          <a:xfrm>
            <a:off x="1304545" y="3002712"/>
            <a:ext cx="18577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C00000"/>
                </a:solidFill>
                <a:latin typeface="楷体" panose="02010609060101010101" pitchFamily="49" charset="-122"/>
                <a:ea typeface="楷体" panose="02010609060101010101" pitchFamily="49" charset="-122"/>
              </a:rPr>
              <a:t>以诗相答。</a:t>
            </a:r>
            <a:endParaRPr lang="zh-CN" altLang="en-US" sz="2800" b="1">
              <a:solidFill>
                <a:srgbClr val="C00000"/>
              </a:solidFill>
              <a:latin typeface="楷体" panose="02010609060101010101" pitchFamily="49" charset="-122"/>
              <a:ea typeface="楷体" panose="02010609060101010101" pitchFamily="49" charset="-122"/>
            </a:endParaRPr>
          </a:p>
        </p:txBody>
      </p:sp>
      <p:sp>
        <p:nvSpPr>
          <p:cNvPr id="15" name="矩形 14"/>
          <p:cNvSpPr>
            <a:spLocks noChangeArrowheads="1"/>
          </p:cNvSpPr>
          <p:nvPr/>
        </p:nvSpPr>
        <p:spPr bwMode="auto">
          <a:xfrm>
            <a:off x="2638979" y="1968509"/>
            <a:ext cx="23806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C00000"/>
                </a:solidFill>
                <a:latin typeface="楷体" panose="02010609060101010101" pitchFamily="49" charset="-122"/>
                <a:ea typeface="楷体" panose="02010609060101010101" pitchFamily="49" charset="-122"/>
              </a:rPr>
              <a:t>白居易的字。</a:t>
            </a:r>
            <a:endParaRPr lang="zh-CN" altLang="en-US" sz="2800" b="1">
              <a:solidFill>
                <a:srgbClr val="C00000"/>
              </a:solidFill>
              <a:latin typeface="楷体" panose="02010609060101010101" pitchFamily="49" charset="-122"/>
              <a:ea typeface="楷体" panose="02010609060101010101" pitchFamily="49" charset="-122"/>
            </a:endParaRPr>
          </a:p>
        </p:txBody>
      </p:sp>
      <p:sp>
        <p:nvSpPr>
          <p:cNvPr id="16" name="矩形 15"/>
          <p:cNvSpPr>
            <a:spLocks noChangeArrowheads="1"/>
          </p:cNvSpPr>
          <p:nvPr/>
        </p:nvSpPr>
        <p:spPr bwMode="auto">
          <a:xfrm>
            <a:off x="3162300" y="3002712"/>
            <a:ext cx="59817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C00000"/>
                </a:solidFill>
                <a:latin typeface="楷体" panose="02010609060101010101" pitchFamily="49" charset="-122"/>
                <a:ea typeface="楷体" panose="02010609060101010101" pitchFamily="49" charset="-122"/>
              </a:rPr>
              <a:t>指白居易在酒宴上写诗赠给刘禹锡。</a:t>
            </a:r>
            <a:endParaRPr lang="zh-CN" altLang="en-US" sz="2800" b="1">
              <a:solidFill>
                <a:srgbClr val="C0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down)">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childTnLst>
                          </p:cTn>
                        </p:par>
                        <p:par>
                          <p:cTn id="26" fill="hold">
                            <p:stCondLst>
                              <p:cond delay="500"/>
                            </p:stCondLst>
                            <p:childTnLst>
                              <p:par>
                                <p:cTn id="27" presetID="22" presetClass="entr" presetSubtype="4"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down)">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down)">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5" grpId="0"/>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591183" y="1130898"/>
            <a:ext cx="7961634" cy="3374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800" b="1">
                <a:solidFill>
                  <a:srgbClr val="C00000"/>
                </a:solidFill>
                <a:latin typeface="楷体" panose="02010609060101010101" pitchFamily="49" charset="-122"/>
                <a:ea typeface="楷体" panose="02010609060101010101" pitchFamily="49" charset="-122"/>
              </a:rPr>
              <a:t>    刘禹锡</a:t>
            </a:r>
            <a:r>
              <a:rPr lang="zh-CN" altLang="en-US" sz="2800" b="1">
                <a:latin typeface="楷体" panose="02010609060101010101" pitchFamily="49" charset="-122"/>
                <a:ea typeface="楷体" panose="02010609060101010101" pitchFamily="49" charset="-122"/>
              </a:rPr>
              <a:t>（</a:t>
            </a:r>
            <a:r>
              <a:rPr lang="en-US" altLang="zh-CN" sz="2800" b="1">
                <a:latin typeface="楷体" panose="02010609060101010101" pitchFamily="49" charset="-122"/>
                <a:ea typeface="楷体" panose="02010609060101010101" pitchFamily="49" charset="-122"/>
              </a:rPr>
              <a:t>772—842</a:t>
            </a:r>
            <a:r>
              <a:rPr lang="zh-CN" altLang="en-US" sz="2800" b="1">
                <a:latin typeface="楷体" panose="02010609060101010101" pitchFamily="49" charset="-122"/>
                <a:ea typeface="楷体" panose="02010609060101010101" pitchFamily="49" charset="-122"/>
              </a:rPr>
              <a:t>），字梦得，洛阳（今属河南）人，唐代文学家，有“诗豪”之称。晚年任太子宾客，世称“刘宾客”。因与柳宗元交谊甚深，人称“刘柳”；又与白居易多有唱和，并称“刘白”。其诗刚健豪迈，清俊明朗。代表作有</a:t>
            </a:r>
            <a:r>
              <a:rPr lang="en-US" altLang="zh-CN" sz="2800" b="1">
                <a:latin typeface="楷体" panose="02010609060101010101" pitchFamily="49" charset="-122"/>
                <a:ea typeface="楷体" panose="02010609060101010101" pitchFamily="49" charset="-122"/>
              </a:rPr>
              <a:t>《</a:t>
            </a:r>
            <a:r>
              <a:rPr lang="zh-CN" altLang="en-US" sz="2800" b="1">
                <a:latin typeface="楷体" panose="02010609060101010101" pitchFamily="49" charset="-122"/>
                <a:ea typeface="楷体" panose="02010609060101010101" pitchFamily="49" charset="-122"/>
              </a:rPr>
              <a:t>秋词</a:t>
            </a:r>
            <a:r>
              <a:rPr lang="en-US" altLang="zh-CN" sz="2800" b="1">
                <a:latin typeface="楷体" panose="02010609060101010101" pitchFamily="49" charset="-122"/>
                <a:ea typeface="楷体" panose="02010609060101010101" pitchFamily="49" charset="-122"/>
              </a:rPr>
              <a:t>》《</a:t>
            </a:r>
            <a:r>
              <a:rPr lang="zh-CN" altLang="en-US" sz="2800" b="1">
                <a:latin typeface="楷体" panose="02010609060101010101" pitchFamily="49" charset="-122"/>
                <a:ea typeface="楷体" panose="02010609060101010101" pitchFamily="49" charset="-122"/>
              </a:rPr>
              <a:t>竹枝词</a:t>
            </a:r>
            <a:r>
              <a:rPr lang="en-US" altLang="zh-CN" sz="2800" b="1">
                <a:latin typeface="楷体" panose="02010609060101010101" pitchFamily="49" charset="-122"/>
                <a:ea typeface="楷体" panose="02010609060101010101" pitchFamily="49" charset="-122"/>
              </a:rPr>
              <a:t>》《</a:t>
            </a:r>
            <a:r>
              <a:rPr lang="zh-CN" altLang="en-US" sz="2800" b="1">
                <a:latin typeface="楷体" panose="02010609060101010101" pitchFamily="49" charset="-122"/>
                <a:ea typeface="楷体" panose="02010609060101010101" pitchFamily="49" charset="-122"/>
              </a:rPr>
              <a:t>浪淘沙</a:t>
            </a:r>
            <a:r>
              <a:rPr lang="en-US" altLang="zh-CN" sz="2800" b="1">
                <a:latin typeface="楷体" panose="02010609060101010101" pitchFamily="49" charset="-122"/>
                <a:ea typeface="楷体" panose="02010609060101010101" pitchFamily="49" charset="-122"/>
              </a:rPr>
              <a:t>》</a:t>
            </a:r>
            <a:r>
              <a:rPr lang="zh-CN" altLang="en-US" sz="2800" b="1">
                <a:latin typeface="楷体" panose="02010609060101010101" pitchFamily="49" charset="-122"/>
                <a:ea typeface="楷体" panose="02010609060101010101" pitchFamily="49" charset="-122"/>
              </a:rPr>
              <a:t>等。</a:t>
            </a:r>
            <a:endParaRPr lang="zh-CN" altLang="en-US" sz="2800" b="1">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591183" y="505412"/>
            <a:ext cx="2967832"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作者简介</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362477" y="1223030"/>
            <a:ext cx="8419047" cy="3373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800" b="1">
                <a:latin typeface="楷体" panose="02010609060101010101" pitchFamily="49" charset="-122"/>
                <a:ea typeface="楷体" panose="02010609060101010101" pitchFamily="49" charset="-122"/>
              </a:rPr>
              <a:t>    唐顺宗永贞元年（</a:t>
            </a:r>
            <a:r>
              <a:rPr lang="en-US" altLang="zh-CN" sz="2800" b="1">
                <a:latin typeface="楷体" panose="02010609060101010101" pitchFamily="49" charset="-122"/>
                <a:ea typeface="楷体" panose="02010609060101010101" pitchFamily="49" charset="-122"/>
              </a:rPr>
              <a:t>805</a:t>
            </a:r>
            <a:r>
              <a:rPr lang="zh-CN" altLang="en-US" sz="2800" b="1">
                <a:latin typeface="楷体" panose="02010609060101010101" pitchFamily="49" charset="-122"/>
                <a:ea typeface="楷体" panose="02010609060101010101" pitchFamily="49" charset="-122"/>
              </a:rPr>
              <a:t>），刘禹锡参与王叔文集团的政治改革，失败后被贬到外地做官二十多年。唐敬宗宝历二年（</a:t>
            </a:r>
            <a:r>
              <a:rPr lang="en-US" altLang="zh-CN" sz="2800" b="1">
                <a:latin typeface="楷体" panose="02010609060101010101" pitchFamily="49" charset="-122"/>
                <a:ea typeface="楷体" panose="02010609060101010101" pitchFamily="49" charset="-122"/>
              </a:rPr>
              <a:t>826</a:t>
            </a:r>
            <a:r>
              <a:rPr lang="zh-CN" altLang="en-US" sz="2800" b="1">
                <a:latin typeface="楷体" panose="02010609060101010101" pitchFamily="49" charset="-122"/>
                <a:ea typeface="楷体" panose="02010609060101010101" pitchFamily="49" charset="-122"/>
              </a:rPr>
              <a:t>），刘禹锡罢和州刺史，与刚离任苏州刺史的白居易在扬州相遇。在酒宴上白居易写了</a:t>
            </a:r>
            <a:r>
              <a:rPr lang="en-US" altLang="zh-CN" sz="2800" b="1">
                <a:latin typeface="楷体" panose="02010609060101010101" pitchFamily="49" charset="-122"/>
                <a:ea typeface="楷体" panose="02010609060101010101" pitchFamily="49" charset="-122"/>
              </a:rPr>
              <a:t>《</a:t>
            </a:r>
            <a:r>
              <a:rPr lang="zh-CN" altLang="en-US" sz="2800" b="1">
                <a:latin typeface="楷体" panose="02010609060101010101" pitchFamily="49" charset="-122"/>
                <a:ea typeface="楷体" panose="02010609060101010101" pitchFamily="49" charset="-122"/>
              </a:rPr>
              <a:t>醉赠刘二十八使君</a:t>
            </a:r>
            <a:r>
              <a:rPr lang="en-US" altLang="zh-CN" sz="2800" b="1">
                <a:latin typeface="楷体" panose="02010609060101010101" pitchFamily="49" charset="-122"/>
                <a:ea typeface="楷体" panose="02010609060101010101" pitchFamily="49" charset="-122"/>
              </a:rPr>
              <a:t>》</a:t>
            </a:r>
            <a:r>
              <a:rPr lang="zh-CN" altLang="en-US" sz="2800" b="1">
                <a:latin typeface="楷体" panose="02010609060101010101" pitchFamily="49" charset="-122"/>
                <a:ea typeface="楷体" panose="02010609060101010101" pitchFamily="49" charset="-122"/>
              </a:rPr>
              <a:t>，对刘禹锡屡遭贬谪、怀才不遇的命运寄予深切的同情。刘禹锡作此诗答谢。</a:t>
            </a:r>
            <a:endParaRPr lang="zh-CN" altLang="en-US" sz="2800" b="1">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362477" y="604344"/>
            <a:ext cx="2967832"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背景链接</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499743" y="1146830"/>
            <a:ext cx="8144514" cy="3374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800" b="1">
                <a:latin typeface="楷体" panose="02010609060101010101" pitchFamily="49" charset="-122"/>
                <a:ea typeface="楷体" panose="02010609060101010101" pitchFamily="49" charset="-122"/>
              </a:rPr>
              <a:t>    律诗：近体诗的一种，要求诗句字数整齐划一，有五律、七律、排律。五律、七律均为八句，每两句成一联，依次为首联、颔联、颈联、尾联。一般说来，律诗二、三两联（即颔联、颈联）的上下句应是对仗句。律诗要求全诗通押一个韵，限平声韵；第二、四、六、八句押韵，首句可押可不押。</a:t>
            </a:r>
            <a:endParaRPr lang="zh-CN" altLang="en-US" sz="2800" b="1">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499743" y="497098"/>
            <a:ext cx="2967832"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文体知识</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6"/>
          <p:cNvSpPr>
            <a:spLocks noChangeArrowheads="1"/>
          </p:cNvSpPr>
          <p:nvPr/>
        </p:nvSpPr>
        <p:spPr bwMode="auto">
          <a:xfrm>
            <a:off x="1502411" y="1778822"/>
            <a:ext cx="7404100" cy="285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3200" b="1">
                <a:solidFill>
                  <a:srgbClr val="000000"/>
                </a:solidFill>
                <a:latin typeface="宋体" panose="02010600030101010101" pitchFamily="2" charset="-122"/>
              </a:rPr>
              <a:t>巴山楚水凄凉地，二十三年弃置身。</a:t>
            </a:r>
            <a:endParaRPr lang="en-US" altLang="zh-CN" sz="3200" b="1">
              <a:solidFill>
                <a:srgbClr val="000000"/>
              </a:solidFill>
              <a:latin typeface="宋体" panose="02010600030101010101" pitchFamily="2" charset="-122"/>
            </a:endParaRPr>
          </a:p>
          <a:p>
            <a:pPr eaLnBrk="1" hangingPunct="1">
              <a:lnSpc>
                <a:spcPct val="150000"/>
              </a:lnSpc>
            </a:pPr>
            <a:r>
              <a:rPr lang="zh-CN" altLang="en-US" sz="3200" b="1">
                <a:solidFill>
                  <a:srgbClr val="000000"/>
                </a:solidFill>
                <a:latin typeface="宋体" panose="02010600030101010101" pitchFamily="2" charset="-122"/>
              </a:rPr>
              <a:t>怀旧空吟闻笛赋，到乡翻似烂柯人。</a:t>
            </a:r>
            <a:endParaRPr lang="zh-CN" altLang="en-US" sz="3200" b="1">
              <a:solidFill>
                <a:srgbClr val="000000"/>
              </a:solidFill>
              <a:latin typeface="宋体" panose="02010600030101010101" pitchFamily="2" charset="-122"/>
            </a:endParaRPr>
          </a:p>
          <a:p>
            <a:pPr eaLnBrk="1" hangingPunct="1">
              <a:lnSpc>
                <a:spcPct val="150000"/>
              </a:lnSpc>
            </a:pPr>
            <a:r>
              <a:rPr lang="zh-CN" altLang="en-US" sz="3200" b="1">
                <a:solidFill>
                  <a:srgbClr val="000000"/>
                </a:solidFill>
                <a:latin typeface="宋体" panose="02010600030101010101" pitchFamily="2" charset="-122"/>
              </a:rPr>
              <a:t>沉舟侧畔千帆过，病树前头万木春。</a:t>
            </a:r>
            <a:endParaRPr lang="en-US" altLang="zh-CN" sz="3200" b="1">
              <a:solidFill>
                <a:srgbClr val="000000"/>
              </a:solidFill>
              <a:latin typeface="宋体" panose="02010600030101010101" pitchFamily="2" charset="-122"/>
            </a:endParaRPr>
          </a:p>
          <a:p>
            <a:pPr eaLnBrk="1" hangingPunct="1">
              <a:lnSpc>
                <a:spcPct val="150000"/>
              </a:lnSpc>
            </a:pPr>
            <a:r>
              <a:rPr lang="zh-CN" altLang="en-US" sz="3200" b="1">
                <a:solidFill>
                  <a:srgbClr val="000000"/>
                </a:solidFill>
                <a:latin typeface="宋体" panose="02010600030101010101" pitchFamily="2" charset="-122"/>
              </a:rPr>
              <a:t>今日听君歌一曲，暂凭杯酒长精神。</a:t>
            </a:r>
            <a:endParaRPr lang="zh-CN" altLang="en-US">
              <a:ea typeface="楷体" panose="02010609060101010101" pitchFamily="49" charset="-122"/>
            </a:endParaRPr>
          </a:p>
        </p:txBody>
      </p:sp>
      <p:grpSp>
        <p:nvGrpSpPr>
          <p:cNvPr id="3" name="组合 2"/>
          <p:cNvGrpSpPr/>
          <p:nvPr/>
        </p:nvGrpSpPr>
        <p:grpSpPr>
          <a:xfrm>
            <a:off x="-6260" y="180687"/>
            <a:ext cx="8883882" cy="1135904"/>
            <a:chOff x="-6260" y="180687"/>
            <a:chExt cx="8883882" cy="1135904"/>
          </a:xfrm>
        </p:grpSpPr>
        <p:sp>
          <p:nvSpPr>
            <p:cNvPr id="4" name="文本框 3"/>
            <p:cNvSpPr txBox="1">
              <a:spLocks noChangeArrowheads="1"/>
            </p:cNvSpPr>
            <p:nvPr/>
          </p:nvSpPr>
          <p:spPr bwMode="auto">
            <a:xfrm>
              <a:off x="956742" y="274387"/>
              <a:ext cx="7920880"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目标任务二：诵读全文，理解诗意。</a:t>
              </a:r>
              <a:endParaRPr lang="zh-CN" altLang="en-US" sz="3200" b="1">
                <a:latin typeface="黑体" panose="02010609060101010101" pitchFamily="2" charset="-122"/>
                <a:ea typeface="黑体" panose="02010609060101010101" pitchFamily="2" charset="-122"/>
              </a:endParaRPr>
            </a:p>
          </p:txBody>
        </p:sp>
        <p:pic>
          <p:nvPicPr>
            <p:cNvPr id="5" name="图片 4"/>
            <p:cNvPicPr>
              <a:picLocks noChangeAspect="1"/>
            </p:cNvPicPr>
            <p:nvPr/>
          </p:nvPicPr>
          <p:blipFill>
            <a:blip r:embed="rId1"/>
            <a:stretch>
              <a:fillRect/>
            </a:stretch>
          </p:blipFill>
          <p:spPr>
            <a:xfrm>
              <a:off x="-6260" y="180687"/>
              <a:ext cx="1135904" cy="1135904"/>
            </a:xfrm>
            <a:prstGeom prst="rect">
              <a:avLst/>
            </a:prstGeom>
          </p:spPr>
        </p:pic>
      </p:grpSp>
      <p:sp>
        <p:nvSpPr>
          <p:cNvPr id="6" name="文本框 5"/>
          <p:cNvSpPr txBox="1">
            <a:spLocks noChangeArrowheads="1"/>
          </p:cNvSpPr>
          <p:nvPr/>
        </p:nvSpPr>
        <p:spPr bwMode="auto">
          <a:xfrm>
            <a:off x="499743" y="1137178"/>
            <a:ext cx="3439798" cy="584775"/>
          </a:xfrm>
          <a:prstGeom prst="rect">
            <a:avLst/>
          </a:prstGeom>
          <a:noFill/>
          <a:ln>
            <a:noFill/>
          </a:ln>
          <a:extLst>
            <a:ext uri="{909E8E84-426E-40DD-AFC4-6F175D3DCCD1}">
              <a14:hiddenFill xmlns:a14="http://schemas.microsoft.com/office/drawing/2010/main">
                <a:blipFill>
                  <a:blip r:embed="rId2"/>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读准字音</a:t>
            </a:r>
            <a:endParaRPr lang="zh-CN" altLang="en-US"/>
          </a:p>
        </p:txBody>
      </p:sp>
      <p:sp>
        <p:nvSpPr>
          <p:cNvPr id="8" name="矩形 7"/>
          <p:cNvSpPr>
            <a:spLocks noChangeArrowheads="1"/>
          </p:cNvSpPr>
          <p:nvPr/>
        </p:nvSpPr>
        <p:spPr bwMode="auto">
          <a:xfrm>
            <a:off x="6533963" y="2373419"/>
            <a:ext cx="947738" cy="540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800" b="1" err="1">
                <a:solidFill>
                  <a:srgbClr val="E60012"/>
                </a:solidFill>
                <a:latin typeface="汉语拼音" panose="020B0604020202020204" pitchFamily="34" charset="0"/>
                <a:ea typeface="+mn-ea"/>
                <a:cs typeface="汉语拼音" panose="020B0604020202020204" pitchFamily="34" charset="0"/>
              </a:rPr>
              <a:t>kē</a:t>
            </a:r>
            <a:endParaRPr lang="zh-CN" altLang="en-US" sz="2800" b="1">
              <a:solidFill>
                <a:srgbClr val="E60012"/>
              </a:solidFill>
              <a:latin typeface="汉语拼音" panose="020B0604020202020204" pitchFamily="34" charset="0"/>
              <a:ea typeface="+mn-ea"/>
              <a:cs typeface="汉语拼音" panose="020B0604020202020204" pitchFamily="34" charset="0"/>
            </a:endParaRPr>
          </a:p>
        </p:txBody>
      </p:sp>
      <p:sp>
        <p:nvSpPr>
          <p:cNvPr id="9" name="矩形 8"/>
          <p:cNvSpPr>
            <a:spLocks noChangeArrowheads="1"/>
          </p:cNvSpPr>
          <p:nvPr/>
        </p:nvSpPr>
        <p:spPr bwMode="auto">
          <a:xfrm>
            <a:off x="2406796" y="3043392"/>
            <a:ext cx="1020762" cy="540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800" b="1" err="1">
                <a:solidFill>
                  <a:srgbClr val="E60012"/>
                </a:solidFill>
                <a:latin typeface="汉语拼音" panose="020B0604020202020204" pitchFamily="34" charset="0"/>
                <a:ea typeface="+mn-ea"/>
                <a:cs typeface="汉语拼音" panose="020B0604020202020204" pitchFamily="34" charset="0"/>
              </a:rPr>
              <a:t>pàn</a:t>
            </a:r>
            <a:endParaRPr lang="zh-CN" altLang="en-US" sz="2800" b="1">
              <a:solidFill>
                <a:srgbClr val="E60012"/>
              </a:solidFill>
              <a:latin typeface="汉语拼音" panose="020B0604020202020204" pitchFamily="34" charset="0"/>
              <a:ea typeface="+mn-ea"/>
              <a:cs typeface="汉语拼音" panose="020B0604020202020204" pitchFamily="34" charset="0"/>
            </a:endParaRPr>
          </a:p>
        </p:txBody>
      </p:sp>
      <p:sp>
        <p:nvSpPr>
          <p:cNvPr id="10" name="矩形 9"/>
          <p:cNvSpPr>
            <a:spLocks noChangeArrowheads="1"/>
          </p:cNvSpPr>
          <p:nvPr/>
        </p:nvSpPr>
        <p:spPr bwMode="auto">
          <a:xfrm>
            <a:off x="4489769" y="3808886"/>
            <a:ext cx="1020762" cy="540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800" b="1" err="1">
                <a:solidFill>
                  <a:srgbClr val="E60012"/>
                </a:solidFill>
                <a:latin typeface="汉语拼音" panose="020B0604020202020204" pitchFamily="34" charset="0"/>
                <a:ea typeface="+mn-ea"/>
                <a:cs typeface="汉语拼音" panose="020B0604020202020204" pitchFamily="34" charset="0"/>
              </a:rPr>
              <a:t>zàn</a:t>
            </a:r>
            <a:endParaRPr lang="zh-CN" altLang="en-US" sz="2800" b="1">
              <a:solidFill>
                <a:srgbClr val="E60012"/>
              </a:solidFill>
              <a:latin typeface="汉语拼音" panose="020B0604020202020204" pitchFamily="34" charset="0"/>
              <a:ea typeface="+mn-ea"/>
              <a:cs typeface="汉语拼音" panose="020B0604020202020204" pitchFamily="34" charset="0"/>
            </a:endParaRPr>
          </a:p>
        </p:txBody>
      </p:sp>
      <p:sp>
        <p:nvSpPr>
          <p:cNvPr id="11" name="矩形 10"/>
          <p:cNvSpPr>
            <a:spLocks noChangeArrowheads="1"/>
          </p:cNvSpPr>
          <p:nvPr/>
        </p:nvSpPr>
        <p:spPr bwMode="auto">
          <a:xfrm>
            <a:off x="5917191" y="3797163"/>
            <a:ext cx="1383708" cy="486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800" b="1" err="1">
                <a:solidFill>
                  <a:srgbClr val="E60012"/>
                </a:solidFill>
                <a:latin typeface="汉语拼音" panose="020B0604020202020204" pitchFamily="34" charset="0"/>
                <a:ea typeface="+mn-ea"/>
                <a:cs typeface="汉语拼音" panose="020B0604020202020204" pitchFamily="34" charset="0"/>
              </a:rPr>
              <a:t>zhǎng</a:t>
            </a:r>
            <a:endParaRPr lang="zh-CN" altLang="en-US" sz="2800" b="1">
              <a:solidFill>
                <a:srgbClr val="E60012"/>
              </a:solidFill>
              <a:latin typeface="汉语拼音" panose="020B0604020202020204" pitchFamily="34" charset="0"/>
              <a:ea typeface="+mn-ea"/>
              <a:cs typeface="汉语拼音"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a:spLocks noChangeArrowheads="1"/>
          </p:cNvSpPr>
          <p:nvPr/>
        </p:nvSpPr>
        <p:spPr bwMode="auto">
          <a:xfrm>
            <a:off x="499743" y="1137178"/>
            <a:ext cx="3439798"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了解诗歌形式</a:t>
            </a:r>
            <a:endParaRPr lang="zh-CN" altLang="en-US"/>
          </a:p>
        </p:txBody>
      </p:sp>
      <p:sp>
        <p:nvSpPr>
          <p:cNvPr id="3" name="矩形 2"/>
          <p:cNvSpPr>
            <a:spLocks noChangeArrowheads="1"/>
          </p:cNvSpPr>
          <p:nvPr/>
        </p:nvSpPr>
        <p:spPr bwMode="auto">
          <a:xfrm>
            <a:off x="1137920" y="1960563"/>
            <a:ext cx="7404100" cy="1135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indent="8032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eaLnBrk="1" hangingPunct="1">
              <a:lnSpc>
                <a:spcPct val="120000"/>
              </a:lnSpc>
            </a:pPr>
            <a:r>
              <a:rPr lang="zh-CN" altLang="en-US" sz="3200" b="1">
                <a:latin typeface="宋体" panose="02010600030101010101" pitchFamily="2" charset="-122"/>
              </a:rPr>
              <a:t>    七言律诗，中间两联对偶，形式整饬雅致，音韵华美。整首诗押“</a:t>
            </a:r>
            <a:r>
              <a:rPr lang="en-US" altLang="zh-CN" sz="3200" b="1" err="1">
                <a:latin typeface="汉语拼音" panose="020B0604020202020204" pitchFamily="34" charset="0"/>
                <a:cs typeface="汉语拼音" panose="020B0604020202020204" pitchFamily="34" charset="0"/>
              </a:rPr>
              <a:t>en</a:t>
            </a:r>
            <a:r>
              <a:rPr lang="zh-CN" altLang="en-US" sz="3200" b="1">
                <a:latin typeface="宋体" panose="02010600030101010101" pitchFamily="2" charset="-122"/>
              </a:rPr>
              <a:t>”韵。</a:t>
            </a:r>
            <a:endParaRPr lang="zh-CN" altLang="en-US">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a:spLocks noChangeArrowheads="1"/>
          </p:cNvSpPr>
          <p:nvPr/>
        </p:nvSpPr>
        <p:spPr bwMode="auto">
          <a:xfrm>
            <a:off x="499743" y="542818"/>
            <a:ext cx="3439798"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把握节奏</a:t>
            </a:r>
            <a:endParaRPr lang="zh-CN" altLang="en-US"/>
          </a:p>
        </p:txBody>
      </p:sp>
      <p:sp>
        <p:nvSpPr>
          <p:cNvPr id="4" name="矩形 6"/>
          <p:cNvSpPr>
            <a:spLocks noChangeArrowheads="1"/>
          </p:cNvSpPr>
          <p:nvPr/>
        </p:nvSpPr>
        <p:spPr bwMode="auto">
          <a:xfrm>
            <a:off x="1079500" y="1261745"/>
            <a:ext cx="7653020" cy="285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3200" b="1">
                <a:solidFill>
                  <a:srgbClr val="000000"/>
                </a:solidFill>
                <a:latin typeface="宋体" panose="02010600030101010101" pitchFamily="2" charset="-122"/>
              </a:rPr>
              <a:t>巴山</a:t>
            </a:r>
            <a:r>
              <a:rPr lang="en-US" altLang="zh-CN" sz="3200" b="1">
                <a:solidFill>
                  <a:srgbClr val="C00000"/>
                </a:solidFill>
                <a:latin typeface="宋体" panose="02010600030101010101" pitchFamily="2" charset="-122"/>
              </a:rPr>
              <a:t>/</a:t>
            </a:r>
            <a:r>
              <a:rPr lang="zh-CN" altLang="en-US" sz="3200" b="1">
                <a:solidFill>
                  <a:srgbClr val="000000"/>
                </a:solidFill>
                <a:latin typeface="宋体" panose="02010600030101010101" pitchFamily="2" charset="-122"/>
              </a:rPr>
              <a:t>楚水</a:t>
            </a:r>
            <a:r>
              <a:rPr lang="en-US" altLang="zh-CN" sz="3200" b="1">
                <a:solidFill>
                  <a:srgbClr val="C00000"/>
                </a:solidFill>
                <a:latin typeface="宋体" panose="02010600030101010101" pitchFamily="2" charset="-122"/>
              </a:rPr>
              <a:t>/</a:t>
            </a:r>
            <a:r>
              <a:rPr lang="zh-CN" altLang="en-US" sz="3200" b="1">
                <a:solidFill>
                  <a:srgbClr val="000000"/>
                </a:solidFill>
                <a:latin typeface="宋体" panose="02010600030101010101" pitchFamily="2" charset="-122"/>
              </a:rPr>
              <a:t>凄凉地，二十三年</a:t>
            </a:r>
            <a:r>
              <a:rPr lang="en-US" altLang="zh-CN" sz="3200" b="1">
                <a:solidFill>
                  <a:srgbClr val="C00000"/>
                </a:solidFill>
                <a:latin typeface="宋体" panose="02010600030101010101" pitchFamily="2" charset="-122"/>
              </a:rPr>
              <a:t>/</a:t>
            </a:r>
            <a:r>
              <a:rPr lang="zh-CN" altLang="en-US" sz="3200" b="1">
                <a:solidFill>
                  <a:srgbClr val="000000"/>
                </a:solidFill>
                <a:latin typeface="宋体" panose="02010600030101010101" pitchFamily="2" charset="-122"/>
              </a:rPr>
              <a:t>弃置身。</a:t>
            </a:r>
            <a:endParaRPr lang="en-US" altLang="zh-CN" sz="3200" b="1">
              <a:solidFill>
                <a:srgbClr val="000000"/>
              </a:solidFill>
              <a:latin typeface="宋体" panose="02010600030101010101" pitchFamily="2" charset="-122"/>
            </a:endParaRPr>
          </a:p>
          <a:p>
            <a:pPr eaLnBrk="1" hangingPunct="1">
              <a:lnSpc>
                <a:spcPct val="150000"/>
              </a:lnSpc>
            </a:pPr>
            <a:r>
              <a:rPr lang="zh-CN" altLang="en-US" sz="3200" b="1">
                <a:solidFill>
                  <a:srgbClr val="000000"/>
                </a:solidFill>
                <a:latin typeface="宋体" panose="02010600030101010101" pitchFamily="2" charset="-122"/>
              </a:rPr>
              <a:t>怀旧</a:t>
            </a:r>
            <a:r>
              <a:rPr lang="en-US" altLang="zh-CN" sz="3200" b="1">
                <a:solidFill>
                  <a:srgbClr val="C00000"/>
                </a:solidFill>
                <a:latin typeface="宋体" panose="02010600030101010101" pitchFamily="2" charset="-122"/>
              </a:rPr>
              <a:t>/</a:t>
            </a:r>
            <a:r>
              <a:rPr lang="zh-CN" altLang="en-US" sz="3200" b="1">
                <a:solidFill>
                  <a:srgbClr val="000000"/>
                </a:solidFill>
                <a:latin typeface="宋体" panose="02010600030101010101" pitchFamily="2" charset="-122"/>
              </a:rPr>
              <a:t>空吟</a:t>
            </a:r>
            <a:r>
              <a:rPr lang="en-US" altLang="zh-CN" sz="3200" b="1">
                <a:solidFill>
                  <a:srgbClr val="C00000"/>
                </a:solidFill>
                <a:latin typeface="宋体" panose="02010600030101010101" pitchFamily="2" charset="-122"/>
              </a:rPr>
              <a:t>/</a:t>
            </a:r>
            <a:r>
              <a:rPr lang="zh-CN" altLang="en-US" sz="3200" b="1">
                <a:solidFill>
                  <a:srgbClr val="000000"/>
                </a:solidFill>
                <a:latin typeface="宋体" panose="02010600030101010101" pitchFamily="2" charset="-122"/>
              </a:rPr>
              <a:t>闻笛赋，到乡</a:t>
            </a:r>
            <a:r>
              <a:rPr lang="en-US" altLang="zh-CN" sz="3200" b="1">
                <a:solidFill>
                  <a:srgbClr val="C00000"/>
                </a:solidFill>
                <a:latin typeface="宋体" panose="02010600030101010101" pitchFamily="2" charset="-122"/>
              </a:rPr>
              <a:t>/</a:t>
            </a:r>
            <a:r>
              <a:rPr lang="zh-CN" altLang="en-US" sz="3200" b="1">
                <a:solidFill>
                  <a:srgbClr val="000000"/>
                </a:solidFill>
                <a:latin typeface="宋体" panose="02010600030101010101" pitchFamily="2" charset="-122"/>
              </a:rPr>
              <a:t>翻似</a:t>
            </a:r>
            <a:r>
              <a:rPr lang="en-US" altLang="zh-CN" sz="3200" b="1">
                <a:solidFill>
                  <a:srgbClr val="C00000"/>
                </a:solidFill>
                <a:latin typeface="宋体" panose="02010600030101010101" pitchFamily="2" charset="-122"/>
              </a:rPr>
              <a:t>/</a:t>
            </a:r>
            <a:r>
              <a:rPr lang="zh-CN" altLang="en-US" sz="3200" b="1">
                <a:solidFill>
                  <a:srgbClr val="000000"/>
                </a:solidFill>
                <a:latin typeface="宋体" panose="02010600030101010101" pitchFamily="2" charset="-122"/>
              </a:rPr>
              <a:t>烂柯人。</a:t>
            </a:r>
            <a:endParaRPr lang="zh-CN" altLang="en-US" sz="3200" b="1">
              <a:solidFill>
                <a:srgbClr val="000000"/>
              </a:solidFill>
              <a:latin typeface="宋体" panose="02010600030101010101" pitchFamily="2" charset="-122"/>
            </a:endParaRPr>
          </a:p>
          <a:p>
            <a:pPr eaLnBrk="1" hangingPunct="1">
              <a:lnSpc>
                <a:spcPct val="150000"/>
              </a:lnSpc>
            </a:pPr>
            <a:r>
              <a:rPr lang="zh-CN" altLang="en-US" sz="3200" b="1">
                <a:solidFill>
                  <a:srgbClr val="000000"/>
                </a:solidFill>
                <a:latin typeface="宋体" panose="02010600030101010101" pitchFamily="2" charset="-122"/>
              </a:rPr>
              <a:t>沉舟</a:t>
            </a:r>
            <a:r>
              <a:rPr lang="en-US" altLang="zh-CN" sz="3200" b="1">
                <a:solidFill>
                  <a:srgbClr val="C00000"/>
                </a:solidFill>
                <a:latin typeface="宋体" panose="02010600030101010101" pitchFamily="2" charset="-122"/>
              </a:rPr>
              <a:t>/</a:t>
            </a:r>
            <a:r>
              <a:rPr lang="zh-CN" altLang="en-US" sz="3200" b="1">
                <a:solidFill>
                  <a:srgbClr val="000000"/>
                </a:solidFill>
                <a:latin typeface="宋体" panose="02010600030101010101" pitchFamily="2" charset="-122"/>
              </a:rPr>
              <a:t>侧畔</a:t>
            </a:r>
            <a:r>
              <a:rPr lang="en-US" altLang="zh-CN" sz="3200" b="1">
                <a:solidFill>
                  <a:srgbClr val="C00000"/>
                </a:solidFill>
                <a:latin typeface="宋体" panose="02010600030101010101" pitchFamily="2" charset="-122"/>
              </a:rPr>
              <a:t>/</a:t>
            </a:r>
            <a:r>
              <a:rPr lang="zh-CN" altLang="en-US" sz="3200" b="1">
                <a:solidFill>
                  <a:srgbClr val="000000"/>
                </a:solidFill>
                <a:latin typeface="宋体" panose="02010600030101010101" pitchFamily="2" charset="-122"/>
              </a:rPr>
              <a:t>千帆过，病树</a:t>
            </a:r>
            <a:r>
              <a:rPr lang="en-US" altLang="zh-CN" sz="3200" b="1">
                <a:solidFill>
                  <a:srgbClr val="C00000"/>
                </a:solidFill>
                <a:latin typeface="宋体" panose="02010600030101010101" pitchFamily="2" charset="-122"/>
              </a:rPr>
              <a:t>/</a:t>
            </a:r>
            <a:r>
              <a:rPr lang="zh-CN" altLang="en-US" sz="3200" b="1">
                <a:solidFill>
                  <a:srgbClr val="000000"/>
                </a:solidFill>
                <a:latin typeface="宋体" panose="02010600030101010101" pitchFamily="2" charset="-122"/>
              </a:rPr>
              <a:t>前头</a:t>
            </a:r>
            <a:r>
              <a:rPr lang="en-US" altLang="zh-CN" sz="3200" b="1">
                <a:solidFill>
                  <a:srgbClr val="C00000"/>
                </a:solidFill>
                <a:latin typeface="宋体" panose="02010600030101010101" pitchFamily="2" charset="-122"/>
              </a:rPr>
              <a:t>/</a:t>
            </a:r>
            <a:r>
              <a:rPr lang="zh-CN" altLang="en-US" sz="3200" b="1">
                <a:solidFill>
                  <a:srgbClr val="000000"/>
                </a:solidFill>
                <a:latin typeface="宋体" panose="02010600030101010101" pitchFamily="2" charset="-122"/>
              </a:rPr>
              <a:t>万木春。</a:t>
            </a:r>
            <a:endParaRPr lang="en-US" altLang="zh-CN" sz="3200" b="1">
              <a:solidFill>
                <a:srgbClr val="000000"/>
              </a:solidFill>
              <a:latin typeface="宋体" panose="02010600030101010101" pitchFamily="2" charset="-122"/>
            </a:endParaRPr>
          </a:p>
          <a:p>
            <a:pPr eaLnBrk="1" hangingPunct="1">
              <a:lnSpc>
                <a:spcPct val="150000"/>
              </a:lnSpc>
            </a:pPr>
            <a:r>
              <a:rPr lang="zh-CN" altLang="en-US" sz="3200" b="1">
                <a:solidFill>
                  <a:srgbClr val="000000"/>
                </a:solidFill>
                <a:latin typeface="宋体" panose="02010600030101010101" pitchFamily="2" charset="-122"/>
              </a:rPr>
              <a:t>今日</a:t>
            </a:r>
            <a:r>
              <a:rPr lang="en-US" altLang="zh-CN" sz="3200" b="1">
                <a:solidFill>
                  <a:srgbClr val="C00000"/>
                </a:solidFill>
                <a:latin typeface="宋体" panose="02010600030101010101" pitchFamily="2" charset="-122"/>
              </a:rPr>
              <a:t>/</a:t>
            </a:r>
            <a:r>
              <a:rPr lang="zh-CN" altLang="en-US" sz="3200" b="1">
                <a:solidFill>
                  <a:srgbClr val="000000"/>
                </a:solidFill>
                <a:latin typeface="宋体" panose="02010600030101010101" pitchFamily="2" charset="-122"/>
              </a:rPr>
              <a:t>听君</a:t>
            </a:r>
            <a:r>
              <a:rPr lang="en-US" altLang="zh-CN" sz="3200" b="1">
                <a:solidFill>
                  <a:srgbClr val="C00000"/>
                </a:solidFill>
                <a:latin typeface="宋体" panose="02010600030101010101" pitchFamily="2" charset="-122"/>
              </a:rPr>
              <a:t>/</a:t>
            </a:r>
            <a:r>
              <a:rPr lang="zh-CN" altLang="en-US" sz="3200" b="1">
                <a:solidFill>
                  <a:srgbClr val="000000"/>
                </a:solidFill>
                <a:latin typeface="宋体" panose="02010600030101010101" pitchFamily="2" charset="-122"/>
              </a:rPr>
              <a:t>歌一曲，暂凭</a:t>
            </a:r>
            <a:r>
              <a:rPr lang="en-US" altLang="zh-CN" sz="3200" b="1">
                <a:solidFill>
                  <a:srgbClr val="C00000"/>
                </a:solidFill>
                <a:latin typeface="宋体" panose="02010600030101010101" pitchFamily="2" charset="-122"/>
              </a:rPr>
              <a:t>/</a:t>
            </a:r>
            <a:r>
              <a:rPr lang="zh-CN" altLang="en-US" sz="3200" b="1">
                <a:solidFill>
                  <a:srgbClr val="000000"/>
                </a:solidFill>
                <a:latin typeface="宋体" panose="02010600030101010101" pitchFamily="2" charset="-122"/>
              </a:rPr>
              <a:t>杯酒</a:t>
            </a:r>
            <a:r>
              <a:rPr lang="en-US" altLang="zh-CN" sz="3200" b="1">
                <a:solidFill>
                  <a:srgbClr val="C00000"/>
                </a:solidFill>
                <a:latin typeface="宋体" panose="02010600030101010101" pitchFamily="2" charset="-122"/>
              </a:rPr>
              <a:t>/</a:t>
            </a:r>
            <a:r>
              <a:rPr lang="zh-CN" altLang="en-US" sz="3200" b="1">
                <a:solidFill>
                  <a:srgbClr val="000000"/>
                </a:solidFill>
                <a:latin typeface="宋体" panose="02010600030101010101" pitchFamily="2" charset="-122"/>
              </a:rPr>
              <a:t>长精神。</a:t>
            </a:r>
            <a:endParaRPr lang="zh-CN" altLang="en-US">
              <a:ea typeface="楷体" panose="02010609060101010101" pitchFamily="49"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a:spLocks noChangeArrowheads="1"/>
          </p:cNvSpPr>
          <p:nvPr/>
        </p:nvSpPr>
        <p:spPr bwMode="auto">
          <a:xfrm>
            <a:off x="499743" y="786658"/>
            <a:ext cx="3439798"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读出情感</a:t>
            </a:r>
            <a:endParaRPr lang="zh-CN" altLang="en-US"/>
          </a:p>
        </p:txBody>
      </p:sp>
      <p:sp>
        <p:nvSpPr>
          <p:cNvPr id="3" name="矩形 2"/>
          <p:cNvSpPr>
            <a:spLocks noChangeArrowheads="1"/>
          </p:cNvSpPr>
          <p:nvPr/>
        </p:nvSpPr>
        <p:spPr bwMode="auto">
          <a:xfrm>
            <a:off x="1069340" y="1503363"/>
            <a:ext cx="7404100" cy="2469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indent="8032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eaLnBrk="1" hangingPunct="1">
              <a:lnSpc>
                <a:spcPct val="130000"/>
              </a:lnSpc>
            </a:pPr>
            <a:r>
              <a:rPr lang="zh-CN" altLang="en-US" sz="3200" b="1">
                <a:latin typeface="楷体" panose="02010609060101010101" pitchFamily="49" charset="-122"/>
                <a:ea typeface="楷体" panose="02010609060101010101" pitchFamily="49" charset="-122"/>
              </a:rPr>
              <a:t>    这首诗的情感</a:t>
            </a:r>
            <a:r>
              <a:rPr lang="zh-CN" altLang="en-US" sz="3200" b="1">
                <a:solidFill>
                  <a:srgbClr val="C00000"/>
                </a:solidFill>
                <a:latin typeface="楷体" panose="02010609060101010101" pitchFamily="49" charset="-122"/>
                <a:ea typeface="楷体" panose="02010609060101010101" pitchFamily="49" charset="-122"/>
              </a:rPr>
              <a:t>沉郁中见豪放</a:t>
            </a:r>
            <a:r>
              <a:rPr lang="zh-CN" altLang="en-US" sz="3200" b="1">
                <a:latin typeface="楷体" panose="02010609060101010101" pitchFamily="49" charset="-122"/>
                <a:ea typeface="楷体" panose="02010609060101010101" pitchFamily="49" charset="-122"/>
              </a:rPr>
              <a:t>。朗读首联、颔联时语调宜舒缓沉重，颈联两句都是先低沉后昂扬，尾联节奏宜加快，读出语调由舒缓沉重到昂扬激越的变化。</a:t>
            </a:r>
            <a:endParaRPr lang="zh-CN" altLang="en-US">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322955" y="1803802"/>
            <a:ext cx="8498091" cy="2516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pPr>
            <a:r>
              <a:rPr lang="zh-CN" altLang="en-US" sz="2800" b="1">
                <a:solidFill>
                  <a:schemeClr val="accent6">
                    <a:lumMod val="50000"/>
                  </a:schemeClr>
                </a:solidFill>
                <a:latin typeface="楷体" panose="02010609060101010101" pitchFamily="49" charset="-122"/>
                <a:ea typeface="楷体" panose="02010609060101010101" pitchFamily="49" charset="-122"/>
              </a:rPr>
              <a:t>    巴山楚水这片荒远凄凉的地方，二十三年来我被朝廷贬谪在这里。怀念老友，只能徒然地吟诵</a:t>
            </a:r>
            <a:r>
              <a:rPr lang="en-US" altLang="zh-CN" sz="2800" b="1">
                <a:solidFill>
                  <a:schemeClr val="accent6">
                    <a:lumMod val="50000"/>
                  </a:schemeClr>
                </a:solidFill>
                <a:latin typeface="楷体" panose="02010609060101010101" pitchFamily="49" charset="-122"/>
                <a:ea typeface="楷体" panose="02010609060101010101" pitchFamily="49" charset="-122"/>
              </a:rPr>
              <a:t>《</a:t>
            </a:r>
            <a:r>
              <a:rPr lang="zh-CN" altLang="en-US" sz="2800" b="1">
                <a:solidFill>
                  <a:schemeClr val="accent6">
                    <a:lumMod val="50000"/>
                  </a:schemeClr>
                </a:solidFill>
                <a:latin typeface="楷体" panose="02010609060101010101" pitchFamily="49" charset="-122"/>
                <a:ea typeface="楷体" panose="02010609060101010101" pitchFamily="49" charset="-122"/>
              </a:rPr>
              <a:t>思旧赋</a:t>
            </a:r>
            <a:r>
              <a:rPr lang="en-US" altLang="zh-CN" sz="2800" b="1">
                <a:solidFill>
                  <a:schemeClr val="accent6">
                    <a:lumMod val="50000"/>
                  </a:schemeClr>
                </a:solidFill>
                <a:latin typeface="楷体" panose="02010609060101010101" pitchFamily="49" charset="-122"/>
                <a:ea typeface="楷体" panose="02010609060101010101" pitchFamily="49" charset="-122"/>
              </a:rPr>
              <a:t>》</a:t>
            </a:r>
            <a:r>
              <a:rPr lang="zh-CN" altLang="en-US" sz="2800" b="1">
                <a:solidFill>
                  <a:schemeClr val="accent6">
                    <a:lumMod val="50000"/>
                  </a:schemeClr>
                </a:solidFill>
                <a:latin typeface="楷体" panose="02010609060101010101" pitchFamily="49" charset="-122"/>
                <a:ea typeface="楷体" panose="02010609060101010101" pitchFamily="49" charset="-122"/>
              </a:rPr>
              <a:t>，久谪回到家乡，像王质一样感到恍如隔世。沉船旁边有千帆竞发，枯树前头有万木争春。今天听了你为我吟诵的诗篇，暂且借这一杯美酒振作精神。</a:t>
            </a:r>
            <a:endParaRPr lang="zh-CN" altLang="en-US" sz="2800">
              <a:solidFill>
                <a:schemeClr val="accent6">
                  <a:lumMod val="50000"/>
                </a:schemeClr>
              </a:solidFill>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322955" y="531322"/>
            <a:ext cx="8406652" cy="1126783"/>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sz="3000"/>
              <a:t>理解诗意。利用课下注释和工具书，读懂大意，用自己的话对诗歌的内容进行复述。</a:t>
            </a:r>
            <a:endParaRPr lang="zh-CN" altLang="en-US" sz="3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260" y="165447"/>
            <a:ext cx="8883882" cy="1135904"/>
            <a:chOff x="-6260" y="180687"/>
            <a:chExt cx="8883882" cy="1135904"/>
          </a:xfrm>
        </p:grpSpPr>
        <p:sp>
          <p:nvSpPr>
            <p:cNvPr id="6" name="文本框 5"/>
            <p:cNvSpPr txBox="1">
              <a:spLocks noChangeArrowheads="1"/>
            </p:cNvSpPr>
            <p:nvPr/>
          </p:nvSpPr>
          <p:spPr bwMode="auto">
            <a:xfrm>
              <a:off x="956742" y="274387"/>
              <a:ext cx="7920880"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目标任务三：咬文嚼字，理解诗人心境。</a:t>
              </a:r>
              <a:endParaRPr lang="zh-CN" altLang="en-US" sz="3200" b="1">
                <a:latin typeface="黑体" panose="02010609060101010101" pitchFamily="2" charset="-122"/>
                <a:ea typeface="黑体" panose="02010609060101010101" pitchFamily="2" charset="-122"/>
              </a:endParaRPr>
            </a:p>
          </p:txBody>
        </p:sp>
        <p:pic>
          <p:nvPicPr>
            <p:cNvPr id="7" name="图片 6"/>
            <p:cNvPicPr>
              <a:picLocks noChangeAspect="1"/>
            </p:cNvPicPr>
            <p:nvPr/>
          </p:nvPicPr>
          <p:blipFill>
            <a:blip r:embed="rId1"/>
            <a:stretch>
              <a:fillRect/>
            </a:stretch>
          </p:blipFill>
          <p:spPr>
            <a:xfrm>
              <a:off x="-6260" y="180687"/>
              <a:ext cx="1135904" cy="1135904"/>
            </a:xfrm>
            <a:prstGeom prst="rect">
              <a:avLst/>
            </a:prstGeom>
          </p:spPr>
        </p:pic>
      </p:grpSp>
      <p:sp>
        <p:nvSpPr>
          <p:cNvPr id="8" name="文本框 7"/>
          <p:cNvSpPr txBox="1">
            <a:spLocks noChangeArrowheads="1"/>
          </p:cNvSpPr>
          <p:nvPr/>
        </p:nvSpPr>
        <p:spPr bwMode="auto">
          <a:xfrm>
            <a:off x="360452" y="1025678"/>
            <a:ext cx="8479070" cy="1196033"/>
          </a:xfrm>
          <a:prstGeom prst="rect">
            <a:avLst/>
          </a:prstGeom>
          <a:noFill/>
          <a:ln>
            <a:noFill/>
          </a:ln>
          <a:extLst>
            <a:ext uri="{909E8E84-426E-40DD-AFC4-6F175D3DCCD1}">
              <a14:hiddenFill xmlns:a14="http://schemas.microsoft.com/office/drawing/2010/main">
                <a:blipFill>
                  <a:blip r:embed="rId2"/>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a:t>请从前四句诗中各找出一个最能体现诗人情感的词语，说说你的理解。</a:t>
            </a:r>
            <a:endParaRPr lang="zh-CN" altLang="en-US"/>
          </a:p>
        </p:txBody>
      </p:sp>
      <p:sp>
        <p:nvSpPr>
          <p:cNvPr id="9" name="矩形 8"/>
          <p:cNvSpPr>
            <a:spLocks noChangeArrowheads="1"/>
          </p:cNvSpPr>
          <p:nvPr/>
        </p:nvSpPr>
        <p:spPr bwMode="auto">
          <a:xfrm>
            <a:off x="939422" y="2279233"/>
            <a:ext cx="7701657" cy="2477153"/>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pPr>
            <a:r>
              <a:rPr lang="zh-CN" altLang="en-US" sz="3000" b="1">
                <a:solidFill>
                  <a:schemeClr val="accent6">
                    <a:lumMod val="50000"/>
                  </a:schemeClr>
                </a:solidFill>
                <a:latin typeface="楷体" panose="02010609060101010101" pitchFamily="49" charset="-122"/>
                <a:ea typeface="楷体" panose="02010609060101010101" pitchFamily="49" charset="-122"/>
              </a:rPr>
              <a:t>    “凄凉”：刘禹锡因“永贞革新”的失败而被贬官到朗州、连州、夔州、和州等“巴山楚水”的荒凉之地。“凄凉”一词，既写出了“巴山楚水”这些贬谪地的荒远偏僻，更是道出了诗人内心的抑郁悲凉。</a:t>
            </a:r>
            <a:endParaRPr lang="zh-CN" altLang="en-US" sz="3000">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rrowheads="1"/>
          </p:cNvSpPr>
          <p:nvPr/>
        </p:nvSpPr>
        <p:spPr bwMode="auto">
          <a:xfrm>
            <a:off x="657482" y="1129997"/>
            <a:ext cx="7975977" cy="2876172"/>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3200" b="1">
                <a:solidFill>
                  <a:schemeClr val="accent6">
                    <a:lumMod val="50000"/>
                  </a:schemeClr>
                </a:solidFill>
                <a:latin typeface="楷体" panose="02010609060101010101" pitchFamily="49" charset="-122"/>
                <a:ea typeface="楷体" panose="02010609060101010101" pitchFamily="49" charset="-122"/>
              </a:rPr>
              <a:t>    “弃置”：就是被抛弃，被放逐。诗人从</a:t>
            </a:r>
            <a:r>
              <a:rPr lang="en-US" altLang="zh-CN" sz="3200" b="1">
                <a:solidFill>
                  <a:schemeClr val="accent6">
                    <a:lumMod val="50000"/>
                  </a:schemeClr>
                </a:solidFill>
                <a:latin typeface="楷体" panose="02010609060101010101" pitchFamily="49" charset="-122"/>
                <a:ea typeface="楷体" panose="02010609060101010101" pitchFamily="49" charset="-122"/>
              </a:rPr>
              <a:t>805</a:t>
            </a:r>
            <a:r>
              <a:rPr lang="zh-CN" altLang="en-US" sz="3200" b="1">
                <a:solidFill>
                  <a:schemeClr val="accent6">
                    <a:lumMod val="50000"/>
                  </a:schemeClr>
                </a:solidFill>
                <a:latin typeface="楷体" panose="02010609060101010101" pitchFamily="49" charset="-122"/>
                <a:ea typeface="楷体" panose="02010609060101010101" pitchFamily="49" charset="-122"/>
              </a:rPr>
              <a:t>年“永贞革新”失败被贬谪，到写作这首诗歌时，已经将近二十三年。诗人感觉自己就像被朝廷抛弃了一样，内心中的酸楚与痛苦简直无法言传。</a:t>
            </a:r>
            <a:endParaRPr lang="zh-CN" altLang="en-US" sz="3200" b="1">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rrowheads="1"/>
          </p:cNvSpPr>
          <p:nvPr/>
        </p:nvSpPr>
        <p:spPr bwMode="auto">
          <a:xfrm>
            <a:off x="657482" y="838199"/>
            <a:ext cx="7975977" cy="3467103"/>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3200" b="1">
                <a:solidFill>
                  <a:schemeClr val="accent6">
                    <a:lumMod val="50000"/>
                  </a:schemeClr>
                </a:solidFill>
                <a:latin typeface="楷体" panose="02010609060101010101" pitchFamily="49" charset="-122"/>
                <a:ea typeface="楷体" panose="02010609060101010101" pitchFamily="49" charset="-122"/>
              </a:rPr>
              <a:t>    “空”：意为“徒劳地”，隐含诗人内心的无限悲痛怅惘以及知交零落的孤独感。</a:t>
            </a:r>
            <a:endParaRPr lang="zh-CN" altLang="en-US" sz="3200" b="1">
              <a:solidFill>
                <a:schemeClr val="accent6">
                  <a:lumMod val="50000"/>
                </a:schemeClr>
              </a:solidFill>
              <a:latin typeface="楷体" panose="02010609060101010101" pitchFamily="49" charset="-122"/>
              <a:ea typeface="楷体" panose="02010609060101010101" pitchFamily="49" charset="-122"/>
            </a:endParaRPr>
          </a:p>
          <a:p>
            <a:pPr eaLnBrk="1" hangingPunct="1">
              <a:lnSpc>
                <a:spcPct val="120000"/>
              </a:lnSpc>
            </a:pPr>
            <a:r>
              <a:rPr lang="zh-CN" altLang="en-US" sz="3200" b="1">
                <a:solidFill>
                  <a:schemeClr val="accent6">
                    <a:lumMod val="50000"/>
                  </a:schemeClr>
                </a:solidFill>
                <a:latin typeface="楷体" panose="02010609060101010101" pitchFamily="49" charset="-122"/>
                <a:ea typeface="楷体" panose="02010609060101010101" pitchFamily="49" charset="-122"/>
              </a:rPr>
              <a:t>    “翻”：意为“却，反而”，表现家乡变化之迅猛，写出了诗人暮年返乡，物是人非、恍若隔世的落寞苍凉之感，暗示自己被贬时间之长。</a:t>
            </a:r>
            <a:endParaRPr lang="zh-CN" altLang="en-US" sz="3200">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a:spLocks noChangeArrowheads="1"/>
          </p:cNvSpPr>
          <p:nvPr/>
        </p:nvSpPr>
        <p:spPr bwMode="auto">
          <a:xfrm>
            <a:off x="360452" y="804698"/>
            <a:ext cx="8479070" cy="1196033"/>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a:t>结合以上对字词的推敲，再读前四句诗，读出诗人前两联表达的情感。</a:t>
            </a:r>
            <a:endParaRPr lang="zh-CN" altLang="en-US"/>
          </a:p>
        </p:txBody>
      </p:sp>
      <p:sp>
        <p:nvSpPr>
          <p:cNvPr id="3" name="矩形 2"/>
          <p:cNvSpPr>
            <a:spLocks noChangeArrowheads="1"/>
          </p:cNvSpPr>
          <p:nvPr/>
        </p:nvSpPr>
        <p:spPr bwMode="auto">
          <a:xfrm>
            <a:off x="939423" y="2210653"/>
            <a:ext cx="7608832" cy="1694310"/>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3200" b="1">
                <a:solidFill>
                  <a:schemeClr val="accent6">
                    <a:lumMod val="50000"/>
                  </a:schemeClr>
                </a:solidFill>
                <a:latin typeface="楷体" panose="02010609060101010101" pitchFamily="49" charset="-122"/>
                <a:ea typeface="楷体" panose="02010609060101010101" pitchFamily="49" charset="-122"/>
              </a:rPr>
              <a:t>    通过推敲关键词语，我们从诗歌的前四句读出了巴山楚水的偏僻荒凉，读出了诗人对旧友的悼念、对人事变迁的怅惘。</a:t>
            </a:r>
            <a:endParaRPr lang="zh-CN" altLang="en-US" sz="3200">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a:spLocks noChangeArrowheads="1"/>
          </p:cNvSpPr>
          <p:nvPr/>
        </p:nvSpPr>
        <p:spPr bwMode="auto">
          <a:xfrm>
            <a:off x="360452" y="804698"/>
            <a:ext cx="8676868" cy="54072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sz="2800"/>
              <a:t>颔联运用了哪两个典故？其中蕴含着怎样的感情？</a:t>
            </a:r>
            <a:endParaRPr lang="zh-CN" altLang="en-US" sz="2800"/>
          </a:p>
        </p:txBody>
      </p:sp>
      <p:sp>
        <p:nvSpPr>
          <p:cNvPr id="3" name="矩形 2"/>
          <p:cNvSpPr>
            <a:spLocks noChangeArrowheads="1"/>
          </p:cNvSpPr>
          <p:nvPr/>
        </p:nvSpPr>
        <p:spPr bwMode="auto">
          <a:xfrm>
            <a:off x="360452" y="1601053"/>
            <a:ext cx="8311108" cy="2516651"/>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800" b="1">
                <a:solidFill>
                  <a:schemeClr val="accent6">
                    <a:lumMod val="50000"/>
                  </a:schemeClr>
                </a:solidFill>
                <a:latin typeface="楷体" panose="02010609060101010101" pitchFamily="49" charset="-122"/>
                <a:ea typeface="楷体" panose="02010609060101010101" pitchFamily="49" charset="-122"/>
              </a:rPr>
              <a:t>    向秀作赋的典故和王质烂柯的典故。“怀旧”句表达了对受迫害的故友王叔文、柳宗元等人的悼念和对统治者的不满，“到乡”句抒发了诗人对岁月流逝、人事变迁的感慨。既暗示了自己贬谪时间之长，又表现了世态的变迁以及回归之后悲痛怅惘的心情。</a:t>
            </a:r>
            <a:endParaRPr lang="zh-CN" altLang="en-US" sz="2800">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a:spLocks noChangeArrowheads="1"/>
          </p:cNvSpPr>
          <p:nvPr/>
        </p:nvSpPr>
        <p:spPr bwMode="auto">
          <a:xfrm>
            <a:off x="360452" y="812318"/>
            <a:ext cx="8425408" cy="1126783"/>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sz="3000"/>
              <a:t>请描述“沉舟侧畔千帆过，病树前头万木春”所展现出的画面，说说作者为什么要这样说。</a:t>
            </a:r>
            <a:endParaRPr lang="zh-CN" altLang="en-US" sz="3000"/>
          </a:p>
        </p:txBody>
      </p:sp>
      <p:sp>
        <p:nvSpPr>
          <p:cNvPr id="3" name="矩形 2"/>
          <p:cNvSpPr>
            <a:spLocks noChangeArrowheads="1"/>
          </p:cNvSpPr>
          <p:nvPr/>
        </p:nvSpPr>
        <p:spPr bwMode="auto">
          <a:xfrm>
            <a:off x="360452" y="2065873"/>
            <a:ext cx="8311108" cy="2285241"/>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3200" b="1">
                <a:solidFill>
                  <a:schemeClr val="accent6">
                    <a:lumMod val="50000"/>
                  </a:schemeClr>
                </a:solidFill>
                <a:latin typeface="楷体" panose="02010609060101010101" pitchFamily="49" charset="-122"/>
                <a:ea typeface="楷体" panose="02010609060101010101" pitchFamily="49" charset="-122"/>
              </a:rPr>
              <a:t>    波涛滚滚的大江之上，沉没的船只旁边，有成千上万的船只扬帆竞发；大自然中，枯死的树木前头有千千万万棵树木竞相争春，呈现出一派生机勃勃、欣欣向荣的景象。</a:t>
            </a:r>
            <a:endParaRPr lang="zh-CN" altLang="en-US" sz="3200">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rrowheads="1"/>
          </p:cNvSpPr>
          <p:nvPr/>
        </p:nvSpPr>
        <p:spPr bwMode="auto">
          <a:xfrm>
            <a:off x="584012" y="946529"/>
            <a:ext cx="7975977" cy="3250442"/>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3000" b="1">
                <a:solidFill>
                  <a:schemeClr val="accent6">
                    <a:lumMod val="50000"/>
                  </a:schemeClr>
                </a:solidFill>
                <a:latin typeface="楷体" panose="02010609060101010101" pitchFamily="49" charset="-122"/>
                <a:ea typeface="楷体" panose="02010609060101010101" pitchFamily="49" charset="-122"/>
              </a:rPr>
              <a:t>    诗人以“沉舟”“病树”自比，固然不无惆怅，但又以“千帆过”“万木春”比喻新生力量层出不穷，表现出对世事变迁和仕宦升沉的豁达洒脱，哀而不伤。在黑暗中看到光明，在逆境中寻找希望。作者心绪难平中不乏刚健昂扬之气，这种生命的坚持和坚强令人动容。</a:t>
            </a:r>
            <a:endParaRPr lang="zh-CN" altLang="en-US" sz="3000">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a:spLocks noChangeArrowheads="1"/>
          </p:cNvSpPr>
          <p:nvPr/>
        </p:nvSpPr>
        <p:spPr bwMode="auto">
          <a:xfrm>
            <a:off x="360452" y="812318"/>
            <a:ext cx="8425408" cy="1195712"/>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a:t>诵读后四句诗，体会诗人情感的变化。这种变化是通过哪些意象或词语表现出来的？</a:t>
            </a:r>
            <a:endParaRPr lang="zh-CN" altLang="en-US"/>
          </a:p>
        </p:txBody>
      </p:sp>
      <p:sp>
        <p:nvSpPr>
          <p:cNvPr id="3" name="矩形 2"/>
          <p:cNvSpPr>
            <a:spLocks noChangeArrowheads="1"/>
          </p:cNvSpPr>
          <p:nvPr/>
        </p:nvSpPr>
        <p:spPr bwMode="auto">
          <a:xfrm>
            <a:off x="360452" y="2187793"/>
            <a:ext cx="8311108" cy="2142446"/>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3000" b="1">
                <a:solidFill>
                  <a:schemeClr val="accent6">
                    <a:lumMod val="50000"/>
                  </a:schemeClr>
                </a:solidFill>
                <a:latin typeface="楷体" panose="02010609060101010101" pitchFamily="49" charset="-122"/>
                <a:ea typeface="楷体" panose="02010609060101010101" pitchFamily="49" charset="-122"/>
              </a:rPr>
              <a:t>    后四句从伤感转向豁达。“沉舟”和“病树”表现了作者难以平静的心绪。而“千帆过”“万木春”则表明诗人固然感到惆怅，却又相当达观，对世事的变迁和仕宦的升沉表现出豁达的襟怀。</a:t>
            </a:r>
            <a:endParaRPr lang="zh-CN" altLang="en-US" sz="3000">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a:spLocks noChangeArrowheads="1"/>
          </p:cNvSpPr>
          <p:nvPr/>
        </p:nvSpPr>
        <p:spPr bwMode="auto">
          <a:xfrm>
            <a:off x="360452" y="568478"/>
            <a:ext cx="8425408" cy="1786643"/>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a:t>诗的尾联说的是酒席上的事情，似乎写得很平淡，但其实是点睛之笔。同学们怎样理解诗句中的“长精神”三字？</a:t>
            </a:r>
            <a:endParaRPr lang="zh-CN" altLang="en-US"/>
          </a:p>
        </p:txBody>
      </p:sp>
      <p:sp>
        <p:nvSpPr>
          <p:cNvPr id="3" name="矩形 2"/>
          <p:cNvSpPr>
            <a:spLocks noChangeArrowheads="1"/>
          </p:cNvSpPr>
          <p:nvPr/>
        </p:nvSpPr>
        <p:spPr bwMode="auto">
          <a:xfrm>
            <a:off x="360452" y="2454493"/>
            <a:ext cx="8311108" cy="2142766"/>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en-US" altLang="zh-CN" sz="3000" b="1">
                <a:solidFill>
                  <a:schemeClr val="accent6">
                    <a:lumMod val="50000"/>
                  </a:schemeClr>
                </a:solidFill>
                <a:latin typeface="楷体" panose="02010609060101010101" pitchFamily="49" charset="-122"/>
                <a:ea typeface="楷体" panose="02010609060101010101" pitchFamily="49" charset="-122"/>
              </a:rPr>
              <a:t>    “</a:t>
            </a:r>
            <a:r>
              <a:rPr lang="zh-CN" altLang="en-US" sz="3000" b="1">
                <a:solidFill>
                  <a:schemeClr val="accent6">
                    <a:lumMod val="50000"/>
                  </a:schemeClr>
                </a:solidFill>
                <a:latin typeface="楷体" panose="02010609060101010101" pitchFamily="49" charset="-122"/>
                <a:ea typeface="楷体" panose="02010609060101010101" pitchFamily="49" charset="-122"/>
              </a:rPr>
              <a:t>长精神”，就是增长精神、振作精神。刘禹锡在朋友的热情关怀下，表示要振作起来，重新投入到生活中去。表现了诗人虽遭遇挫折而意志不衰，积极乐观的思想境界。</a:t>
            </a:r>
            <a:endParaRPr lang="zh-CN" altLang="en-US" sz="3000">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260" y="256887"/>
            <a:ext cx="8883882" cy="1135904"/>
            <a:chOff x="-6260" y="180687"/>
            <a:chExt cx="8883882" cy="1135904"/>
          </a:xfrm>
        </p:grpSpPr>
        <p:sp>
          <p:nvSpPr>
            <p:cNvPr id="3" name="文本框 2"/>
            <p:cNvSpPr txBox="1">
              <a:spLocks noChangeArrowheads="1"/>
            </p:cNvSpPr>
            <p:nvPr/>
          </p:nvSpPr>
          <p:spPr bwMode="auto">
            <a:xfrm>
              <a:off x="956742" y="274387"/>
              <a:ext cx="7920880"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目标任务四：赏析感悟，品味人生哲理。</a:t>
              </a:r>
              <a:endParaRPr lang="zh-CN" altLang="en-US" sz="3200" b="1">
                <a:latin typeface="黑体" panose="02010609060101010101" pitchFamily="2" charset="-122"/>
                <a:ea typeface="黑体" panose="02010609060101010101" pitchFamily="2" charset="-122"/>
              </a:endParaRPr>
            </a:p>
          </p:txBody>
        </p:sp>
        <p:pic>
          <p:nvPicPr>
            <p:cNvPr id="4" name="图片 3"/>
            <p:cNvPicPr>
              <a:picLocks noChangeAspect="1"/>
            </p:cNvPicPr>
            <p:nvPr/>
          </p:nvPicPr>
          <p:blipFill>
            <a:blip r:embed="rId1"/>
            <a:stretch>
              <a:fillRect/>
            </a:stretch>
          </p:blipFill>
          <p:spPr>
            <a:xfrm>
              <a:off x="-6260" y="180687"/>
              <a:ext cx="1135904" cy="1135904"/>
            </a:xfrm>
            <a:prstGeom prst="rect">
              <a:avLst/>
            </a:prstGeom>
          </p:spPr>
        </p:pic>
      </p:grpSp>
      <p:sp>
        <p:nvSpPr>
          <p:cNvPr id="5" name="文本框 4"/>
          <p:cNvSpPr txBox="1">
            <a:spLocks noChangeArrowheads="1"/>
          </p:cNvSpPr>
          <p:nvPr/>
        </p:nvSpPr>
        <p:spPr bwMode="auto">
          <a:xfrm>
            <a:off x="360451" y="1193318"/>
            <a:ext cx="8691269" cy="1195712"/>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a:t>颈联中的“沉舟”“千帆”“病树”“万木”有什么象征意义？</a:t>
            </a:r>
            <a:endParaRPr lang="zh-CN" altLang="en-US"/>
          </a:p>
        </p:txBody>
      </p:sp>
      <p:sp>
        <p:nvSpPr>
          <p:cNvPr id="6" name="矩形 5"/>
          <p:cNvSpPr>
            <a:spLocks noChangeArrowheads="1"/>
          </p:cNvSpPr>
          <p:nvPr/>
        </p:nvSpPr>
        <p:spPr bwMode="auto">
          <a:xfrm>
            <a:off x="939423" y="2600881"/>
            <a:ext cx="7608832" cy="1694310"/>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3200" b="1">
                <a:solidFill>
                  <a:schemeClr val="accent6">
                    <a:lumMod val="50000"/>
                  </a:schemeClr>
                </a:solidFill>
                <a:latin typeface="楷体" panose="02010609060101010101" pitchFamily="49" charset="-122"/>
                <a:ea typeface="楷体" panose="02010609060101010101" pitchFamily="49" charset="-122"/>
              </a:rPr>
              <a:t>    “沉舟”和“病树”象征诗人自己，“千帆”和“万木”象征着昂扬勃发的新事物。</a:t>
            </a:r>
            <a:endParaRPr lang="zh-CN" altLang="en-US" sz="3200">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a:spLocks noChangeArrowheads="1"/>
          </p:cNvSpPr>
          <p:nvPr/>
        </p:nvSpPr>
        <p:spPr bwMode="auto">
          <a:xfrm>
            <a:off x="360451" y="916481"/>
            <a:ext cx="8691269" cy="604781"/>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a:t>颈联中蕴含了什么哲理？</a:t>
            </a:r>
            <a:endParaRPr lang="zh-CN" altLang="en-US"/>
          </a:p>
        </p:txBody>
      </p:sp>
      <p:sp>
        <p:nvSpPr>
          <p:cNvPr id="6" name="矩形 5"/>
          <p:cNvSpPr>
            <a:spLocks noChangeArrowheads="1"/>
          </p:cNvSpPr>
          <p:nvPr/>
        </p:nvSpPr>
        <p:spPr bwMode="auto">
          <a:xfrm>
            <a:off x="905867" y="1787148"/>
            <a:ext cx="7608832" cy="2285562"/>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3200" b="1">
                <a:solidFill>
                  <a:schemeClr val="accent6">
                    <a:lumMod val="50000"/>
                  </a:schemeClr>
                </a:solidFill>
                <a:latin typeface="楷体" panose="02010609060101010101" pitchFamily="49" charset="-122"/>
                <a:ea typeface="楷体" panose="02010609060101010101" pitchFamily="49" charset="-122"/>
              </a:rPr>
              <a:t>    这两句诗中蕴含着一种新陈代谢的自然规律，常用来说明社会总是要向前发展的，新事物也必将取代旧事物，未来总是有希望的，前景将无限美好。</a:t>
            </a:r>
            <a:endParaRPr lang="zh-CN" altLang="en-US" sz="3200">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260" y="180687"/>
            <a:ext cx="6037944" cy="1135904"/>
            <a:chOff x="-6260" y="180687"/>
            <a:chExt cx="6037944" cy="1135904"/>
          </a:xfrm>
        </p:grpSpPr>
        <p:sp>
          <p:nvSpPr>
            <p:cNvPr id="3" name="文本框 2"/>
            <p:cNvSpPr txBox="1">
              <a:spLocks noChangeArrowheads="1"/>
            </p:cNvSpPr>
            <p:nvPr/>
          </p:nvSpPr>
          <p:spPr bwMode="auto">
            <a:xfrm>
              <a:off x="956742" y="274387"/>
              <a:ext cx="5074942"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目标任务五：联读赠诗。</a:t>
              </a:r>
              <a:endParaRPr lang="zh-CN" altLang="en-US" sz="3200" b="1">
                <a:latin typeface="黑体" panose="02010609060101010101" pitchFamily="2" charset="-122"/>
                <a:ea typeface="黑体" panose="02010609060101010101" pitchFamily="2" charset="-122"/>
              </a:endParaRPr>
            </a:p>
          </p:txBody>
        </p:sp>
        <p:pic>
          <p:nvPicPr>
            <p:cNvPr id="4" name="图片 3"/>
            <p:cNvPicPr>
              <a:picLocks noChangeAspect="1"/>
            </p:cNvPicPr>
            <p:nvPr/>
          </p:nvPicPr>
          <p:blipFill>
            <a:blip r:embed="rId1"/>
            <a:stretch>
              <a:fillRect/>
            </a:stretch>
          </p:blipFill>
          <p:spPr>
            <a:xfrm>
              <a:off x="-6260" y="180687"/>
              <a:ext cx="1135904" cy="1135904"/>
            </a:xfrm>
            <a:prstGeom prst="rect">
              <a:avLst/>
            </a:prstGeom>
          </p:spPr>
        </p:pic>
      </p:grpSp>
      <p:sp>
        <p:nvSpPr>
          <p:cNvPr id="5" name="文本框 4"/>
          <p:cNvSpPr txBox="1">
            <a:spLocks noChangeArrowheads="1"/>
          </p:cNvSpPr>
          <p:nvPr/>
        </p:nvSpPr>
        <p:spPr bwMode="auto">
          <a:xfrm>
            <a:off x="332465" y="1687270"/>
            <a:ext cx="8479070" cy="110953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10000"/>
              </a:lnSpc>
            </a:pPr>
            <a:r>
              <a:rPr lang="zh-CN" altLang="en-US"/>
              <a:t>理解诗意。朗读</a:t>
            </a:r>
            <a:r>
              <a:rPr lang="en-US" altLang="zh-CN"/>
              <a:t>《</a:t>
            </a:r>
            <a:r>
              <a:rPr lang="zh-CN" altLang="en-US"/>
              <a:t>醉赠刘二十八使君</a:t>
            </a:r>
            <a:r>
              <a:rPr lang="en-US" altLang="zh-CN"/>
              <a:t>》</a:t>
            </a:r>
            <a:r>
              <a:rPr lang="zh-CN" altLang="en-US"/>
              <a:t>一诗，感受大意。</a:t>
            </a:r>
            <a:endParaRPr lang="zh-CN" altLang="en-US"/>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a:spLocks noChangeArrowheads="1"/>
          </p:cNvSpPr>
          <p:nvPr/>
        </p:nvSpPr>
        <p:spPr bwMode="auto">
          <a:xfrm>
            <a:off x="600433" y="184654"/>
            <a:ext cx="3292060" cy="4774192"/>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marL="0" indent="0" algn="ctr">
              <a:lnSpc>
                <a:spcPct val="110000"/>
              </a:lnSpc>
              <a:buNone/>
            </a:pPr>
            <a:r>
              <a:rPr lang="zh-CN" altLang="en-US" sz="2800">
                <a:latin typeface="楷体" panose="02010609060101010101" pitchFamily="49" charset="-122"/>
                <a:ea typeface="楷体" panose="02010609060101010101" pitchFamily="49" charset="-122"/>
              </a:rPr>
              <a:t>醉赠刘二十八使君</a:t>
            </a:r>
            <a:endParaRPr lang="zh-CN" altLang="en-US" sz="2800" baseline="30000">
              <a:latin typeface="楷体" panose="02010609060101010101" pitchFamily="49" charset="-122"/>
              <a:ea typeface="楷体" panose="02010609060101010101" pitchFamily="49" charset="-122"/>
            </a:endParaRPr>
          </a:p>
          <a:p>
            <a:pPr marL="0" indent="0" algn="ctr">
              <a:lnSpc>
                <a:spcPct val="110000"/>
              </a:lnSpc>
              <a:buNone/>
            </a:pPr>
            <a:r>
              <a:rPr lang="zh-CN" altLang="en-US" sz="2800">
                <a:latin typeface="楷体" panose="02010609060101010101" pitchFamily="49" charset="-122"/>
                <a:ea typeface="楷体" panose="02010609060101010101" pitchFamily="49" charset="-122"/>
              </a:rPr>
              <a:t>白居易</a:t>
            </a:r>
            <a:endParaRPr lang="en-US" altLang="zh-CN" sz="2800">
              <a:latin typeface="楷体" panose="02010609060101010101" pitchFamily="49" charset="-122"/>
              <a:ea typeface="楷体" panose="02010609060101010101" pitchFamily="49" charset="-122"/>
            </a:endParaRPr>
          </a:p>
          <a:p>
            <a:pPr marL="0" indent="0" algn="ctr">
              <a:lnSpc>
                <a:spcPct val="110000"/>
              </a:lnSpc>
              <a:buNone/>
            </a:pPr>
            <a:r>
              <a:rPr lang="zh-CN" altLang="en-US" sz="2800">
                <a:latin typeface="楷体" panose="02010609060101010101" pitchFamily="49" charset="-122"/>
                <a:ea typeface="楷体" panose="02010609060101010101" pitchFamily="49" charset="-122"/>
              </a:rPr>
              <a:t>为我引杯添酒饮，与君把箸击盘歌。</a:t>
            </a:r>
            <a:endParaRPr lang="zh-CN" altLang="en-US" sz="2800">
              <a:latin typeface="楷体" panose="02010609060101010101" pitchFamily="49" charset="-122"/>
              <a:ea typeface="楷体" panose="02010609060101010101" pitchFamily="49" charset="-122"/>
            </a:endParaRPr>
          </a:p>
          <a:p>
            <a:pPr marL="0" indent="0" algn="ctr">
              <a:lnSpc>
                <a:spcPct val="110000"/>
              </a:lnSpc>
              <a:buNone/>
            </a:pPr>
            <a:r>
              <a:rPr lang="zh-CN" altLang="en-US" sz="2800">
                <a:latin typeface="楷体" panose="02010609060101010101" pitchFamily="49" charset="-122"/>
                <a:ea typeface="楷体" panose="02010609060101010101" pitchFamily="49" charset="-122"/>
              </a:rPr>
              <a:t>诗称国手徒为尔</a:t>
            </a:r>
            <a:r>
              <a:rPr lang="zh-CN" altLang="en-US" sz="2800" baseline="30000">
                <a:latin typeface="楷体" panose="02010609060101010101" pitchFamily="49" charset="-122"/>
                <a:ea typeface="楷体" panose="02010609060101010101" pitchFamily="49" charset="-122"/>
              </a:rPr>
              <a:t>①</a:t>
            </a:r>
            <a:r>
              <a:rPr lang="zh-CN" altLang="en-US" sz="2800">
                <a:latin typeface="楷体" panose="02010609060101010101" pitchFamily="49" charset="-122"/>
                <a:ea typeface="楷体" panose="02010609060101010101" pitchFamily="49" charset="-122"/>
              </a:rPr>
              <a:t>，命压人头不奈何</a:t>
            </a:r>
            <a:r>
              <a:rPr lang="zh-CN" altLang="en-US" sz="2800" baseline="30000">
                <a:latin typeface="楷体" panose="02010609060101010101" pitchFamily="49" charset="-122"/>
                <a:ea typeface="楷体" panose="02010609060101010101" pitchFamily="49" charset="-122"/>
              </a:rPr>
              <a:t>②</a:t>
            </a:r>
            <a:r>
              <a:rPr lang="zh-CN" altLang="en-US" sz="2800">
                <a:latin typeface="楷体" panose="02010609060101010101" pitchFamily="49" charset="-122"/>
                <a:ea typeface="楷体" panose="02010609060101010101" pitchFamily="49" charset="-122"/>
              </a:rPr>
              <a:t>。</a:t>
            </a:r>
            <a:endParaRPr lang="zh-CN" altLang="en-US" sz="2800">
              <a:latin typeface="楷体" panose="02010609060101010101" pitchFamily="49" charset="-122"/>
              <a:ea typeface="楷体" panose="02010609060101010101" pitchFamily="49" charset="-122"/>
            </a:endParaRPr>
          </a:p>
          <a:p>
            <a:pPr marL="0" indent="0" algn="ctr">
              <a:lnSpc>
                <a:spcPct val="110000"/>
              </a:lnSpc>
              <a:buNone/>
            </a:pPr>
            <a:r>
              <a:rPr lang="zh-CN" altLang="en-US" sz="2800">
                <a:latin typeface="楷体" panose="02010609060101010101" pitchFamily="49" charset="-122"/>
                <a:ea typeface="楷体" panose="02010609060101010101" pitchFamily="49" charset="-122"/>
              </a:rPr>
              <a:t>举眼风光</a:t>
            </a:r>
            <a:r>
              <a:rPr lang="zh-CN" altLang="en-US" sz="2800" baseline="30000">
                <a:latin typeface="楷体" panose="02010609060101010101" pitchFamily="49" charset="-122"/>
                <a:ea typeface="楷体" panose="02010609060101010101" pitchFamily="49" charset="-122"/>
              </a:rPr>
              <a:t>③</a:t>
            </a:r>
            <a:r>
              <a:rPr lang="zh-CN" altLang="en-US" sz="2800">
                <a:latin typeface="楷体" panose="02010609060101010101" pitchFamily="49" charset="-122"/>
                <a:ea typeface="楷体" panose="02010609060101010101" pitchFamily="49" charset="-122"/>
              </a:rPr>
              <a:t>长寂寞，满朝官职独蹉跎</a:t>
            </a:r>
            <a:r>
              <a:rPr lang="zh-CN" altLang="en-US" sz="2800" baseline="30000">
                <a:latin typeface="楷体" panose="02010609060101010101" pitchFamily="49" charset="-122"/>
                <a:ea typeface="楷体" panose="02010609060101010101" pitchFamily="49" charset="-122"/>
              </a:rPr>
              <a:t>④</a:t>
            </a:r>
            <a:r>
              <a:rPr lang="zh-CN" altLang="en-US" sz="2800">
                <a:latin typeface="楷体" panose="02010609060101010101" pitchFamily="49" charset="-122"/>
                <a:ea typeface="楷体" panose="02010609060101010101" pitchFamily="49" charset="-122"/>
              </a:rPr>
              <a:t>。</a:t>
            </a:r>
            <a:endParaRPr lang="zh-CN" altLang="en-US" sz="2800">
              <a:latin typeface="楷体" panose="02010609060101010101" pitchFamily="49" charset="-122"/>
              <a:ea typeface="楷体" panose="02010609060101010101" pitchFamily="49" charset="-122"/>
            </a:endParaRPr>
          </a:p>
          <a:p>
            <a:pPr marL="0" indent="0" algn="ctr">
              <a:lnSpc>
                <a:spcPct val="110000"/>
              </a:lnSpc>
              <a:buNone/>
            </a:pPr>
            <a:r>
              <a:rPr lang="zh-CN" altLang="en-US" sz="2800">
                <a:latin typeface="楷体" panose="02010609060101010101" pitchFamily="49" charset="-122"/>
                <a:ea typeface="楷体" panose="02010609060101010101" pitchFamily="49" charset="-122"/>
              </a:rPr>
              <a:t>亦知合被才名折</a:t>
            </a:r>
            <a:r>
              <a:rPr lang="zh-CN" altLang="en-US" sz="2800" baseline="30000">
                <a:latin typeface="楷体" panose="02010609060101010101" pitchFamily="49" charset="-122"/>
                <a:ea typeface="楷体" panose="02010609060101010101" pitchFamily="49" charset="-122"/>
              </a:rPr>
              <a:t>⑤</a:t>
            </a:r>
            <a:r>
              <a:rPr lang="zh-CN" altLang="en-US" sz="2800">
                <a:latin typeface="楷体" panose="02010609060101010101" pitchFamily="49" charset="-122"/>
                <a:ea typeface="楷体" panose="02010609060101010101" pitchFamily="49" charset="-122"/>
              </a:rPr>
              <a:t>，二十三年折太多。</a:t>
            </a:r>
            <a:endParaRPr lang="zh-CN" altLang="en-US" sz="2800">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4075502" y="620309"/>
            <a:ext cx="4724549" cy="402225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marL="0" indent="0">
              <a:lnSpc>
                <a:spcPct val="120000"/>
              </a:lnSpc>
              <a:buNone/>
            </a:pPr>
            <a:r>
              <a:rPr lang="en-US" altLang="zh-CN" sz="2400">
                <a:latin typeface="楷体" panose="02010609060101010101" pitchFamily="49" charset="-122"/>
                <a:ea typeface="楷体" panose="02010609060101010101" pitchFamily="49" charset="-122"/>
              </a:rPr>
              <a:t>【</a:t>
            </a:r>
            <a:r>
              <a:rPr lang="zh-CN" altLang="en-US" sz="2400">
                <a:latin typeface="楷体" panose="02010609060101010101" pitchFamily="49" charset="-122"/>
                <a:ea typeface="楷体" panose="02010609060101010101" pitchFamily="49" charset="-122"/>
              </a:rPr>
              <a:t>注释</a:t>
            </a:r>
            <a:r>
              <a:rPr lang="en-US" altLang="zh-CN" sz="2400">
                <a:latin typeface="楷体" panose="02010609060101010101" pitchFamily="49" charset="-122"/>
                <a:ea typeface="楷体" panose="02010609060101010101" pitchFamily="49" charset="-122"/>
              </a:rPr>
              <a:t>】</a:t>
            </a:r>
            <a:endParaRPr lang="en-US" altLang="zh-CN" sz="2400">
              <a:latin typeface="楷体" panose="02010609060101010101" pitchFamily="49" charset="-122"/>
              <a:ea typeface="楷体" panose="02010609060101010101" pitchFamily="49" charset="-122"/>
            </a:endParaRPr>
          </a:p>
          <a:p>
            <a:pPr marL="0" indent="0">
              <a:lnSpc>
                <a:spcPct val="120000"/>
              </a:lnSpc>
              <a:buNone/>
            </a:pPr>
            <a:r>
              <a:rPr lang="en-US" altLang="zh-CN" sz="2400">
                <a:latin typeface="楷体" panose="02010609060101010101" pitchFamily="49" charset="-122"/>
                <a:ea typeface="楷体" panose="02010609060101010101" pitchFamily="49" charset="-122"/>
              </a:rPr>
              <a:t>①</a:t>
            </a:r>
            <a:r>
              <a:rPr lang="zh-CN" altLang="en-US" sz="2400">
                <a:latin typeface="楷体" panose="02010609060101010101" pitchFamily="49" charset="-122"/>
                <a:ea typeface="楷体" panose="02010609060101010101" pitchFamily="49" charset="-122"/>
              </a:rPr>
              <a:t>徒为尔：只不过是这样，指刘禹锡的坎坷遭遇。</a:t>
            </a:r>
            <a:endParaRPr lang="en-US" altLang="zh-CN" sz="2400">
              <a:latin typeface="楷体" panose="02010609060101010101" pitchFamily="49" charset="-122"/>
              <a:ea typeface="楷体" panose="02010609060101010101" pitchFamily="49" charset="-122"/>
            </a:endParaRPr>
          </a:p>
          <a:p>
            <a:pPr marL="0" indent="0">
              <a:lnSpc>
                <a:spcPct val="120000"/>
              </a:lnSpc>
              <a:buNone/>
            </a:pPr>
            <a:r>
              <a:rPr lang="zh-CN" altLang="en-US" sz="2400">
                <a:latin typeface="楷体" panose="02010609060101010101" pitchFamily="49" charset="-122"/>
                <a:ea typeface="楷体" panose="02010609060101010101" pitchFamily="49" charset="-122"/>
              </a:rPr>
              <a:t>②不奈何：无可奈何，没有办法。</a:t>
            </a:r>
            <a:endParaRPr lang="en-US" altLang="zh-CN" sz="2400">
              <a:latin typeface="楷体" panose="02010609060101010101" pitchFamily="49" charset="-122"/>
              <a:ea typeface="楷体" panose="02010609060101010101" pitchFamily="49" charset="-122"/>
            </a:endParaRPr>
          </a:p>
          <a:p>
            <a:pPr marL="0" indent="0">
              <a:lnSpc>
                <a:spcPct val="120000"/>
              </a:lnSpc>
              <a:buNone/>
            </a:pPr>
            <a:r>
              <a:rPr lang="zh-CN" altLang="en-US" sz="2400">
                <a:latin typeface="楷体" panose="02010609060101010101" pitchFamily="49" charset="-122"/>
                <a:ea typeface="楷体" panose="02010609060101010101" pitchFamily="49" charset="-122"/>
              </a:rPr>
              <a:t>③风光：指许多同辈的人都高升了，暗指下句的“满朝官职”。</a:t>
            </a:r>
            <a:endParaRPr lang="en-US" altLang="zh-CN" sz="2400">
              <a:latin typeface="楷体" panose="02010609060101010101" pitchFamily="49" charset="-122"/>
              <a:ea typeface="楷体" panose="02010609060101010101" pitchFamily="49" charset="-122"/>
            </a:endParaRPr>
          </a:p>
          <a:p>
            <a:pPr marL="0" indent="0">
              <a:lnSpc>
                <a:spcPct val="120000"/>
              </a:lnSpc>
              <a:buNone/>
            </a:pPr>
            <a:r>
              <a:rPr lang="zh-CN" altLang="en-US" sz="2400">
                <a:latin typeface="楷体" panose="02010609060101010101" pitchFamily="49" charset="-122"/>
                <a:ea typeface="楷体" panose="02010609060101010101" pitchFamily="49" charset="-122"/>
              </a:rPr>
              <a:t>④蹉跎：失意，虚度光阴。</a:t>
            </a:r>
            <a:endParaRPr lang="en-US" altLang="zh-CN" sz="2400">
              <a:latin typeface="楷体" panose="02010609060101010101" pitchFamily="49" charset="-122"/>
              <a:ea typeface="楷体" panose="02010609060101010101" pitchFamily="49" charset="-122"/>
            </a:endParaRPr>
          </a:p>
          <a:p>
            <a:pPr marL="0" indent="0">
              <a:lnSpc>
                <a:spcPct val="120000"/>
              </a:lnSpc>
              <a:buNone/>
            </a:pPr>
            <a:r>
              <a:rPr lang="zh-CN" altLang="en-US" sz="2400">
                <a:latin typeface="楷体" panose="02010609060101010101" pitchFamily="49" charset="-122"/>
                <a:ea typeface="楷体" panose="02010609060101010101" pitchFamily="49" charset="-122"/>
              </a:rPr>
              <a:t>⑤合被才名折：意思是因才名太高而遭到不幸。折，挫折、摧残。</a:t>
            </a:r>
            <a:endParaRPr lang="zh-CN" altLang="en-US" sz="2400">
              <a:latin typeface="楷体" panose="02010609060101010101" pitchFamily="49" charset="-122"/>
              <a:ea typeface="楷体" panose="02010609060101010101" pitchFamily="49"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488655" y="513719"/>
            <a:ext cx="8166691" cy="4116063"/>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3000" b="1">
                <a:solidFill>
                  <a:schemeClr val="accent6">
                    <a:lumMod val="50000"/>
                  </a:schemeClr>
                </a:solidFill>
                <a:latin typeface="楷体" panose="02010609060101010101" pitchFamily="49" charset="-122"/>
                <a:ea typeface="楷体" panose="02010609060101010101" pitchFamily="49" charset="-122"/>
              </a:rPr>
              <a:t>    大意：你为我举杯斟酒同饮共醉，我为你拿起筷子击盘吟诗。可惜你写诗才华堪称国手也是徒然无用，命运不由人，出不了头谁都无可奈何。放眼望去处处风光你却长守寂寞，满朝文武个个升官你却独自蹉跎。我也深知你才高名重，遭遇点不幸不算什么，但是二十三年的不幸损失实在是太多太多了。</a:t>
            </a:r>
            <a:endParaRPr lang="zh-CN" altLang="en-US" sz="3000" b="1">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a:spLocks noChangeArrowheads="1"/>
          </p:cNvSpPr>
          <p:nvPr/>
        </p:nvSpPr>
        <p:spPr bwMode="auto">
          <a:xfrm>
            <a:off x="188566" y="524463"/>
            <a:ext cx="8682880" cy="988797"/>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sz="2600"/>
              <a:t>比较阅读。</a:t>
            </a:r>
            <a:r>
              <a:rPr lang="en-US" altLang="zh-CN" sz="2600"/>
              <a:t>《</a:t>
            </a:r>
            <a:r>
              <a:rPr lang="zh-CN" altLang="en-US" sz="2600"/>
              <a:t>醉赠刘二十八使君</a:t>
            </a:r>
            <a:r>
              <a:rPr lang="en-US" altLang="zh-CN" sz="2600"/>
              <a:t>》</a:t>
            </a:r>
            <a:r>
              <a:rPr lang="zh-CN" altLang="en-US" sz="2600"/>
              <a:t>一诗与刘禹锡的</a:t>
            </a:r>
            <a:r>
              <a:rPr lang="en-US" altLang="zh-CN" sz="2600"/>
              <a:t>《</a:t>
            </a:r>
            <a:r>
              <a:rPr lang="zh-CN" altLang="en-US" sz="2600"/>
              <a:t>酬乐天扬州初逢席上见赠</a:t>
            </a:r>
            <a:r>
              <a:rPr lang="en-US" altLang="zh-CN" sz="2600"/>
              <a:t>》</a:t>
            </a:r>
            <a:r>
              <a:rPr lang="zh-CN" altLang="en-US" sz="2600"/>
              <a:t>在情感格调上有何异同？</a:t>
            </a:r>
            <a:endParaRPr lang="zh-CN" altLang="en-US" sz="2600"/>
          </a:p>
        </p:txBody>
      </p:sp>
      <p:graphicFrame>
        <p:nvGraphicFramePr>
          <p:cNvPr id="2" name="表格 2"/>
          <p:cNvGraphicFramePr>
            <a:graphicFrameLocks noGrp="1"/>
          </p:cNvGraphicFramePr>
          <p:nvPr/>
        </p:nvGraphicFramePr>
        <p:xfrm>
          <a:off x="739716" y="1592873"/>
          <a:ext cx="7994709" cy="3108849"/>
        </p:xfrm>
        <a:graphic>
          <a:graphicData uri="http://schemas.openxmlformats.org/drawingml/2006/table">
            <a:tbl>
              <a:tblPr firstRow="1" bandRow="1">
                <a:tableStyleId>{073A0DAA-6AF3-43AB-8588-CEC1D06C72B9}</a:tableStyleId>
              </a:tblPr>
              <a:tblGrid>
                <a:gridCol w="817193"/>
                <a:gridCol w="7177516"/>
              </a:tblGrid>
              <a:tr h="1036283">
                <a:tc>
                  <a:txBody>
                    <a:bodyPr wrap="square"/>
                    <a:lstStyle/>
                    <a:p>
                      <a:pPr algn="ctr"/>
                      <a:r>
                        <a:rPr lang="zh-CN" altLang="en-US" sz="2400" b="1">
                          <a:solidFill>
                            <a:schemeClr val="tx1"/>
                          </a:solidFill>
                        </a:rPr>
                        <a:t>同</a:t>
                      </a:r>
                      <a:endParaRPr lang="zh-CN" altLang="en-US" sz="2400" b="1">
                        <a:solidFill>
                          <a:schemeClr val="tx1"/>
                        </a:solidFill>
                      </a:endParaRPr>
                    </a:p>
                  </a:txBody>
                  <a:tcPr vert="horz" anchor="ctr">
                    <a:solidFill>
                      <a:srgbClr val="E7E7E7"/>
                    </a:solidFill>
                  </a:tcPr>
                </a:tc>
                <a:tc>
                  <a:txBody>
                    <a:bodyPr wrap="square"/>
                    <a:lstStyle/>
                    <a:p>
                      <a:pPr algn="ctr"/>
                      <a:endParaRPr lang="zh-CN" altLang="en-US" sz="2400" b="1">
                        <a:solidFill>
                          <a:schemeClr val="tx1"/>
                        </a:solidFill>
                      </a:endParaRPr>
                    </a:p>
                  </a:txBody>
                  <a:tcPr vert="horz" anchor="ctr">
                    <a:solidFill>
                      <a:srgbClr val="E7E7E7"/>
                    </a:solidFill>
                  </a:tcPr>
                </a:tc>
              </a:tr>
              <a:tr h="1036283">
                <a:tc rowSpan="2">
                  <a:txBody>
                    <a:bodyPr wrap="square"/>
                    <a:lstStyle/>
                    <a:p>
                      <a:pPr algn="ctr"/>
                      <a:r>
                        <a:rPr lang="zh-CN" altLang="en-US" sz="2400" b="1">
                          <a:solidFill>
                            <a:schemeClr val="tx1"/>
                          </a:solidFill>
                        </a:rPr>
                        <a:t>异</a:t>
                      </a:r>
                      <a:endParaRPr lang="zh-CN" altLang="en-US" sz="2400" b="1">
                        <a:solidFill>
                          <a:schemeClr val="tx1"/>
                        </a:solidFill>
                      </a:endParaRPr>
                    </a:p>
                  </a:txBody>
                  <a:tcPr vert="horz" anchor="ctr"/>
                </a:tc>
                <a:tc>
                  <a:txBody>
                    <a:bodyPr wrap="square"/>
                    <a:lstStyle/>
                    <a:p>
                      <a:pPr algn="ctr"/>
                      <a:endParaRPr lang="zh-CN" altLang="en-US" sz="2400" b="1">
                        <a:solidFill>
                          <a:schemeClr val="tx1"/>
                        </a:solidFill>
                      </a:endParaRPr>
                    </a:p>
                  </a:txBody>
                  <a:tcPr vert="horz" anchor="ctr"/>
                </a:tc>
              </a:tr>
              <a:tr h="1036283">
                <a:tc vMerge="1">
                  <a:tcPr/>
                </a:tc>
                <a:tc>
                  <a:txBody>
                    <a:bodyPr wrap="square"/>
                    <a:lstStyle/>
                    <a:p>
                      <a:pPr algn="ctr"/>
                      <a:endParaRPr lang="zh-CN" altLang="en-US" sz="2400" b="1">
                        <a:solidFill>
                          <a:schemeClr val="tx1"/>
                        </a:solidFill>
                      </a:endParaRPr>
                    </a:p>
                  </a:txBody>
                  <a:tcPr vert="horz" anchor="ctr"/>
                </a:tc>
              </a:tr>
            </a:tbl>
          </a:graphicData>
        </a:graphic>
      </p:graphicFrame>
      <p:sp>
        <p:nvSpPr>
          <p:cNvPr id="7" name="矩形 6"/>
          <p:cNvSpPr>
            <a:spLocks noChangeArrowheads="1"/>
          </p:cNvSpPr>
          <p:nvPr/>
        </p:nvSpPr>
        <p:spPr bwMode="auto">
          <a:xfrm>
            <a:off x="1663372" y="1659548"/>
            <a:ext cx="7023425" cy="861774"/>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C00000"/>
                </a:solidFill>
                <a:latin typeface="楷体" panose="02010609060101010101" pitchFamily="49" charset="-122"/>
                <a:ea typeface="楷体" panose="02010609060101010101" pitchFamily="49" charset="-122"/>
              </a:rPr>
              <a:t>都对刘禹锡被贬谪、遭弃置的境遇表达了无限感慨和愤懑不平。</a:t>
            </a:r>
            <a:endParaRPr lang="zh-CN" altLang="en-US" sz="2800" b="1">
              <a:solidFill>
                <a:srgbClr val="C00000"/>
              </a:solidFill>
              <a:latin typeface="楷体" panose="02010609060101010101" pitchFamily="49" charset="-122"/>
              <a:ea typeface="楷体" panose="02010609060101010101" pitchFamily="49" charset="-122"/>
            </a:endParaRPr>
          </a:p>
        </p:txBody>
      </p:sp>
      <p:sp>
        <p:nvSpPr>
          <p:cNvPr id="8" name="矩形 7"/>
          <p:cNvSpPr>
            <a:spLocks noChangeArrowheads="1"/>
          </p:cNvSpPr>
          <p:nvPr/>
        </p:nvSpPr>
        <p:spPr bwMode="auto">
          <a:xfrm>
            <a:off x="1663372" y="2727909"/>
            <a:ext cx="7023426" cy="861774"/>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C00000"/>
                </a:solidFill>
                <a:latin typeface="楷体" panose="02010609060101010101" pitchFamily="49" charset="-122"/>
                <a:ea typeface="楷体" panose="02010609060101010101" pitchFamily="49" charset="-122"/>
              </a:rPr>
              <a:t>白诗高度赞叹了刘禹锡的才华，也表达了对当权者和无为者的讽刺。</a:t>
            </a:r>
            <a:endParaRPr lang="zh-CN" altLang="en-US" sz="2800" b="1">
              <a:solidFill>
                <a:srgbClr val="C00000"/>
              </a:solidFill>
              <a:latin typeface="楷体" panose="02010609060101010101" pitchFamily="49" charset="-122"/>
              <a:ea typeface="楷体" panose="02010609060101010101" pitchFamily="49" charset="-122"/>
            </a:endParaRPr>
          </a:p>
        </p:txBody>
      </p:sp>
      <p:sp>
        <p:nvSpPr>
          <p:cNvPr id="9" name="矩形 8"/>
          <p:cNvSpPr>
            <a:spLocks noChangeArrowheads="1"/>
          </p:cNvSpPr>
          <p:nvPr/>
        </p:nvSpPr>
        <p:spPr bwMode="auto">
          <a:xfrm>
            <a:off x="1663372" y="3748645"/>
            <a:ext cx="7023427" cy="861774"/>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C00000"/>
                </a:solidFill>
                <a:latin typeface="楷体" panose="02010609060101010101" pitchFamily="49" charset="-122"/>
                <a:ea typeface="楷体" panose="02010609060101010101" pitchFamily="49" charset="-122"/>
              </a:rPr>
              <a:t>刘诗在白诗上翻出新意，表现了其坦荡的胸襟和自强不息的进取精神，与白居易共勉。</a:t>
            </a:r>
            <a:endParaRPr lang="zh-CN" altLang="en-US" sz="2800" b="1">
              <a:solidFill>
                <a:srgbClr val="C0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260" y="345787"/>
            <a:ext cx="3126831" cy="1135904"/>
            <a:chOff x="-6260" y="180687"/>
            <a:chExt cx="3126831" cy="1135904"/>
          </a:xfrm>
        </p:grpSpPr>
        <p:sp>
          <p:nvSpPr>
            <p:cNvPr id="3" name="文本框 2"/>
            <p:cNvSpPr txBox="1">
              <a:spLocks noChangeArrowheads="1"/>
            </p:cNvSpPr>
            <p:nvPr/>
          </p:nvSpPr>
          <p:spPr bwMode="auto">
            <a:xfrm>
              <a:off x="956742" y="274387"/>
              <a:ext cx="2163829"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课堂小结</a:t>
              </a:r>
              <a:endParaRPr lang="zh-CN" altLang="en-US" sz="3200" b="1">
                <a:latin typeface="黑体" panose="02010609060101010101" pitchFamily="2" charset="-122"/>
                <a:ea typeface="黑体" panose="02010609060101010101" pitchFamily="2" charset="-122"/>
              </a:endParaRPr>
            </a:p>
          </p:txBody>
        </p:sp>
        <p:pic>
          <p:nvPicPr>
            <p:cNvPr id="4" name="图片 3"/>
            <p:cNvPicPr>
              <a:picLocks noChangeAspect="1"/>
            </p:cNvPicPr>
            <p:nvPr/>
          </p:nvPicPr>
          <p:blipFill>
            <a:blip r:embed="rId1"/>
            <a:stretch>
              <a:fillRect/>
            </a:stretch>
          </p:blipFill>
          <p:spPr>
            <a:xfrm>
              <a:off x="-6260" y="180687"/>
              <a:ext cx="1135904" cy="1135904"/>
            </a:xfrm>
            <a:prstGeom prst="rect">
              <a:avLst/>
            </a:prstGeom>
          </p:spPr>
        </p:pic>
      </p:grpSp>
      <p:sp>
        <p:nvSpPr>
          <p:cNvPr id="5" name="矩形 4"/>
          <p:cNvSpPr>
            <a:spLocks noChangeArrowheads="1"/>
          </p:cNvSpPr>
          <p:nvPr/>
        </p:nvSpPr>
        <p:spPr bwMode="auto">
          <a:xfrm>
            <a:off x="488655" y="1266283"/>
            <a:ext cx="8166691" cy="2915735"/>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3000" b="1">
                <a:latin typeface="楷体" panose="02010609060101010101" pitchFamily="49" charset="-122"/>
                <a:ea typeface="楷体" panose="02010609060101010101" pitchFamily="49" charset="-122"/>
              </a:rPr>
              <a:t>    本节课我们读懂了诗歌内容，理清了诗人从抑郁悲凉到豁达昂扬的情感脉络，感受到诗人的“诗豪”风骨，也品味出新事物必将取代旧事物的哲理，领悟到诗人身处逆境仍坚守希望、积极进取的人生态度，这种精神至今仍熠熠生辉。</a:t>
            </a:r>
            <a:endParaRPr lang="en-US" altLang="zh-CN" sz="3000" b="1">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角 16"/>
          <p:cNvSpPr/>
          <p:nvPr/>
        </p:nvSpPr>
        <p:spPr bwMode="auto">
          <a:xfrm>
            <a:off x="1348216" y="1689749"/>
            <a:ext cx="3019504" cy="458829"/>
          </a:xfrm>
          <a:prstGeom prst="roundRect">
            <a:avLst/>
          </a:prstGeom>
          <a:solidFill>
            <a:srgbClr val="E5F6FD"/>
          </a:solidFill>
          <a:ln w="19050">
            <a:noFill/>
            <a:prstDash val="sysDash"/>
            <a:miter lim="800000"/>
          </a:ln>
        </p:spPr>
        <p:txBody>
          <a:bodyPr lIns="0" tIns="0" rIns="0" bIns="0" rtlCol="0" anchor="ctr">
            <a:noAutofit/>
          </a:bodyPr>
          <a:lstStyle/>
          <a:p>
            <a:pPr algn="ctr" eaLnBrk="1" hangingPunct="1">
              <a:lnSpc>
                <a:spcPct val="120000"/>
              </a:lnSpc>
            </a:pPr>
            <a:r>
              <a:rPr lang="zh-CN" altLang="en-US" sz="2400" b="1">
                <a:latin typeface="楷体" panose="02010609060101010101" pitchFamily="49" charset="-122"/>
                <a:ea typeface="楷体" panose="02010609060101010101" pitchFamily="49" charset="-122"/>
              </a:rPr>
              <a:t>长期被贬，境遇坎坷</a:t>
            </a:r>
            <a:endParaRPr lang="zh-CN" altLang="en-US" sz="2600" b="1">
              <a:latin typeface="楷体" panose="02010609060101010101" pitchFamily="49" charset="-122"/>
              <a:ea typeface="楷体" panose="02010609060101010101" pitchFamily="49" charset="-122"/>
            </a:endParaRPr>
          </a:p>
        </p:txBody>
      </p:sp>
      <p:grpSp>
        <p:nvGrpSpPr>
          <p:cNvPr id="2" name="组合 1"/>
          <p:cNvGrpSpPr/>
          <p:nvPr/>
        </p:nvGrpSpPr>
        <p:grpSpPr>
          <a:xfrm>
            <a:off x="-6260" y="180687"/>
            <a:ext cx="3126831" cy="1135904"/>
            <a:chOff x="-6260" y="180687"/>
            <a:chExt cx="3126831" cy="1135904"/>
          </a:xfrm>
        </p:grpSpPr>
        <p:sp>
          <p:nvSpPr>
            <p:cNvPr id="3" name="文本框 2"/>
            <p:cNvSpPr txBox="1">
              <a:spLocks noChangeArrowheads="1"/>
            </p:cNvSpPr>
            <p:nvPr/>
          </p:nvSpPr>
          <p:spPr bwMode="auto">
            <a:xfrm>
              <a:off x="956742" y="274387"/>
              <a:ext cx="2163829"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板书设计</a:t>
              </a:r>
              <a:endParaRPr lang="zh-CN" altLang="en-US" sz="3200" b="1">
                <a:latin typeface="黑体" panose="02010609060101010101" pitchFamily="2" charset="-122"/>
                <a:ea typeface="黑体" panose="02010609060101010101" pitchFamily="2" charset="-122"/>
              </a:endParaRPr>
            </a:p>
          </p:txBody>
        </p:sp>
        <p:pic>
          <p:nvPicPr>
            <p:cNvPr id="4" name="图片 3"/>
            <p:cNvPicPr>
              <a:picLocks noChangeAspect="1"/>
            </p:cNvPicPr>
            <p:nvPr/>
          </p:nvPicPr>
          <p:blipFill>
            <a:blip r:embed="rId1"/>
            <a:stretch>
              <a:fillRect/>
            </a:stretch>
          </p:blipFill>
          <p:spPr>
            <a:xfrm>
              <a:off x="-6260" y="180687"/>
              <a:ext cx="1135904" cy="1135904"/>
            </a:xfrm>
            <a:prstGeom prst="rect">
              <a:avLst/>
            </a:prstGeom>
          </p:spPr>
        </p:pic>
      </p:grpSp>
      <p:sp>
        <p:nvSpPr>
          <p:cNvPr id="11" name="TextBox 7"/>
          <p:cNvSpPr txBox="1">
            <a:spLocks noChangeArrowheads="1"/>
          </p:cNvSpPr>
          <p:nvPr/>
        </p:nvSpPr>
        <p:spPr bwMode="auto">
          <a:xfrm>
            <a:off x="5053519" y="1684484"/>
            <a:ext cx="2871136" cy="469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600" b="1">
                <a:latin typeface="楷体" panose="02010609060101010101" pitchFamily="49" charset="-122"/>
                <a:ea typeface="楷体" panose="02010609060101010101" pitchFamily="49" charset="-122"/>
              </a:rPr>
              <a:t>渲染（辛酸悲凉）</a:t>
            </a:r>
            <a:endParaRPr lang="zh-CN" altLang="en-US" sz="2600" b="1">
              <a:latin typeface="楷体" panose="02010609060101010101" pitchFamily="49" charset="-122"/>
              <a:ea typeface="楷体" panose="02010609060101010101" pitchFamily="49" charset="-122"/>
            </a:endParaRPr>
          </a:p>
        </p:txBody>
      </p:sp>
      <p:sp>
        <p:nvSpPr>
          <p:cNvPr id="12" name="TextBox 7"/>
          <p:cNvSpPr txBox="1">
            <a:spLocks noChangeArrowheads="1"/>
          </p:cNvSpPr>
          <p:nvPr/>
        </p:nvSpPr>
        <p:spPr bwMode="auto">
          <a:xfrm>
            <a:off x="1313551" y="936878"/>
            <a:ext cx="6516897" cy="5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800" b="1">
                <a:latin typeface="楷体" panose="02010609060101010101" pitchFamily="49" charset="-122"/>
                <a:ea typeface="楷体" panose="02010609060101010101" pitchFamily="49" charset="-122"/>
              </a:rPr>
              <a:t>酬乐天扬州初逢席上见赠</a:t>
            </a:r>
            <a:endParaRPr lang="zh-CN" altLang="en-US" sz="2800" b="1">
              <a:latin typeface="楷体" panose="02010609060101010101" pitchFamily="49" charset="-122"/>
              <a:ea typeface="楷体" panose="02010609060101010101" pitchFamily="49" charset="-122"/>
            </a:endParaRPr>
          </a:p>
        </p:txBody>
      </p:sp>
      <p:sp>
        <p:nvSpPr>
          <p:cNvPr id="15" name="矩形: 圆角 14"/>
          <p:cNvSpPr/>
          <p:nvPr/>
        </p:nvSpPr>
        <p:spPr bwMode="auto">
          <a:xfrm>
            <a:off x="538667" y="1689749"/>
            <a:ext cx="838569" cy="458829"/>
          </a:xfrm>
          <a:prstGeom prst="roundRect">
            <a:avLst/>
          </a:prstGeom>
          <a:solidFill>
            <a:schemeClr val="bg1"/>
          </a:solidFill>
          <a:ln w="19050">
            <a:solidFill>
              <a:srgbClr val="B1E6FA"/>
            </a:solidFill>
            <a:prstDash val="sysDash"/>
            <a:miter lim="800000"/>
          </a:ln>
        </p:spPr>
        <p:txBody>
          <a:bodyPr lIns="0" tIns="0" rIns="0" bIns="0" rtlCol="0" anchor="ctr">
            <a:noAutofit/>
          </a:bodyPr>
          <a:lstStyle/>
          <a:p>
            <a:pPr algn="ctr" eaLnBrk="1" hangingPunct="1">
              <a:lnSpc>
                <a:spcPct val="120000"/>
              </a:lnSpc>
            </a:pPr>
            <a:r>
              <a:rPr lang="zh-CN" altLang="en-US" sz="2600" b="1">
                <a:latin typeface="楷体" panose="02010609060101010101" pitchFamily="49" charset="-122"/>
                <a:ea typeface="楷体" panose="02010609060101010101" pitchFamily="49" charset="-122"/>
              </a:rPr>
              <a:t>首联</a:t>
            </a:r>
            <a:endParaRPr lang="zh-CN" altLang="en-US" sz="2600" b="1">
              <a:latin typeface="楷体" panose="02010609060101010101" pitchFamily="49" charset="-122"/>
              <a:ea typeface="楷体" panose="02010609060101010101" pitchFamily="49" charset="-122"/>
            </a:endParaRPr>
          </a:p>
        </p:txBody>
      </p:sp>
      <p:sp>
        <p:nvSpPr>
          <p:cNvPr id="18" name="TextBox 7"/>
          <p:cNvSpPr txBox="1">
            <a:spLocks noChangeArrowheads="1"/>
          </p:cNvSpPr>
          <p:nvPr/>
        </p:nvSpPr>
        <p:spPr bwMode="auto">
          <a:xfrm>
            <a:off x="8001708" y="2484209"/>
            <a:ext cx="1050555" cy="869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600" b="1">
                <a:latin typeface="楷体" panose="02010609060101010101" pitchFamily="49" charset="-122"/>
                <a:ea typeface="楷体" panose="02010609060101010101" pitchFamily="49" charset="-122"/>
              </a:rPr>
              <a:t>豁达乐观</a:t>
            </a:r>
            <a:endParaRPr lang="en-US" altLang="zh-CN" sz="2600" b="1">
              <a:latin typeface="楷体" panose="02010609060101010101" pitchFamily="49" charset="-122"/>
              <a:ea typeface="楷体" panose="02010609060101010101" pitchFamily="49" charset="-122"/>
            </a:endParaRPr>
          </a:p>
        </p:txBody>
      </p:sp>
      <p:cxnSp>
        <p:nvCxnSpPr>
          <p:cNvPr id="20" name="直接箭头连接符 19"/>
          <p:cNvCxnSpPr/>
          <p:nvPr/>
        </p:nvCxnSpPr>
        <p:spPr>
          <a:xfrm>
            <a:off x="4431968" y="1919163"/>
            <a:ext cx="650570" cy="0"/>
          </a:xfrm>
          <a:prstGeom prst="straightConnector1">
            <a:avLst/>
          </a:prstGeom>
          <a:ln w="57150" cap="rnd">
            <a:solidFill>
              <a:srgbClr val="64CDF5"/>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矩形: 圆角 20"/>
          <p:cNvSpPr/>
          <p:nvPr/>
        </p:nvSpPr>
        <p:spPr bwMode="auto">
          <a:xfrm>
            <a:off x="1348216" y="2406577"/>
            <a:ext cx="3019504" cy="458829"/>
          </a:xfrm>
          <a:prstGeom prst="roundRect">
            <a:avLst/>
          </a:prstGeom>
          <a:solidFill>
            <a:srgbClr val="E5F6FD"/>
          </a:solidFill>
          <a:ln w="19050">
            <a:noFill/>
            <a:prstDash val="sysDash"/>
            <a:miter lim="800000"/>
          </a:ln>
        </p:spPr>
        <p:txBody>
          <a:bodyPr lIns="0" tIns="0" rIns="0" bIns="0" rtlCol="0" anchor="ctr">
            <a:noAutofit/>
          </a:bodyPr>
          <a:lstStyle/>
          <a:p>
            <a:pPr algn="ctr" eaLnBrk="1" hangingPunct="1">
              <a:lnSpc>
                <a:spcPct val="120000"/>
              </a:lnSpc>
            </a:pPr>
            <a:r>
              <a:rPr lang="zh-CN" altLang="en-US" sz="2400" b="1">
                <a:latin typeface="楷体" panose="02010609060101010101" pitchFamily="49" charset="-122"/>
                <a:ea typeface="楷体" panose="02010609060101010101" pitchFamily="49" charset="-122"/>
              </a:rPr>
              <a:t>归来感慨，世事变迁</a:t>
            </a:r>
            <a:endParaRPr lang="zh-CN" altLang="en-US" sz="2600" b="1">
              <a:latin typeface="楷体" panose="02010609060101010101" pitchFamily="49" charset="-122"/>
              <a:ea typeface="楷体" panose="02010609060101010101" pitchFamily="49" charset="-122"/>
            </a:endParaRPr>
          </a:p>
        </p:txBody>
      </p:sp>
      <p:sp>
        <p:nvSpPr>
          <p:cNvPr id="22" name="TextBox 7"/>
          <p:cNvSpPr txBox="1">
            <a:spLocks noChangeArrowheads="1"/>
          </p:cNvSpPr>
          <p:nvPr/>
        </p:nvSpPr>
        <p:spPr bwMode="auto">
          <a:xfrm>
            <a:off x="5053519" y="2401312"/>
            <a:ext cx="2871136" cy="469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600" b="1">
                <a:latin typeface="楷体" panose="02010609060101010101" pitchFamily="49" charset="-122"/>
                <a:ea typeface="楷体" panose="02010609060101010101" pitchFamily="49" charset="-122"/>
              </a:rPr>
              <a:t>用典（怀念怅惘）</a:t>
            </a:r>
            <a:endParaRPr lang="zh-CN" altLang="en-US" sz="2600" b="1">
              <a:latin typeface="楷体" panose="02010609060101010101" pitchFamily="49" charset="-122"/>
              <a:ea typeface="楷体" panose="02010609060101010101" pitchFamily="49" charset="-122"/>
            </a:endParaRPr>
          </a:p>
        </p:txBody>
      </p:sp>
      <p:sp>
        <p:nvSpPr>
          <p:cNvPr id="23" name="矩形: 圆角 22"/>
          <p:cNvSpPr/>
          <p:nvPr/>
        </p:nvSpPr>
        <p:spPr bwMode="auto">
          <a:xfrm>
            <a:off x="538667" y="2406577"/>
            <a:ext cx="838569" cy="458829"/>
          </a:xfrm>
          <a:prstGeom prst="roundRect">
            <a:avLst/>
          </a:prstGeom>
          <a:solidFill>
            <a:schemeClr val="bg1"/>
          </a:solidFill>
          <a:ln w="19050">
            <a:solidFill>
              <a:srgbClr val="B1E6FA"/>
            </a:solidFill>
            <a:prstDash val="sysDash"/>
            <a:miter lim="800000"/>
          </a:ln>
        </p:spPr>
        <p:txBody>
          <a:bodyPr lIns="0" tIns="0" rIns="0" bIns="0" rtlCol="0" anchor="ctr">
            <a:noAutofit/>
          </a:bodyPr>
          <a:lstStyle/>
          <a:p>
            <a:pPr algn="ctr" eaLnBrk="1" hangingPunct="1">
              <a:lnSpc>
                <a:spcPct val="120000"/>
              </a:lnSpc>
            </a:pPr>
            <a:r>
              <a:rPr lang="zh-CN" altLang="en-US" sz="2400" b="1">
                <a:latin typeface="楷体" panose="02010609060101010101" pitchFamily="49" charset="-122"/>
                <a:ea typeface="楷体" panose="02010609060101010101" pitchFamily="49" charset="-122"/>
              </a:rPr>
              <a:t>颔联</a:t>
            </a:r>
            <a:endParaRPr lang="zh-CN" altLang="en-US" sz="2600" b="1">
              <a:latin typeface="楷体" panose="02010609060101010101" pitchFamily="49" charset="-122"/>
              <a:ea typeface="楷体" panose="02010609060101010101" pitchFamily="49" charset="-122"/>
            </a:endParaRPr>
          </a:p>
        </p:txBody>
      </p:sp>
      <p:cxnSp>
        <p:nvCxnSpPr>
          <p:cNvPr id="24" name="直接箭头连接符 23"/>
          <p:cNvCxnSpPr/>
          <p:nvPr/>
        </p:nvCxnSpPr>
        <p:spPr>
          <a:xfrm>
            <a:off x="4431968" y="2635991"/>
            <a:ext cx="650570" cy="0"/>
          </a:xfrm>
          <a:prstGeom prst="straightConnector1">
            <a:avLst/>
          </a:prstGeom>
          <a:ln w="57150" cap="rnd">
            <a:solidFill>
              <a:srgbClr val="64CDF5"/>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5" name="矩形: 圆角 24"/>
          <p:cNvSpPr/>
          <p:nvPr/>
        </p:nvSpPr>
        <p:spPr bwMode="auto">
          <a:xfrm>
            <a:off x="1348216" y="3123405"/>
            <a:ext cx="3019504" cy="458829"/>
          </a:xfrm>
          <a:prstGeom prst="roundRect">
            <a:avLst/>
          </a:prstGeom>
          <a:solidFill>
            <a:srgbClr val="E5F6FD"/>
          </a:solidFill>
          <a:ln w="19050">
            <a:noFill/>
            <a:prstDash val="sysDash"/>
            <a:miter lim="800000"/>
          </a:ln>
        </p:spPr>
        <p:txBody>
          <a:bodyPr lIns="0" tIns="0" rIns="0" bIns="0" rtlCol="0" anchor="ctr">
            <a:noAutofit/>
          </a:bodyPr>
          <a:lstStyle/>
          <a:p>
            <a:pPr algn="ctr" eaLnBrk="1" hangingPunct="1">
              <a:lnSpc>
                <a:spcPct val="120000"/>
              </a:lnSpc>
            </a:pPr>
            <a:r>
              <a:rPr lang="zh-CN" altLang="en-US" sz="2400" b="1">
                <a:latin typeface="楷体" panose="02010609060101010101" pitchFamily="49" charset="-122"/>
                <a:ea typeface="楷体" panose="02010609060101010101" pitchFamily="49" charset="-122"/>
              </a:rPr>
              <a:t>感怀身世，相信未来</a:t>
            </a:r>
            <a:endParaRPr lang="zh-CN" altLang="en-US" sz="2600" b="1">
              <a:latin typeface="楷体" panose="02010609060101010101" pitchFamily="49" charset="-122"/>
              <a:ea typeface="楷体" panose="02010609060101010101" pitchFamily="49" charset="-122"/>
            </a:endParaRPr>
          </a:p>
        </p:txBody>
      </p:sp>
      <p:sp>
        <p:nvSpPr>
          <p:cNvPr id="26" name="TextBox 7"/>
          <p:cNvSpPr txBox="1">
            <a:spLocks noChangeArrowheads="1"/>
          </p:cNvSpPr>
          <p:nvPr/>
        </p:nvSpPr>
        <p:spPr bwMode="auto">
          <a:xfrm>
            <a:off x="5053519" y="3118140"/>
            <a:ext cx="2871136" cy="469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600" b="1">
                <a:latin typeface="楷体" panose="02010609060101010101" pitchFamily="49" charset="-122"/>
                <a:ea typeface="楷体" panose="02010609060101010101" pitchFamily="49" charset="-122"/>
              </a:rPr>
              <a:t>比喻（豁达进取）</a:t>
            </a:r>
            <a:endParaRPr lang="zh-CN" altLang="en-US" sz="2600" b="1">
              <a:latin typeface="楷体" panose="02010609060101010101" pitchFamily="49" charset="-122"/>
              <a:ea typeface="楷体" panose="02010609060101010101" pitchFamily="49" charset="-122"/>
            </a:endParaRPr>
          </a:p>
        </p:txBody>
      </p:sp>
      <p:sp>
        <p:nvSpPr>
          <p:cNvPr id="27" name="矩形: 圆角 26"/>
          <p:cNvSpPr/>
          <p:nvPr/>
        </p:nvSpPr>
        <p:spPr bwMode="auto">
          <a:xfrm>
            <a:off x="538667" y="3123405"/>
            <a:ext cx="838569" cy="458829"/>
          </a:xfrm>
          <a:prstGeom prst="roundRect">
            <a:avLst/>
          </a:prstGeom>
          <a:solidFill>
            <a:schemeClr val="bg1"/>
          </a:solidFill>
          <a:ln w="19050">
            <a:solidFill>
              <a:srgbClr val="B1E6FA"/>
            </a:solidFill>
            <a:prstDash val="sysDash"/>
            <a:miter lim="800000"/>
          </a:ln>
        </p:spPr>
        <p:txBody>
          <a:bodyPr lIns="0" tIns="0" rIns="0" bIns="0" rtlCol="0" anchor="ctr">
            <a:noAutofit/>
          </a:bodyPr>
          <a:lstStyle/>
          <a:p>
            <a:pPr algn="ctr" eaLnBrk="1" hangingPunct="1">
              <a:lnSpc>
                <a:spcPct val="120000"/>
              </a:lnSpc>
            </a:pPr>
            <a:r>
              <a:rPr lang="zh-CN" altLang="en-US" sz="2600" b="1">
                <a:latin typeface="楷体" panose="02010609060101010101" pitchFamily="49" charset="-122"/>
                <a:ea typeface="楷体" panose="02010609060101010101" pitchFamily="49" charset="-122"/>
              </a:rPr>
              <a:t>颈联</a:t>
            </a:r>
            <a:endParaRPr lang="zh-CN" altLang="en-US" sz="2600" b="1">
              <a:latin typeface="楷体" panose="02010609060101010101" pitchFamily="49" charset="-122"/>
              <a:ea typeface="楷体" panose="02010609060101010101" pitchFamily="49" charset="-122"/>
            </a:endParaRPr>
          </a:p>
        </p:txBody>
      </p:sp>
      <p:cxnSp>
        <p:nvCxnSpPr>
          <p:cNvPr id="28" name="直接箭头连接符 27"/>
          <p:cNvCxnSpPr/>
          <p:nvPr/>
        </p:nvCxnSpPr>
        <p:spPr>
          <a:xfrm>
            <a:off x="4431968" y="3352819"/>
            <a:ext cx="650570" cy="0"/>
          </a:xfrm>
          <a:prstGeom prst="straightConnector1">
            <a:avLst/>
          </a:prstGeom>
          <a:ln w="57150" cap="rnd">
            <a:solidFill>
              <a:srgbClr val="64CDF5"/>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矩形: 圆角 28"/>
          <p:cNvSpPr/>
          <p:nvPr/>
        </p:nvSpPr>
        <p:spPr bwMode="auto">
          <a:xfrm>
            <a:off x="1348216" y="3840233"/>
            <a:ext cx="3019504" cy="458829"/>
          </a:xfrm>
          <a:prstGeom prst="roundRect">
            <a:avLst/>
          </a:prstGeom>
          <a:solidFill>
            <a:srgbClr val="E5F6FD"/>
          </a:solidFill>
          <a:ln w="19050">
            <a:noFill/>
            <a:prstDash val="sysDash"/>
            <a:miter lim="800000"/>
          </a:ln>
        </p:spPr>
        <p:txBody>
          <a:bodyPr lIns="0" tIns="0" rIns="0" bIns="0" rtlCol="0" anchor="ctr">
            <a:noAutofit/>
          </a:bodyPr>
          <a:lstStyle/>
          <a:p>
            <a:pPr algn="ctr" eaLnBrk="1" hangingPunct="1">
              <a:lnSpc>
                <a:spcPct val="120000"/>
              </a:lnSpc>
            </a:pPr>
            <a:r>
              <a:rPr lang="zh-CN" altLang="en-US" sz="2400" b="1">
                <a:latin typeface="楷体" panose="02010609060101010101" pitchFamily="49" charset="-122"/>
                <a:ea typeface="楷体" panose="02010609060101010101" pitchFamily="49" charset="-122"/>
              </a:rPr>
              <a:t>谢君安慰，振作精神</a:t>
            </a:r>
            <a:endParaRPr lang="zh-CN" altLang="en-US" sz="2600" b="1">
              <a:latin typeface="楷体" panose="02010609060101010101" pitchFamily="49" charset="-122"/>
              <a:ea typeface="楷体" panose="02010609060101010101" pitchFamily="49" charset="-122"/>
            </a:endParaRPr>
          </a:p>
        </p:txBody>
      </p:sp>
      <p:sp>
        <p:nvSpPr>
          <p:cNvPr id="30" name="TextBox 7"/>
          <p:cNvSpPr txBox="1">
            <a:spLocks noChangeArrowheads="1"/>
          </p:cNvSpPr>
          <p:nvPr/>
        </p:nvSpPr>
        <p:spPr bwMode="auto">
          <a:xfrm>
            <a:off x="5053519" y="3834968"/>
            <a:ext cx="2871136" cy="469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600" b="1">
                <a:latin typeface="楷体" panose="02010609060101010101" pitchFamily="49" charset="-122"/>
                <a:ea typeface="楷体" panose="02010609060101010101" pitchFamily="49" charset="-122"/>
              </a:rPr>
              <a:t>点题（振奋昂扬）</a:t>
            </a:r>
            <a:endParaRPr lang="zh-CN" altLang="en-US" sz="2600" b="1">
              <a:latin typeface="楷体" panose="02010609060101010101" pitchFamily="49" charset="-122"/>
              <a:ea typeface="楷体" panose="02010609060101010101" pitchFamily="49" charset="-122"/>
            </a:endParaRPr>
          </a:p>
        </p:txBody>
      </p:sp>
      <p:sp>
        <p:nvSpPr>
          <p:cNvPr id="31" name="矩形: 圆角 30"/>
          <p:cNvSpPr/>
          <p:nvPr/>
        </p:nvSpPr>
        <p:spPr bwMode="auto">
          <a:xfrm>
            <a:off x="538667" y="3840233"/>
            <a:ext cx="838569" cy="458829"/>
          </a:xfrm>
          <a:prstGeom prst="roundRect">
            <a:avLst/>
          </a:prstGeom>
          <a:solidFill>
            <a:schemeClr val="bg1"/>
          </a:solidFill>
          <a:ln w="19050">
            <a:solidFill>
              <a:srgbClr val="B1E6FA"/>
            </a:solidFill>
            <a:prstDash val="sysDash"/>
            <a:miter lim="800000"/>
          </a:ln>
        </p:spPr>
        <p:txBody>
          <a:bodyPr lIns="0" tIns="0" rIns="0" bIns="0" rtlCol="0" anchor="ctr">
            <a:noAutofit/>
          </a:bodyPr>
          <a:lstStyle/>
          <a:p>
            <a:pPr algn="ctr" eaLnBrk="1" hangingPunct="1">
              <a:lnSpc>
                <a:spcPct val="120000"/>
              </a:lnSpc>
            </a:pPr>
            <a:r>
              <a:rPr lang="zh-CN" altLang="en-US" sz="2600" b="1">
                <a:latin typeface="楷体" panose="02010609060101010101" pitchFamily="49" charset="-122"/>
                <a:ea typeface="楷体" panose="02010609060101010101" pitchFamily="49" charset="-122"/>
              </a:rPr>
              <a:t>尾联</a:t>
            </a:r>
            <a:endParaRPr lang="zh-CN" altLang="en-US" sz="2600" b="1">
              <a:latin typeface="楷体" panose="02010609060101010101" pitchFamily="49" charset="-122"/>
              <a:ea typeface="楷体" panose="02010609060101010101" pitchFamily="49" charset="-122"/>
            </a:endParaRPr>
          </a:p>
        </p:txBody>
      </p:sp>
      <p:cxnSp>
        <p:nvCxnSpPr>
          <p:cNvPr id="32" name="直接箭头连接符 31"/>
          <p:cNvCxnSpPr/>
          <p:nvPr/>
        </p:nvCxnSpPr>
        <p:spPr>
          <a:xfrm>
            <a:off x="4431968" y="4069647"/>
            <a:ext cx="650570" cy="0"/>
          </a:xfrm>
          <a:prstGeom prst="straightConnector1">
            <a:avLst/>
          </a:prstGeom>
          <a:ln w="57150" cap="rnd">
            <a:solidFill>
              <a:srgbClr val="64CDF5"/>
            </a:solidFill>
            <a:prstDash val="sysDot"/>
            <a:tailEnd type="triangle"/>
          </a:ln>
        </p:spPr>
        <p:style>
          <a:lnRef idx="1">
            <a:schemeClr val="accent1"/>
          </a:lnRef>
          <a:fillRef idx="0">
            <a:schemeClr val="accent1"/>
          </a:fillRef>
          <a:effectRef idx="0">
            <a:schemeClr val="accent1"/>
          </a:effectRef>
          <a:fontRef idx="minor">
            <a:schemeClr val="tx1"/>
          </a:fontRef>
        </p:style>
      </p:cxnSp>
      <p:grpSp>
        <p:nvGrpSpPr>
          <p:cNvPr id="35" name="组合 34"/>
          <p:cNvGrpSpPr/>
          <p:nvPr/>
        </p:nvGrpSpPr>
        <p:grpSpPr>
          <a:xfrm>
            <a:off x="334246" y="1911544"/>
            <a:ext cx="192568" cy="2158104"/>
            <a:chOff x="334246" y="1911544"/>
            <a:chExt cx="192568" cy="2158104"/>
          </a:xfrm>
        </p:grpSpPr>
        <p:sp>
          <p:nvSpPr>
            <p:cNvPr id="33" name="左中括号 32"/>
            <p:cNvSpPr/>
            <p:nvPr/>
          </p:nvSpPr>
          <p:spPr>
            <a:xfrm>
              <a:off x="334246" y="1911544"/>
              <a:ext cx="192568" cy="2158104"/>
            </a:xfrm>
            <a:prstGeom prst="leftBracket">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左中括号 33"/>
            <p:cNvSpPr/>
            <p:nvPr/>
          </p:nvSpPr>
          <p:spPr>
            <a:xfrm>
              <a:off x="334246" y="2548011"/>
              <a:ext cx="192568" cy="804807"/>
            </a:xfrm>
            <a:prstGeom prst="leftBracket">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36" name="左大括号 35"/>
          <p:cNvSpPr/>
          <p:nvPr/>
        </p:nvSpPr>
        <p:spPr>
          <a:xfrm flipH="1">
            <a:off x="7624737" y="1828800"/>
            <a:ext cx="341150" cy="2362200"/>
          </a:xfrm>
          <a:prstGeom prst="leftBrace">
            <a:avLst>
              <a:gd name="adj1" fmla="val 39715"/>
              <a:gd name="adj2" fmla="val 50000"/>
            </a:avLst>
          </a:prstGeom>
          <a:ln w="38100">
            <a:solidFill>
              <a:srgbClr val="64CDF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arn(outHorizontal)">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left)">
                                      <p:cBhvr>
                                        <p:cTn id="20" dur="500"/>
                                        <p:tgtEl>
                                          <p:spTgt spid="20"/>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left)">
                                      <p:cBhvr>
                                        <p:cTn id="29" dur="500"/>
                                        <p:tgtEl>
                                          <p:spTgt spid="23"/>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childTnLst>
                          </p:cTn>
                        </p:par>
                        <p:par>
                          <p:cTn id="34" fill="hold">
                            <p:stCondLst>
                              <p:cond delay="1000"/>
                            </p:stCondLst>
                            <p:childTnLst>
                              <p:par>
                                <p:cTn id="35" presetID="22" presetClass="entr" presetSubtype="8" fill="hold" nodeType="after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left)">
                                      <p:cBhvr>
                                        <p:cTn id="37" dur="500"/>
                                        <p:tgtEl>
                                          <p:spTgt spid="24"/>
                                        </p:tgtEl>
                                      </p:cBhvr>
                                    </p:animEffect>
                                  </p:childTnLst>
                                </p:cTn>
                              </p:par>
                            </p:childTnLst>
                          </p:cTn>
                        </p:par>
                        <p:par>
                          <p:cTn id="38" fill="hold">
                            <p:stCondLst>
                              <p:cond delay="1500"/>
                            </p:stCondLst>
                            <p:childTnLst>
                              <p:par>
                                <p:cTn id="39" presetID="22" presetClass="entr" presetSubtype="8" fill="hold" grpId="0" nodeType="after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wipe(left)">
                                      <p:cBhvr>
                                        <p:cTn id="41" dur="50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left)">
                                      <p:cBhvr>
                                        <p:cTn id="46" dur="500"/>
                                        <p:tgtEl>
                                          <p:spTgt spid="27"/>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wipe(left)">
                                      <p:cBhvr>
                                        <p:cTn id="50" dur="500"/>
                                        <p:tgtEl>
                                          <p:spTgt spid="25"/>
                                        </p:tgtEl>
                                      </p:cBhvr>
                                    </p:animEffect>
                                  </p:childTnLst>
                                </p:cTn>
                              </p:par>
                            </p:childTnLst>
                          </p:cTn>
                        </p:par>
                        <p:par>
                          <p:cTn id="51" fill="hold">
                            <p:stCondLst>
                              <p:cond delay="1000"/>
                            </p:stCondLst>
                            <p:childTnLst>
                              <p:par>
                                <p:cTn id="52" presetID="22" presetClass="entr" presetSubtype="8" fill="hold" nodeType="after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wipe(left)">
                                      <p:cBhvr>
                                        <p:cTn id="54" dur="500"/>
                                        <p:tgtEl>
                                          <p:spTgt spid="28"/>
                                        </p:tgtEl>
                                      </p:cBhvr>
                                    </p:animEffect>
                                  </p:childTnLst>
                                </p:cTn>
                              </p:par>
                            </p:childTnLst>
                          </p:cTn>
                        </p:par>
                        <p:par>
                          <p:cTn id="55" fill="hold">
                            <p:stCondLst>
                              <p:cond delay="1500"/>
                            </p:stCondLst>
                            <p:childTnLst>
                              <p:par>
                                <p:cTn id="56" presetID="22" presetClass="entr" presetSubtype="8" fill="hold" grpId="0" nodeType="after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wipe(left)">
                                      <p:cBhvr>
                                        <p:cTn id="58" dur="500"/>
                                        <p:tgtEl>
                                          <p:spTgt spid="2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wipe(left)">
                                      <p:cBhvr>
                                        <p:cTn id="63" dur="500"/>
                                        <p:tgtEl>
                                          <p:spTgt spid="31"/>
                                        </p:tgtEl>
                                      </p:cBhvr>
                                    </p:animEffect>
                                  </p:childTnLst>
                                </p:cTn>
                              </p:par>
                            </p:childTnLst>
                          </p:cTn>
                        </p:par>
                        <p:par>
                          <p:cTn id="64" fill="hold">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wipe(left)">
                                      <p:cBhvr>
                                        <p:cTn id="67" dur="500"/>
                                        <p:tgtEl>
                                          <p:spTgt spid="29"/>
                                        </p:tgtEl>
                                      </p:cBhvr>
                                    </p:animEffect>
                                  </p:childTnLst>
                                </p:cTn>
                              </p:par>
                            </p:childTnLst>
                          </p:cTn>
                        </p:par>
                        <p:par>
                          <p:cTn id="68" fill="hold">
                            <p:stCondLst>
                              <p:cond delay="1000"/>
                            </p:stCondLst>
                            <p:childTnLst>
                              <p:par>
                                <p:cTn id="69" presetID="22" presetClass="entr" presetSubtype="8" fill="hold" nodeType="after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wipe(left)">
                                      <p:cBhvr>
                                        <p:cTn id="71" dur="500"/>
                                        <p:tgtEl>
                                          <p:spTgt spid="32"/>
                                        </p:tgtEl>
                                      </p:cBhvr>
                                    </p:animEffect>
                                  </p:childTnLst>
                                </p:cTn>
                              </p:par>
                            </p:childTnLst>
                          </p:cTn>
                        </p:par>
                        <p:par>
                          <p:cTn id="72" fill="hold">
                            <p:stCondLst>
                              <p:cond delay="1500"/>
                            </p:stCondLst>
                            <p:childTnLst>
                              <p:par>
                                <p:cTn id="73" presetID="22" presetClass="entr" presetSubtype="8" fill="hold" grpId="0" nodeType="after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wipe(left)">
                                      <p:cBhvr>
                                        <p:cTn id="75" dur="500"/>
                                        <p:tgtEl>
                                          <p:spTgt spid="30"/>
                                        </p:tgtEl>
                                      </p:cBhvr>
                                    </p:animEffect>
                                  </p:childTnLst>
                                </p:cTn>
                              </p:par>
                            </p:childTnLst>
                          </p:cTn>
                        </p:par>
                      </p:childTnLst>
                    </p:cTn>
                  </p:par>
                  <p:par>
                    <p:cTn id="76" fill="hold">
                      <p:stCondLst>
                        <p:cond delay="indefinite"/>
                      </p:stCondLst>
                      <p:childTnLst>
                        <p:par>
                          <p:cTn id="77" fill="hold">
                            <p:stCondLst>
                              <p:cond delay="0"/>
                            </p:stCondLst>
                            <p:childTnLst>
                              <p:par>
                                <p:cTn id="78" presetID="16" presetClass="entr" presetSubtype="26" fill="hold" grpId="0" nodeType="click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barn(inHorizontal)">
                                      <p:cBhvr>
                                        <p:cTn id="80" dur="500"/>
                                        <p:tgtEl>
                                          <p:spTgt spid="36"/>
                                        </p:tgtEl>
                                      </p:cBhvr>
                                    </p:animEffect>
                                  </p:childTnLst>
                                </p:cTn>
                              </p:par>
                            </p:childTnLst>
                          </p:cTn>
                        </p:par>
                        <p:par>
                          <p:cTn id="81" fill="hold">
                            <p:stCondLst>
                              <p:cond delay="500"/>
                            </p:stCondLst>
                            <p:childTnLst>
                              <p:par>
                                <p:cTn id="82" presetID="22" presetClass="entr" presetSubtype="1" fill="hold" grpId="0" nodeType="afterEffect">
                                  <p:stCondLst>
                                    <p:cond delay="0"/>
                                  </p:stCondLst>
                                  <p:childTnLst>
                                    <p:set>
                                      <p:cBhvr>
                                        <p:cTn id="83" dur="1" fill="hold">
                                          <p:stCondLst>
                                            <p:cond delay="0"/>
                                          </p:stCondLst>
                                        </p:cTn>
                                        <p:tgtEl>
                                          <p:spTgt spid="18"/>
                                        </p:tgtEl>
                                        <p:attrNameLst>
                                          <p:attrName>style.visibility</p:attrName>
                                        </p:attrNameLst>
                                      </p:cBhvr>
                                      <p:to>
                                        <p:strVal val="visible"/>
                                      </p:to>
                                    </p:set>
                                    <p:animEffect transition="in" filter="wipe(up)">
                                      <p:cBhvr>
                                        <p:cTn id="8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1" grpId="0"/>
      <p:bldP spid="15" grpId="0" animBg="1"/>
      <p:bldP spid="18" grpId="0"/>
      <p:bldP spid="21" grpId="0" animBg="1"/>
      <p:bldP spid="22" grpId="0"/>
      <p:bldP spid="23" grpId="0" animBg="1"/>
      <p:bldP spid="25" grpId="0" animBg="1"/>
      <p:bldP spid="26" grpId="0"/>
      <p:bldP spid="27" grpId="0" animBg="1"/>
      <p:bldP spid="29" grpId="0" animBg="1"/>
      <p:bldP spid="30" grpId="0"/>
      <p:bldP spid="31" grpId="0" animBg="1"/>
      <p:bldP spid="3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a:spLocks noChangeArrowheads="1"/>
          </p:cNvSpPr>
          <p:nvPr/>
        </p:nvSpPr>
        <p:spPr bwMode="auto">
          <a:xfrm>
            <a:off x="2419007" y="388938"/>
            <a:ext cx="430598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3200" b="1">
                <a:latin typeface="楷体" panose="02010609060101010101" pitchFamily="49" charset="-122"/>
                <a:ea typeface="楷体" panose="02010609060101010101" pitchFamily="49" charset="-122"/>
              </a:rPr>
              <a:t>第</a:t>
            </a:r>
            <a:r>
              <a:rPr lang="en-US" altLang="zh-CN" sz="3200" b="1">
                <a:latin typeface="楷体" panose="02010609060101010101" pitchFamily="49" charset="-122"/>
                <a:ea typeface="楷体" panose="02010609060101010101" pitchFamily="49" charset="-122"/>
              </a:rPr>
              <a:t>3</a:t>
            </a:r>
            <a:r>
              <a:rPr lang="zh-CN" altLang="en-US" sz="3200" b="1">
                <a:latin typeface="楷体" panose="02010609060101010101" pitchFamily="49" charset="-122"/>
                <a:ea typeface="楷体" panose="02010609060101010101" pitchFamily="49" charset="-122"/>
              </a:rPr>
              <a:t>课时 </a:t>
            </a:r>
            <a:r>
              <a:rPr lang="en-US" altLang="zh-CN" sz="3200" b="1">
                <a:latin typeface="楷体" panose="02010609060101010101" pitchFamily="49" charset="-122"/>
                <a:ea typeface="楷体" panose="02010609060101010101" pitchFamily="49" charset="-122"/>
              </a:rPr>
              <a:t>《</a:t>
            </a:r>
            <a:r>
              <a:rPr lang="zh-CN" altLang="en-US" sz="3200" b="1">
                <a:latin typeface="楷体" panose="02010609060101010101" pitchFamily="49" charset="-122"/>
                <a:ea typeface="楷体" panose="02010609060101010101" pitchFamily="49" charset="-122"/>
              </a:rPr>
              <a:t>水调歌头</a:t>
            </a:r>
            <a:r>
              <a:rPr lang="en-US" altLang="zh-CN" sz="3200" b="1">
                <a:latin typeface="楷体" panose="02010609060101010101" pitchFamily="49" charset="-122"/>
                <a:ea typeface="楷体" panose="02010609060101010101" pitchFamily="49" charset="-122"/>
              </a:rPr>
              <a:t>》</a:t>
            </a:r>
            <a:endParaRPr lang="zh-CN" altLang="en-US" sz="2400" b="1">
              <a:latin typeface="楷体" panose="02010609060101010101" pitchFamily="49" charset="-122"/>
              <a:ea typeface="楷体" panose="02010609060101010101" pitchFamily="49" charset="-122"/>
            </a:endParaRPr>
          </a:p>
        </p:txBody>
      </p:sp>
      <p:grpSp>
        <p:nvGrpSpPr>
          <p:cNvPr id="14" name="组合 13"/>
          <p:cNvGrpSpPr/>
          <p:nvPr/>
        </p:nvGrpSpPr>
        <p:grpSpPr>
          <a:xfrm>
            <a:off x="-1" y="-1"/>
            <a:ext cx="3169921" cy="5147123"/>
            <a:chOff x="-1" y="-1"/>
            <a:chExt cx="3169921" cy="5147123"/>
          </a:xfrm>
        </p:grpSpPr>
        <p:pic>
          <p:nvPicPr>
            <p:cNvPr id="2050" name="Picture 2"/>
            <p:cNvPicPr>
              <a:picLocks noChangeAspect="1" noChangeArrowheads="1"/>
            </p:cNvPicPr>
            <p:nvPr/>
          </p:nvPicPr>
          <p:blipFill>
            <a:blip r:embed="rId1"/>
            <a:stretch>
              <a:fillRect/>
            </a:stretch>
          </p:blipFill>
          <p:spPr bwMode="auto">
            <a:xfrm>
              <a:off x="-1" y="-1"/>
              <a:ext cx="3169921" cy="5147123"/>
            </a:xfrm>
            <a:prstGeom prst="rect">
              <a:avLst/>
            </a:prstGeom>
            <a:extLst>
              <a:ext uri="{909E8E84-426E-40DD-AFC4-6F175D3DCCD1}">
                <a14:hiddenFill xmlns:a14="http://schemas.microsoft.com/office/drawing/2010/main">
                  <a:solidFill>
                    <a:srgbClr val="FFFFFF"/>
                  </a:solidFill>
                </a14:hiddenFill>
              </a:ext>
            </a:extLst>
          </p:spPr>
        </p:pic>
        <p:grpSp>
          <p:nvGrpSpPr>
            <p:cNvPr id="13" name="组合 12"/>
            <p:cNvGrpSpPr/>
            <p:nvPr/>
          </p:nvGrpSpPr>
          <p:grpSpPr>
            <a:xfrm>
              <a:off x="0" y="3619500"/>
              <a:ext cx="3169920" cy="1524000"/>
              <a:chOff x="0" y="3619500"/>
              <a:chExt cx="3169920" cy="152400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19500"/>
                <a:ext cx="3169920" cy="1524000"/>
              </a:xfrm>
              <a:prstGeom prst="rect">
                <a:avLst/>
              </a:prstGeom>
            </p:spPr>
          </p:pic>
          <p:sp>
            <p:nvSpPr>
              <p:cNvPr id="6" name="文本框 5"/>
              <p:cNvSpPr txBox="1"/>
              <p:nvPr/>
            </p:nvSpPr>
            <p:spPr>
              <a:xfrm>
                <a:off x="349045" y="3889058"/>
                <a:ext cx="2471831" cy="984885"/>
              </a:xfrm>
              <a:prstGeom prst="rect">
                <a:avLst/>
              </a:prstGeom>
              <a:noFill/>
              <a:effectLst>
                <a:softEdge rad="31750"/>
              </a:effectLst>
            </p:spPr>
            <p:txBody>
              <a:bodyPr wrap="none" lIns="0" tIns="0" rIns="0" bIns="0" rtlCol="0">
                <a:spAutoFit/>
              </a:bodyPr>
              <a:lstStyle/>
              <a:p>
                <a:pPr algn="ctr" eaLnBrk="1" hangingPunct="1"/>
                <a:r>
                  <a:rPr lang="zh-CN" altLang="en-US" sz="3200" b="1">
                    <a:latin typeface="楷体" panose="02010609060101010101" pitchFamily="49" charset="-122"/>
                    <a:ea typeface="楷体" panose="02010609060101010101" pitchFamily="49" charset="-122"/>
                  </a:rPr>
                  <a:t>举头望明月，</a:t>
                </a:r>
                <a:endParaRPr lang="en-US" altLang="zh-CN" sz="3200" b="1">
                  <a:latin typeface="楷体" panose="02010609060101010101" pitchFamily="49" charset="-122"/>
                  <a:ea typeface="楷体" panose="02010609060101010101" pitchFamily="49" charset="-122"/>
                </a:endParaRPr>
              </a:p>
              <a:p>
                <a:pPr algn="ctr" eaLnBrk="1" hangingPunct="1"/>
                <a:r>
                  <a:rPr lang="zh-CN" altLang="en-US" sz="3200" b="1">
                    <a:latin typeface="楷体" panose="02010609060101010101" pitchFamily="49" charset="-122"/>
                    <a:ea typeface="楷体" panose="02010609060101010101" pitchFamily="49" charset="-122"/>
                  </a:rPr>
                  <a:t>低头思故乡。</a:t>
                </a:r>
                <a:endParaRPr lang="zh-CN" altLang="en-US" sz="3200" b="1">
                  <a:latin typeface="楷体" panose="02010609060101010101" pitchFamily="49" charset="-122"/>
                  <a:ea typeface="楷体" panose="02010609060101010101" pitchFamily="49" charset="-122"/>
                </a:endParaRPr>
              </a:p>
            </p:txBody>
          </p:sp>
        </p:grpSp>
      </p:grpSp>
      <p:grpSp>
        <p:nvGrpSpPr>
          <p:cNvPr id="15" name="组合 14"/>
          <p:cNvGrpSpPr/>
          <p:nvPr/>
        </p:nvGrpSpPr>
        <p:grpSpPr>
          <a:xfrm>
            <a:off x="3227938" y="1810"/>
            <a:ext cx="2978024" cy="5143500"/>
            <a:chOff x="3227938" y="1810"/>
            <a:chExt cx="2978024" cy="514350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7938" y="1810"/>
              <a:ext cx="2978024" cy="5143500"/>
            </a:xfrm>
            <a:prstGeom prst="rect">
              <a:avLst/>
            </a:prstGeom>
          </p:spPr>
        </p:pic>
        <p:grpSp>
          <p:nvGrpSpPr>
            <p:cNvPr id="16" name="组合 15"/>
            <p:cNvGrpSpPr/>
            <p:nvPr/>
          </p:nvGrpSpPr>
          <p:grpSpPr>
            <a:xfrm>
              <a:off x="3227938" y="3617690"/>
              <a:ext cx="2978024" cy="1524000"/>
              <a:chOff x="0" y="3619500"/>
              <a:chExt cx="3109344" cy="1524000"/>
            </a:xfrm>
          </p:grpSpPr>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19500"/>
                <a:ext cx="3109344" cy="1524000"/>
              </a:xfrm>
              <a:prstGeom prst="rect">
                <a:avLst/>
              </a:prstGeom>
            </p:spPr>
          </p:pic>
          <p:sp>
            <p:nvSpPr>
              <p:cNvPr id="18" name="文本框 17"/>
              <p:cNvSpPr txBox="1"/>
              <p:nvPr/>
            </p:nvSpPr>
            <p:spPr>
              <a:xfrm>
                <a:off x="238347" y="3889058"/>
                <a:ext cx="2693226" cy="984885"/>
              </a:xfrm>
              <a:prstGeom prst="rect">
                <a:avLst/>
              </a:prstGeom>
              <a:noFill/>
              <a:effectLst>
                <a:softEdge rad="31750"/>
              </a:effectLst>
            </p:spPr>
            <p:txBody>
              <a:bodyPr wrap="square" lIns="0" tIns="0" rIns="0" bIns="0" rtlCol="0">
                <a:spAutoFit/>
              </a:bodyPr>
              <a:lstStyle/>
              <a:p>
                <a:pPr algn="ctr" eaLnBrk="1" hangingPunct="1"/>
                <a:r>
                  <a:rPr lang="zh-CN" altLang="en-US" sz="3200" b="1">
                    <a:latin typeface="楷体" panose="02010609060101010101" pitchFamily="49" charset="-122"/>
                    <a:ea typeface="楷体" panose="02010609060101010101" pitchFamily="49" charset="-122"/>
                  </a:rPr>
                  <a:t>晨兴理荒秽，</a:t>
                </a:r>
                <a:endParaRPr lang="en-US" altLang="zh-CN" sz="3200" b="1">
                  <a:latin typeface="楷体" panose="02010609060101010101" pitchFamily="49" charset="-122"/>
                  <a:ea typeface="楷体" panose="02010609060101010101" pitchFamily="49" charset="-122"/>
                </a:endParaRPr>
              </a:p>
              <a:p>
                <a:pPr algn="ctr" eaLnBrk="1" hangingPunct="1"/>
                <a:r>
                  <a:rPr lang="zh-CN" altLang="en-US" sz="3200" b="1">
                    <a:latin typeface="楷体" panose="02010609060101010101" pitchFamily="49" charset="-122"/>
                    <a:ea typeface="楷体" panose="02010609060101010101" pitchFamily="49" charset="-122"/>
                  </a:rPr>
                  <a:t>带月荷锄归。</a:t>
                </a:r>
                <a:endParaRPr lang="zh-CN" altLang="en-US" sz="3200" b="1">
                  <a:latin typeface="楷体" panose="02010609060101010101" pitchFamily="49" charset="-122"/>
                  <a:ea typeface="楷体" panose="02010609060101010101" pitchFamily="49" charset="-122"/>
                </a:endParaRPr>
              </a:p>
            </p:txBody>
          </p:sp>
        </p:grpSp>
      </p:grpSp>
      <p:grpSp>
        <p:nvGrpSpPr>
          <p:cNvPr id="22" name="组合 21"/>
          <p:cNvGrpSpPr/>
          <p:nvPr/>
        </p:nvGrpSpPr>
        <p:grpSpPr>
          <a:xfrm>
            <a:off x="6263980" y="1810"/>
            <a:ext cx="2873722" cy="5143500"/>
            <a:chOff x="6263980" y="1810"/>
            <a:chExt cx="2873722" cy="5143500"/>
          </a:xfrm>
        </p:grpSpPr>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263980" y="1810"/>
              <a:ext cx="2873722" cy="5143500"/>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组合 18"/>
            <p:cNvGrpSpPr/>
            <p:nvPr/>
          </p:nvGrpSpPr>
          <p:grpSpPr>
            <a:xfrm>
              <a:off x="6263980" y="3643599"/>
              <a:ext cx="2873722" cy="1498091"/>
              <a:chOff x="26064" y="3619500"/>
              <a:chExt cx="2873722" cy="1498091"/>
            </a:xfrm>
          </p:grpSpPr>
          <p:pic>
            <p:nvPicPr>
              <p:cNvPr id="20" name="图片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64" y="3619500"/>
                <a:ext cx="2873722" cy="1498091"/>
              </a:xfrm>
              <a:prstGeom prst="rect">
                <a:avLst/>
              </a:prstGeom>
            </p:spPr>
          </p:pic>
          <p:sp>
            <p:nvSpPr>
              <p:cNvPr id="21" name="文本框 20"/>
              <p:cNvSpPr txBox="1"/>
              <p:nvPr/>
            </p:nvSpPr>
            <p:spPr>
              <a:xfrm>
                <a:off x="219709" y="3889058"/>
                <a:ext cx="2471831" cy="984885"/>
              </a:xfrm>
              <a:prstGeom prst="rect">
                <a:avLst/>
              </a:prstGeom>
              <a:noFill/>
              <a:effectLst>
                <a:softEdge rad="31750"/>
              </a:effectLst>
            </p:spPr>
            <p:txBody>
              <a:bodyPr wrap="none" lIns="0" tIns="0" rIns="0" bIns="0" rtlCol="0">
                <a:spAutoFit/>
              </a:bodyPr>
              <a:lstStyle/>
              <a:p>
                <a:pPr algn="ctr" eaLnBrk="1" hangingPunct="1"/>
                <a:r>
                  <a:rPr lang="zh-CN" altLang="en-US" sz="3200" b="1">
                    <a:latin typeface="楷体" panose="02010609060101010101" pitchFamily="49" charset="-122"/>
                    <a:ea typeface="楷体" panose="02010609060101010101" pitchFamily="49" charset="-122"/>
                  </a:rPr>
                  <a:t>深林人不知，</a:t>
                </a:r>
                <a:endParaRPr lang="en-US" altLang="zh-CN" sz="3200" b="1">
                  <a:latin typeface="楷体" panose="02010609060101010101" pitchFamily="49" charset="-122"/>
                  <a:ea typeface="楷体" panose="02010609060101010101" pitchFamily="49" charset="-122"/>
                </a:endParaRPr>
              </a:p>
              <a:p>
                <a:pPr algn="ctr" eaLnBrk="1" hangingPunct="1"/>
                <a:r>
                  <a:rPr lang="zh-CN" altLang="en-US" sz="3200" b="1">
                    <a:latin typeface="楷体" panose="02010609060101010101" pitchFamily="49" charset="-122"/>
                    <a:ea typeface="楷体" panose="02010609060101010101" pitchFamily="49" charset="-122"/>
                  </a:rPr>
                  <a:t>明月来相照。</a:t>
                </a:r>
                <a:endParaRPr lang="zh-CN" altLang="en-US" sz="3200" b="1">
                  <a:latin typeface="楷体" panose="02010609060101010101" pitchFamily="49" charset="-122"/>
                  <a:ea typeface="楷体" panose="02010609060101010101" pitchFamily="49" charset="-122"/>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up)">
                                      <p:cBhvr>
                                        <p:cTn id="11" dur="500"/>
                                        <p:tgtEl>
                                          <p:spTgt spid="15"/>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up)">
                                      <p:cBhvr>
                                        <p:cTn id="1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88273" y="286739"/>
            <a:ext cx="8597909" cy="880110"/>
            <a:chOff x="279713" y="172439"/>
            <a:chExt cx="8597909" cy="880110"/>
          </a:xfrm>
        </p:grpSpPr>
        <p:sp>
          <p:nvSpPr>
            <p:cNvPr id="3" name="文本框 2"/>
            <p:cNvSpPr txBox="1">
              <a:spLocks noChangeArrowheads="1"/>
            </p:cNvSpPr>
            <p:nvPr/>
          </p:nvSpPr>
          <p:spPr bwMode="auto">
            <a:xfrm>
              <a:off x="956742" y="274387"/>
              <a:ext cx="7920880"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目标任务一：认识作者，了解写作背景。</a:t>
              </a:r>
              <a:endParaRPr lang="zh-CN" altLang="en-US" sz="3200" b="1">
                <a:latin typeface="黑体" panose="02010609060101010101" pitchFamily="2" charset="-122"/>
                <a:ea typeface="黑体" panose="02010609060101010101" pitchFamily="2" charset="-122"/>
              </a:endParaRPr>
            </a:p>
          </p:txBody>
        </p:sp>
        <p:pic>
          <p:nvPicPr>
            <p:cNvPr id="7" name="图片 6"/>
            <p:cNvPicPr/>
            <p:nvPr/>
          </p:nvPicPr>
          <p:blipFill>
            <a:blip r:embed="rId1"/>
            <a:stretch>
              <a:fillRect/>
            </a:stretch>
          </p:blipFill>
          <p:spPr>
            <a:xfrm>
              <a:off x="279713" y="172439"/>
              <a:ext cx="880110" cy="880110"/>
            </a:xfrm>
            <a:prstGeom prst="rect">
              <a:avLst/>
            </a:prstGeom>
          </p:spPr>
        </p:pic>
      </p:grpSp>
      <p:sp>
        <p:nvSpPr>
          <p:cNvPr id="9" name="矩形 8"/>
          <p:cNvSpPr>
            <a:spLocks noChangeArrowheads="1"/>
          </p:cNvSpPr>
          <p:nvPr/>
        </p:nvSpPr>
        <p:spPr bwMode="auto">
          <a:xfrm>
            <a:off x="591182" y="1618578"/>
            <a:ext cx="8042277" cy="3385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400" b="1">
                <a:solidFill>
                  <a:srgbClr val="C00000"/>
                </a:solidFill>
                <a:latin typeface="楷体" panose="02010609060101010101" pitchFamily="49" charset="-122"/>
                <a:ea typeface="楷体" panose="02010609060101010101" pitchFamily="49" charset="-122"/>
              </a:rPr>
              <a:t>    苏轼</a:t>
            </a:r>
            <a:r>
              <a:rPr lang="zh-CN" altLang="en-US" sz="2400" b="1">
                <a:latin typeface="楷体" panose="02010609060101010101" pitchFamily="49" charset="-122"/>
                <a:ea typeface="楷体" panose="02010609060101010101" pitchFamily="49" charset="-122"/>
              </a:rPr>
              <a:t>（</a:t>
            </a:r>
            <a:r>
              <a:rPr lang="en-US" altLang="zh-CN" sz="2400" b="1">
                <a:latin typeface="楷体" panose="02010609060101010101" pitchFamily="49" charset="-122"/>
                <a:ea typeface="楷体" panose="02010609060101010101" pitchFamily="49" charset="-122"/>
              </a:rPr>
              <a:t>1037-1101</a:t>
            </a:r>
            <a:r>
              <a:rPr lang="zh-CN" altLang="en-US" sz="2400" b="1">
                <a:latin typeface="楷体" panose="02010609060101010101" pitchFamily="49" charset="-122"/>
                <a:ea typeface="楷体" panose="02010609060101010101" pitchFamily="49" charset="-122"/>
              </a:rPr>
              <a:t>），字子瞻，号东坡居士，眉山（今属四川）人，北宋文学家、书画家。与父苏洵、弟苏辙合称“三苏”，同列“唐宋八大家”。文汪洋恣肆，明白晓畅。诗清新豪健，善用夸张比喻，在艺术表现方面独具风格，与黄庭坚并称“苏黄”。词开豪放一派，对后世影响深远，与辛弃疾并称“苏辛”。诗文集有</a:t>
            </a:r>
            <a:r>
              <a:rPr lang="en-US" altLang="zh-CN" sz="2400" b="1">
                <a:latin typeface="楷体" panose="02010609060101010101" pitchFamily="49" charset="-122"/>
                <a:ea typeface="楷体" panose="02010609060101010101" pitchFamily="49" charset="-122"/>
              </a:rPr>
              <a:t>《</a:t>
            </a:r>
            <a:r>
              <a:rPr lang="zh-CN" altLang="en-US" sz="2400" b="1">
                <a:latin typeface="楷体" panose="02010609060101010101" pitchFamily="49" charset="-122"/>
                <a:ea typeface="楷体" panose="02010609060101010101" pitchFamily="49" charset="-122"/>
              </a:rPr>
              <a:t>东坡七集</a:t>
            </a:r>
            <a:r>
              <a:rPr lang="en-US" altLang="zh-CN" sz="2400" b="1">
                <a:latin typeface="楷体" panose="02010609060101010101" pitchFamily="49" charset="-122"/>
                <a:ea typeface="楷体" panose="02010609060101010101" pitchFamily="49" charset="-122"/>
              </a:rPr>
              <a:t>》</a:t>
            </a:r>
            <a:r>
              <a:rPr lang="zh-CN" altLang="en-US" sz="2400" b="1">
                <a:latin typeface="楷体" panose="02010609060101010101" pitchFamily="49" charset="-122"/>
                <a:ea typeface="楷体" panose="02010609060101010101" pitchFamily="49" charset="-122"/>
              </a:rPr>
              <a:t>等。词集有</a:t>
            </a:r>
            <a:r>
              <a:rPr lang="en-US" altLang="zh-CN" sz="2400" b="1">
                <a:latin typeface="楷体" panose="02010609060101010101" pitchFamily="49" charset="-122"/>
                <a:ea typeface="楷体" panose="02010609060101010101" pitchFamily="49" charset="-122"/>
              </a:rPr>
              <a:t>《</a:t>
            </a:r>
            <a:r>
              <a:rPr lang="zh-CN" altLang="en-US" sz="2400" b="1">
                <a:latin typeface="楷体" panose="02010609060101010101" pitchFamily="49" charset="-122"/>
                <a:ea typeface="楷体" panose="02010609060101010101" pitchFamily="49" charset="-122"/>
              </a:rPr>
              <a:t>东坡乐府</a:t>
            </a:r>
            <a:r>
              <a:rPr lang="en-US" altLang="zh-CN" sz="2400" b="1">
                <a:latin typeface="楷体" panose="02010609060101010101" pitchFamily="49" charset="-122"/>
                <a:ea typeface="楷体" panose="02010609060101010101" pitchFamily="49" charset="-122"/>
              </a:rPr>
              <a:t>》</a:t>
            </a:r>
            <a:r>
              <a:rPr lang="zh-CN" altLang="en-US" sz="2400" b="1">
                <a:latin typeface="楷体" panose="02010609060101010101" pitchFamily="49" charset="-122"/>
                <a:ea typeface="楷体" panose="02010609060101010101" pitchFamily="49" charset="-122"/>
              </a:rPr>
              <a:t>。</a:t>
            </a:r>
            <a:endParaRPr lang="zh-CN" altLang="en-US" sz="2400" b="1">
              <a:latin typeface="楷体" panose="02010609060101010101" pitchFamily="49" charset="-122"/>
              <a:ea typeface="楷体" panose="02010609060101010101" pitchFamily="49" charset="-122"/>
            </a:endParaRPr>
          </a:p>
        </p:txBody>
      </p:sp>
      <p:sp>
        <p:nvSpPr>
          <p:cNvPr id="10" name="文本框 9"/>
          <p:cNvSpPr txBox="1">
            <a:spLocks noChangeArrowheads="1"/>
          </p:cNvSpPr>
          <p:nvPr/>
        </p:nvSpPr>
        <p:spPr bwMode="auto">
          <a:xfrm>
            <a:off x="591183" y="993092"/>
            <a:ext cx="2967832" cy="584775"/>
          </a:xfrm>
          <a:prstGeom prst="rect">
            <a:avLst/>
          </a:prstGeom>
          <a:noFill/>
          <a:ln>
            <a:noFill/>
          </a:ln>
          <a:extLst>
            <a:ext uri="{909E8E84-426E-40DD-AFC4-6F175D3DCCD1}">
              <a14:hiddenFill xmlns:a14="http://schemas.microsoft.com/office/drawing/2010/main">
                <a:blipFill>
                  <a:blip r:embed="rId2"/>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作者简介</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rrowheads="1"/>
          </p:cNvSpPr>
          <p:nvPr/>
        </p:nvSpPr>
        <p:spPr bwMode="auto">
          <a:xfrm>
            <a:off x="482228" y="1024910"/>
            <a:ext cx="8179543" cy="36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800" b="1">
                <a:latin typeface="楷体" panose="02010609060101010101" pitchFamily="49" charset="-122"/>
                <a:ea typeface="楷体" panose="02010609060101010101" pitchFamily="49" charset="-122"/>
              </a:rPr>
              <a:t>    这首词是宋神宗熙宁九年（</a:t>
            </a:r>
            <a:r>
              <a:rPr lang="en-US" altLang="zh-CN" sz="2800" b="1">
                <a:latin typeface="楷体" panose="02010609060101010101" pitchFamily="49" charset="-122"/>
                <a:ea typeface="楷体" panose="02010609060101010101" pitchFamily="49" charset="-122"/>
              </a:rPr>
              <a:t>1076</a:t>
            </a:r>
            <a:r>
              <a:rPr lang="zh-CN" altLang="en-US" sz="2800" b="1">
                <a:latin typeface="楷体" panose="02010609060101010101" pitchFamily="49" charset="-122"/>
                <a:ea typeface="楷体" panose="02010609060101010101" pitchFamily="49" charset="-122"/>
              </a:rPr>
              <a:t>）中秋，苏轼在密州（今山东诸城）任太守时所作。当时，苏轼因为与王安石等人政见不同，自求外放，辗转在各地为官已有五年，与弟弟苏辙又长达七年未见。政治上不能施展抱负，再加上兄弟天各一方，中秋之夜，苏轼喝酒赏月，直到天亮，不禁思绪万千。这首词就是他赏月思亲而作。</a:t>
            </a:r>
            <a:endParaRPr lang="zh-CN" altLang="en-US" sz="2800" b="1">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482228" y="443708"/>
            <a:ext cx="2967832"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背景链接</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6"/>
          <p:cNvSpPr>
            <a:spLocks noChangeArrowheads="1"/>
          </p:cNvSpPr>
          <p:nvPr/>
        </p:nvSpPr>
        <p:spPr bwMode="auto">
          <a:xfrm>
            <a:off x="442595" y="1097207"/>
            <a:ext cx="8258810" cy="3787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pPr>
            <a:r>
              <a:rPr lang="zh-CN" altLang="en-US" sz="2400" b="1">
                <a:solidFill>
                  <a:srgbClr val="000000"/>
                </a:solidFill>
                <a:latin typeface="宋体" panose="02010600030101010101" pitchFamily="2" charset="-122"/>
              </a:rPr>
              <a:t>水调歌头</a:t>
            </a:r>
            <a:endParaRPr lang="en-US" altLang="zh-CN" sz="2400" b="1">
              <a:solidFill>
                <a:srgbClr val="000000"/>
              </a:solidFill>
              <a:latin typeface="宋体" panose="02010600030101010101" pitchFamily="2" charset="-122"/>
            </a:endParaRPr>
          </a:p>
          <a:p>
            <a:pPr algn="ctr" eaLnBrk="1" hangingPunct="1">
              <a:lnSpc>
                <a:spcPct val="130000"/>
              </a:lnSpc>
            </a:pPr>
            <a:r>
              <a:rPr lang="zh-CN" altLang="en-US" sz="2400" b="1">
                <a:solidFill>
                  <a:srgbClr val="000000"/>
                </a:solidFill>
                <a:latin typeface="宋体" panose="02010600030101010101" pitchFamily="2" charset="-122"/>
              </a:rPr>
              <a:t>苏 轼</a:t>
            </a:r>
            <a:endParaRPr lang="en-US" altLang="zh-CN" sz="2400" b="1">
              <a:solidFill>
                <a:srgbClr val="000000"/>
              </a:solidFill>
              <a:latin typeface="宋体" panose="02010600030101010101" pitchFamily="2" charset="-122"/>
            </a:endParaRPr>
          </a:p>
          <a:p>
            <a:pPr eaLnBrk="1" hangingPunct="1">
              <a:lnSpc>
                <a:spcPct val="130000"/>
              </a:lnSpc>
            </a:pPr>
            <a:r>
              <a:rPr lang="zh-CN" altLang="en-US" sz="2400" b="1">
                <a:solidFill>
                  <a:srgbClr val="000000"/>
                </a:solidFill>
                <a:latin typeface="宋体" panose="02010600030101010101" pitchFamily="2" charset="-122"/>
              </a:rPr>
              <a:t>    丙辰中秋，欢饮达旦，大醉，作此篇，兼怀子由。</a:t>
            </a:r>
            <a:endParaRPr lang="en-US" altLang="zh-CN" sz="2400" b="1">
              <a:solidFill>
                <a:srgbClr val="000000"/>
              </a:solidFill>
              <a:latin typeface="宋体" panose="02010600030101010101" pitchFamily="2" charset="-122"/>
            </a:endParaRPr>
          </a:p>
          <a:p>
            <a:pPr eaLnBrk="1" hangingPunct="1">
              <a:lnSpc>
                <a:spcPct val="130000"/>
              </a:lnSpc>
            </a:pPr>
            <a:r>
              <a:rPr lang="zh-CN" altLang="en-US" sz="2400" b="1">
                <a:solidFill>
                  <a:srgbClr val="000000"/>
                </a:solidFill>
                <a:latin typeface="宋体" panose="02010600030101010101" pitchFamily="2" charset="-122"/>
              </a:rPr>
              <a:t>    明月几时有？把酒问青天。不知天上宫阙，今夕是何年。我欲乘风归去，又恐琼楼玉宇，高处不胜寒。起舞弄清影，何似在人间。    转朱阁，低绮户，照无眠。不应有恨，何事长向别时圆？人有悲欢离合，月有阴晴圆缺，此事古难全。但愿人长久，千里共婵娟。</a:t>
            </a:r>
            <a:endParaRPr lang="zh-CN" altLang="en-US" sz="1400">
              <a:ea typeface="楷体" panose="02010609060101010101" pitchFamily="49" charset="-122"/>
            </a:endParaRPr>
          </a:p>
        </p:txBody>
      </p:sp>
      <p:grpSp>
        <p:nvGrpSpPr>
          <p:cNvPr id="4" name="组合 3"/>
          <p:cNvGrpSpPr/>
          <p:nvPr/>
        </p:nvGrpSpPr>
        <p:grpSpPr>
          <a:xfrm>
            <a:off x="188273" y="180059"/>
            <a:ext cx="8597909" cy="880110"/>
            <a:chOff x="279713" y="172439"/>
            <a:chExt cx="8597909" cy="880110"/>
          </a:xfrm>
        </p:grpSpPr>
        <p:sp>
          <p:nvSpPr>
            <p:cNvPr id="5" name="文本框 4"/>
            <p:cNvSpPr txBox="1">
              <a:spLocks noChangeArrowheads="1"/>
            </p:cNvSpPr>
            <p:nvPr/>
          </p:nvSpPr>
          <p:spPr bwMode="auto">
            <a:xfrm>
              <a:off x="956742" y="274387"/>
              <a:ext cx="7920880"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目标任务二：诵读全文，理解诗意。</a:t>
              </a:r>
              <a:endParaRPr lang="zh-CN" altLang="en-US" sz="3200" b="1">
                <a:latin typeface="黑体" panose="02010609060101010101" pitchFamily="2" charset="-122"/>
                <a:ea typeface="黑体" panose="02010609060101010101" pitchFamily="2" charset="-122"/>
              </a:endParaRPr>
            </a:p>
          </p:txBody>
        </p:sp>
        <p:pic>
          <p:nvPicPr>
            <p:cNvPr id="6" name="图片 5"/>
            <p:cNvPicPr/>
            <p:nvPr/>
          </p:nvPicPr>
          <p:blipFill>
            <a:blip r:embed="rId1"/>
            <a:stretch>
              <a:fillRect/>
            </a:stretch>
          </p:blipFill>
          <p:spPr>
            <a:xfrm>
              <a:off x="279713" y="172439"/>
              <a:ext cx="880110" cy="880110"/>
            </a:xfrm>
            <a:prstGeom prst="rect">
              <a:avLst/>
            </a:prstGeom>
          </p:spPr>
        </p:pic>
      </p:grpSp>
      <p:sp>
        <p:nvSpPr>
          <p:cNvPr id="8" name="文本框 7"/>
          <p:cNvSpPr txBox="1">
            <a:spLocks noChangeArrowheads="1"/>
          </p:cNvSpPr>
          <p:nvPr/>
        </p:nvSpPr>
        <p:spPr bwMode="auto">
          <a:xfrm>
            <a:off x="482228" y="939008"/>
            <a:ext cx="2967832" cy="584775"/>
          </a:xfrm>
          <a:prstGeom prst="rect">
            <a:avLst/>
          </a:prstGeom>
          <a:noFill/>
          <a:ln>
            <a:noFill/>
          </a:ln>
          <a:extLst>
            <a:ext uri="{909E8E84-426E-40DD-AFC4-6F175D3DCCD1}">
              <a14:hiddenFill xmlns:a14="http://schemas.microsoft.com/office/drawing/2010/main">
                <a:blipFill>
                  <a:blip r:embed="rId2"/>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读准字音</a:t>
            </a:r>
            <a:endParaRPr lang="zh-CN" altLang="en-US"/>
          </a:p>
        </p:txBody>
      </p:sp>
      <p:sp>
        <p:nvSpPr>
          <p:cNvPr id="11" name="矩形 10"/>
          <p:cNvSpPr>
            <a:spLocks noChangeArrowheads="1"/>
          </p:cNvSpPr>
          <p:nvPr/>
        </p:nvSpPr>
        <p:spPr bwMode="auto">
          <a:xfrm>
            <a:off x="5932550" y="2383384"/>
            <a:ext cx="947738" cy="540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000" b="1" err="1">
                <a:solidFill>
                  <a:srgbClr val="E60012"/>
                </a:solidFill>
                <a:latin typeface="汉语拼音" panose="020B0604020202020204" pitchFamily="34" charset="0"/>
                <a:ea typeface="+mn-ea"/>
                <a:cs typeface="汉语拼音" panose="020B0604020202020204" pitchFamily="34" charset="0"/>
              </a:rPr>
              <a:t>què</a:t>
            </a:r>
            <a:endParaRPr lang="zh-CN" altLang="en-US" sz="2000" b="1">
              <a:solidFill>
                <a:srgbClr val="E60012"/>
              </a:solidFill>
              <a:latin typeface="汉语拼音" panose="020B0604020202020204" pitchFamily="34" charset="0"/>
              <a:ea typeface="+mn-ea"/>
              <a:cs typeface="汉语拼音" panose="020B0604020202020204" pitchFamily="34" charset="0"/>
            </a:endParaRPr>
          </a:p>
        </p:txBody>
      </p:sp>
      <p:sp>
        <p:nvSpPr>
          <p:cNvPr id="14" name="矩形 13"/>
          <p:cNvSpPr>
            <a:spLocks noChangeArrowheads="1"/>
          </p:cNvSpPr>
          <p:nvPr/>
        </p:nvSpPr>
        <p:spPr bwMode="auto">
          <a:xfrm>
            <a:off x="2689626" y="2848695"/>
            <a:ext cx="1383708" cy="486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000" b="1" err="1">
                <a:solidFill>
                  <a:srgbClr val="E60012"/>
                </a:solidFill>
                <a:latin typeface="汉语拼音" panose="020B0604020202020204" pitchFamily="34" charset="0"/>
                <a:ea typeface="+mn-ea"/>
                <a:cs typeface="汉语拼音" panose="020B0604020202020204" pitchFamily="34" charset="0"/>
              </a:rPr>
              <a:t>qióng</a:t>
            </a:r>
            <a:endParaRPr lang="en-US" altLang="zh-CN" sz="2000" b="1">
              <a:solidFill>
                <a:srgbClr val="E60012"/>
              </a:solidFill>
              <a:latin typeface="汉语拼音" panose="020B0604020202020204" pitchFamily="34" charset="0"/>
              <a:ea typeface="+mn-ea"/>
              <a:cs typeface="汉语拼音" panose="020B0604020202020204" pitchFamily="34" charset="0"/>
            </a:endParaRPr>
          </a:p>
          <a:p>
            <a:pPr algn="ctr" eaLnBrk="1" hangingPunct="1">
              <a:defRPr/>
            </a:pPr>
            <a:endParaRPr lang="zh-CN" altLang="en-US" sz="2000" b="1">
              <a:solidFill>
                <a:srgbClr val="E60012"/>
              </a:solidFill>
              <a:latin typeface="汉语拼音" panose="020B0604020202020204" pitchFamily="34" charset="0"/>
              <a:ea typeface="+mn-ea"/>
              <a:cs typeface="汉语拼音" panose="020B0604020202020204" pitchFamily="34" charset="0"/>
            </a:endParaRPr>
          </a:p>
        </p:txBody>
      </p:sp>
      <p:sp>
        <p:nvSpPr>
          <p:cNvPr id="15" name="矩形 14"/>
          <p:cNvSpPr>
            <a:spLocks noChangeArrowheads="1"/>
          </p:cNvSpPr>
          <p:nvPr/>
        </p:nvSpPr>
        <p:spPr bwMode="auto">
          <a:xfrm>
            <a:off x="4210833" y="3274799"/>
            <a:ext cx="691854" cy="486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000" b="1" err="1">
                <a:solidFill>
                  <a:srgbClr val="E60012"/>
                </a:solidFill>
                <a:latin typeface="汉语拼音" panose="020B0604020202020204" pitchFamily="34" charset="0"/>
                <a:ea typeface="+mn-ea"/>
                <a:cs typeface="汉语拼音" panose="020B0604020202020204" pitchFamily="34" charset="0"/>
              </a:rPr>
              <a:t>qǐ</a:t>
            </a:r>
            <a:endParaRPr lang="zh-CN" altLang="en-US" sz="2000" b="1">
              <a:solidFill>
                <a:srgbClr val="E60012"/>
              </a:solidFill>
              <a:latin typeface="汉语拼音" panose="020B0604020202020204" pitchFamily="34" charset="0"/>
              <a:ea typeface="+mn-ea"/>
              <a:cs typeface="汉语拼音"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down)">
                                      <p:cBhvr>
                                        <p:cTn id="10" dur="500"/>
                                        <p:tgtEl>
                                          <p:spTgt spid="1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down)">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a:spLocks noChangeArrowheads="1"/>
          </p:cNvSpPr>
          <p:nvPr/>
        </p:nvSpPr>
        <p:spPr bwMode="auto">
          <a:xfrm>
            <a:off x="273322" y="362328"/>
            <a:ext cx="3439798"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了解诗歌形式</a:t>
            </a:r>
            <a:endParaRPr lang="zh-CN" altLang="en-US"/>
          </a:p>
        </p:txBody>
      </p:sp>
      <p:sp>
        <p:nvSpPr>
          <p:cNvPr id="3" name="矩形 2"/>
          <p:cNvSpPr>
            <a:spLocks noChangeArrowheads="1"/>
          </p:cNvSpPr>
          <p:nvPr/>
        </p:nvSpPr>
        <p:spPr bwMode="auto">
          <a:xfrm>
            <a:off x="820059" y="959348"/>
            <a:ext cx="7404100" cy="1123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indent="8032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eaLnBrk="1" hangingPunct="1">
              <a:lnSpc>
                <a:spcPct val="120000"/>
              </a:lnSpc>
            </a:pPr>
            <a:r>
              <a:rPr lang="zh-CN" altLang="en-US" sz="3200" b="1">
                <a:latin typeface="宋体" panose="02010600030101010101" pitchFamily="2" charset="-122"/>
              </a:rPr>
              <a:t>    比较典型的双调词，语句悠扬婉转、摇曳多姿。</a:t>
            </a:r>
            <a:endParaRPr lang="zh-CN" altLang="en-US">
              <a:ea typeface="楷体" panose="02010609060101010101" pitchFamily="49" charset="-122"/>
            </a:endParaRPr>
          </a:p>
        </p:txBody>
      </p:sp>
      <p:sp>
        <p:nvSpPr>
          <p:cNvPr id="4" name="文本框 3"/>
          <p:cNvSpPr txBox="1">
            <a:spLocks noChangeArrowheads="1"/>
          </p:cNvSpPr>
          <p:nvPr/>
        </p:nvSpPr>
        <p:spPr bwMode="auto">
          <a:xfrm>
            <a:off x="934359" y="2231946"/>
            <a:ext cx="3439798"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把握感情</a:t>
            </a:r>
            <a:endParaRPr lang="zh-CN" altLang="en-US"/>
          </a:p>
        </p:txBody>
      </p:sp>
      <p:sp>
        <p:nvSpPr>
          <p:cNvPr id="5" name="矩形 4"/>
          <p:cNvSpPr>
            <a:spLocks noChangeArrowheads="1"/>
          </p:cNvSpPr>
          <p:nvPr/>
        </p:nvSpPr>
        <p:spPr bwMode="auto">
          <a:xfrm>
            <a:off x="2359936" y="2819100"/>
            <a:ext cx="6727823" cy="53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indent="8032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eaLnBrk="1" hangingPunct="1">
              <a:lnSpc>
                <a:spcPct val="120000"/>
              </a:lnSpc>
            </a:pPr>
            <a:r>
              <a:rPr lang="zh-CN" altLang="en-US" sz="3200" b="1">
                <a:latin typeface="宋体" panose="02010600030101010101" pitchFamily="2" charset="-122"/>
              </a:rPr>
              <a:t>轻松，愉快，惆怅，郁结，豁达。</a:t>
            </a:r>
            <a:endParaRPr lang="zh-CN" altLang="en-US">
              <a:ea typeface="楷体" panose="02010609060101010101" pitchFamily="49" charset="-122"/>
            </a:endParaRPr>
          </a:p>
        </p:txBody>
      </p:sp>
      <p:sp>
        <p:nvSpPr>
          <p:cNvPr id="6" name="文本框 5"/>
          <p:cNvSpPr txBox="1">
            <a:spLocks noChangeArrowheads="1"/>
          </p:cNvSpPr>
          <p:nvPr/>
        </p:nvSpPr>
        <p:spPr bwMode="auto">
          <a:xfrm>
            <a:off x="1482999" y="3510633"/>
            <a:ext cx="3439798" cy="58477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a:t>注意语速</a:t>
            </a:r>
            <a:endParaRPr lang="zh-CN" altLang="en-US"/>
          </a:p>
        </p:txBody>
      </p:sp>
      <p:sp>
        <p:nvSpPr>
          <p:cNvPr id="7" name="矩形 6"/>
          <p:cNvSpPr>
            <a:spLocks noChangeArrowheads="1"/>
          </p:cNvSpPr>
          <p:nvPr/>
        </p:nvSpPr>
        <p:spPr bwMode="auto">
          <a:xfrm>
            <a:off x="2908576" y="4097785"/>
            <a:ext cx="6179183" cy="53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indent="80327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eaLnBrk="1" hangingPunct="1">
              <a:lnSpc>
                <a:spcPct val="120000"/>
              </a:lnSpc>
            </a:pPr>
            <a:r>
              <a:rPr lang="zh-CN" altLang="en-US" sz="3200" b="1">
                <a:latin typeface="宋体" panose="02010600030101010101" pitchFamily="2" charset="-122"/>
              </a:rPr>
              <a:t>明快，急促，有力，低沉，缓慢。</a:t>
            </a:r>
            <a:endParaRPr lang="zh-CN" altLang="en-US">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14" presetClass="entr" presetSubtype="1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randombar(horizontal)">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randombar(horizontal)">
                                      <p:cBhvr>
                                        <p:cTn id="21" dur="500"/>
                                        <p:tgtEl>
                                          <p:spTgt spid="7"/>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421435" y="577523"/>
            <a:ext cx="8301129" cy="3787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pPr>
            <a:r>
              <a:rPr lang="zh-CN" altLang="en-US" sz="2400" b="1">
                <a:solidFill>
                  <a:srgbClr val="000000"/>
                </a:solidFill>
                <a:latin typeface="宋体" panose="02010600030101010101" pitchFamily="2" charset="-122"/>
              </a:rPr>
              <a:t>水调歌头</a:t>
            </a:r>
            <a:endParaRPr lang="en-US" altLang="zh-CN" sz="2400" b="1">
              <a:solidFill>
                <a:srgbClr val="000000"/>
              </a:solidFill>
              <a:latin typeface="宋体" panose="02010600030101010101" pitchFamily="2" charset="-122"/>
            </a:endParaRPr>
          </a:p>
          <a:p>
            <a:pPr algn="ctr" eaLnBrk="1" hangingPunct="1">
              <a:lnSpc>
                <a:spcPct val="130000"/>
              </a:lnSpc>
            </a:pPr>
            <a:r>
              <a:rPr lang="zh-CN" altLang="en-US" sz="2400" b="1">
                <a:solidFill>
                  <a:srgbClr val="000000"/>
                </a:solidFill>
                <a:latin typeface="宋体" panose="02010600030101010101" pitchFamily="2" charset="-122"/>
              </a:rPr>
              <a:t>苏 轼</a:t>
            </a:r>
            <a:endParaRPr lang="en-US" altLang="zh-CN" sz="2400" b="1">
              <a:solidFill>
                <a:srgbClr val="000000"/>
              </a:solidFill>
              <a:latin typeface="宋体" panose="02010600030101010101" pitchFamily="2" charset="-122"/>
            </a:endParaRPr>
          </a:p>
          <a:p>
            <a:pPr eaLnBrk="1" hangingPunct="1">
              <a:lnSpc>
                <a:spcPct val="130000"/>
              </a:lnSpc>
            </a:pPr>
            <a:r>
              <a:rPr lang="zh-CN" altLang="en-US" sz="2400" b="1">
                <a:solidFill>
                  <a:srgbClr val="000000"/>
                </a:solidFill>
                <a:latin typeface="宋体" panose="02010600030101010101" pitchFamily="2" charset="-122"/>
              </a:rPr>
              <a:t>    丙辰中秋，欢饮达旦，大醉，作此篇，兼怀子由。</a:t>
            </a:r>
            <a:endParaRPr lang="en-US" altLang="zh-CN" sz="2400" b="1">
              <a:solidFill>
                <a:srgbClr val="000000"/>
              </a:solidFill>
              <a:latin typeface="宋体" panose="02010600030101010101" pitchFamily="2" charset="-122"/>
            </a:endParaRPr>
          </a:p>
          <a:p>
            <a:pPr eaLnBrk="1" hangingPunct="1">
              <a:lnSpc>
                <a:spcPct val="130000"/>
              </a:lnSpc>
            </a:pPr>
            <a:r>
              <a:rPr lang="zh-CN" altLang="en-US" sz="2400" b="1">
                <a:solidFill>
                  <a:srgbClr val="000000"/>
                </a:solidFill>
                <a:latin typeface="宋体" panose="02010600030101010101" pitchFamily="2" charset="-122"/>
              </a:rPr>
              <a:t>    明月</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几时</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有？把酒</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问</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青天。不知</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天上</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宫阙，今夕</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是</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何年。我欲</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乘风</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归去，又恐</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琼楼玉宇，高处</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不胜寒。起舞</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弄清影，何似</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在人间。    转</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朱阁，低</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绮户，照</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无眠。不应</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有恨，何事</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长向</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别时圆？人</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有悲欢离合，月</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有阴晴圆缺，此事</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古难全。但愿</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人</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长久，千里</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共</a:t>
            </a:r>
            <a:r>
              <a:rPr lang="en-US" altLang="zh-CN" sz="2400" b="1">
                <a:solidFill>
                  <a:srgbClr val="C00000"/>
                </a:solidFill>
                <a:latin typeface="宋体" panose="02010600030101010101" pitchFamily="2" charset="-122"/>
              </a:rPr>
              <a:t>/</a:t>
            </a:r>
            <a:r>
              <a:rPr lang="zh-CN" altLang="en-US" sz="2400" b="1">
                <a:solidFill>
                  <a:srgbClr val="000000"/>
                </a:solidFill>
                <a:latin typeface="宋体" panose="02010600030101010101" pitchFamily="2" charset="-122"/>
              </a:rPr>
              <a:t>婵娟。</a:t>
            </a:r>
            <a:endParaRPr lang="zh-CN" altLang="en-US" sz="2400">
              <a:ea typeface="楷体" panose="02010609060101010101" pitchFamily="49" charset="-122"/>
            </a:endParaRPr>
          </a:p>
        </p:txBody>
      </p:sp>
      <p:sp>
        <p:nvSpPr>
          <p:cNvPr id="3" name="文本框 2"/>
          <p:cNvSpPr txBox="1">
            <a:spLocks noChangeArrowheads="1"/>
          </p:cNvSpPr>
          <p:nvPr/>
        </p:nvSpPr>
        <p:spPr bwMode="auto">
          <a:xfrm>
            <a:off x="294231" y="222728"/>
            <a:ext cx="5590912" cy="46166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sz="2400"/>
              <a:t>把握节奏。</a:t>
            </a:r>
            <a:endParaRPr lang="zh-CN" altLang="en-US" sz="2400"/>
          </a:p>
        </p:txBody>
      </p:sp>
      <p:sp>
        <p:nvSpPr>
          <p:cNvPr id="4" name="文本框 3"/>
          <p:cNvSpPr txBox="1">
            <a:spLocks noChangeArrowheads="1"/>
          </p:cNvSpPr>
          <p:nvPr/>
        </p:nvSpPr>
        <p:spPr bwMode="auto">
          <a:xfrm>
            <a:off x="294231" y="4414059"/>
            <a:ext cx="8301129" cy="400110"/>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sz="2000"/>
              <a:t>适当重读：关键词语或能够体现作者内心感情的词语要重读。</a:t>
            </a:r>
            <a:endParaRPr lang="zh-CN" alt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573024" y="1371361"/>
            <a:ext cx="8019433" cy="3344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pPr>
            <a:r>
              <a:rPr lang="zh-CN" altLang="en-US" sz="2000" b="1">
                <a:solidFill>
                  <a:schemeClr val="accent6">
                    <a:lumMod val="50000"/>
                  </a:schemeClr>
                </a:solidFill>
                <a:latin typeface="楷体" panose="02010609060101010101" pitchFamily="49" charset="-122"/>
                <a:ea typeface="楷体" panose="02010609060101010101" pitchFamily="49" charset="-122"/>
              </a:rPr>
              <a:t>    熙宁九年中秋节，欢畅痛饮到天亮，大醉，写了这首词，兼以怀念弟弟子由。</a:t>
            </a:r>
            <a:endParaRPr lang="en-US" altLang="zh-CN" sz="2000" b="1">
              <a:solidFill>
                <a:schemeClr val="accent6">
                  <a:lumMod val="50000"/>
                </a:schemeClr>
              </a:solidFill>
              <a:latin typeface="楷体" panose="02010609060101010101" pitchFamily="49" charset="-122"/>
              <a:ea typeface="楷体" panose="02010609060101010101" pitchFamily="49" charset="-122"/>
            </a:endParaRPr>
          </a:p>
          <a:p>
            <a:pPr eaLnBrk="1" hangingPunct="1">
              <a:lnSpc>
                <a:spcPct val="110000"/>
              </a:lnSpc>
              <a:spcBef>
                <a:spcPct val="0"/>
              </a:spcBef>
            </a:pPr>
            <a:r>
              <a:rPr lang="zh-CN" altLang="en-US" sz="2000" b="1">
                <a:solidFill>
                  <a:schemeClr val="accent6">
                    <a:lumMod val="50000"/>
                  </a:schemeClr>
                </a:solidFill>
                <a:latin typeface="楷体" panose="02010609060101010101" pitchFamily="49" charset="-122"/>
                <a:ea typeface="楷体" panose="02010609060101010101" pitchFamily="49" charset="-122"/>
              </a:rPr>
              <a:t>    明月是从什么时候开始出现的？（我）端起酒杯问青天。不知道天上的宫殿，今天晚上是哪一年。我想乘风回到天上去，又担心在美玉砌成的楼宇里，经受不住高处的严寒。（我）在月光下起舞，影子也随着舞动，哪里比得上在人间。</a:t>
            </a:r>
            <a:endParaRPr lang="en-US" altLang="zh-CN" sz="2000" b="1">
              <a:solidFill>
                <a:schemeClr val="accent6">
                  <a:lumMod val="50000"/>
                </a:schemeClr>
              </a:solidFill>
              <a:latin typeface="楷体" panose="02010609060101010101" pitchFamily="49" charset="-122"/>
              <a:ea typeface="楷体" panose="02010609060101010101" pitchFamily="49" charset="-122"/>
            </a:endParaRPr>
          </a:p>
          <a:p>
            <a:pPr eaLnBrk="1" hangingPunct="1">
              <a:lnSpc>
                <a:spcPct val="110000"/>
              </a:lnSpc>
              <a:spcBef>
                <a:spcPct val="0"/>
              </a:spcBef>
            </a:pPr>
            <a:r>
              <a:rPr lang="zh-CN" altLang="en-US" sz="2000" b="1">
                <a:solidFill>
                  <a:schemeClr val="accent6">
                    <a:lumMod val="50000"/>
                  </a:schemeClr>
                </a:solidFill>
                <a:latin typeface="楷体" panose="02010609060101010101" pitchFamily="49" charset="-122"/>
                <a:ea typeface="楷体" panose="02010609060101010101" pitchFamily="49" charset="-122"/>
              </a:rPr>
              <a:t>    月儿转过朱红色的楼阁，低低地挂在雕花的门窗上，照着不能入睡的人。（月儿）不该有什么怨恨吧，为什么偏在人们不能团聚时圆呢？人间总有悲欢离合之事，月亮总有阴晴圆缺之时，这种事情自古就难以圆满。只愿你我健康长寿，虽相隔千里，也能共享这美好的月亮。</a:t>
            </a:r>
            <a:endParaRPr lang="zh-CN" altLang="en-US" sz="2000" b="1">
              <a:solidFill>
                <a:schemeClr val="accent6">
                  <a:lumMod val="50000"/>
                </a:schemeClr>
              </a:solidFill>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322955" y="357153"/>
            <a:ext cx="8117102" cy="919867"/>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sz="2400"/>
              <a:t>理解诗意。利用课下注释和工具书，读懂大意，用自己的话对诗歌的内容进行复述。</a:t>
            </a:r>
            <a:endParaRPr lang="zh-CN" altLang="en-US"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816441" y="2888106"/>
            <a:ext cx="7776015" cy="1115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pPr>
            <a:r>
              <a:rPr lang="zh-CN" altLang="en-US" sz="3000" b="1">
                <a:solidFill>
                  <a:schemeClr val="accent6">
                    <a:lumMod val="50000"/>
                  </a:schemeClr>
                </a:solidFill>
                <a:latin typeface="楷体" panose="02010609060101010101" pitchFamily="49" charset="-122"/>
                <a:ea typeface="楷体" panose="02010609060101010101" pitchFamily="49" charset="-122"/>
              </a:rPr>
              <a:t>    交代了写作本词的时间（中秋）和目的（兼怀子由）。</a:t>
            </a:r>
            <a:endParaRPr lang="zh-CN" altLang="en-US" sz="3000" b="1">
              <a:solidFill>
                <a:schemeClr val="accent6">
                  <a:lumMod val="50000"/>
                </a:schemeClr>
              </a:solidFill>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322955" y="1351376"/>
            <a:ext cx="8117102" cy="604781"/>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a:t>本词的小序有什么作用？</a:t>
            </a:r>
            <a:endParaRPr lang="zh-CN" altLang="en-US"/>
          </a:p>
        </p:txBody>
      </p:sp>
      <p:grpSp>
        <p:nvGrpSpPr>
          <p:cNvPr id="4" name="组合 3"/>
          <p:cNvGrpSpPr/>
          <p:nvPr/>
        </p:nvGrpSpPr>
        <p:grpSpPr>
          <a:xfrm>
            <a:off x="188273" y="346971"/>
            <a:ext cx="8597909" cy="880110"/>
            <a:chOff x="279713" y="172439"/>
            <a:chExt cx="8597909" cy="880110"/>
          </a:xfrm>
        </p:grpSpPr>
        <p:sp>
          <p:nvSpPr>
            <p:cNvPr id="5" name="文本框 4"/>
            <p:cNvSpPr txBox="1">
              <a:spLocks noChangeArrowheads="1"/>
            </p:cNvSpPr>
            <p:nvPr/>
          </p:nvSpPr>
          <p:spPr bwMode="auto">
            <a:xfrm>
              <a:off x="956742" y="274387"/>
              <a:ext cx="7920880"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目标任务三：反复诵读，理解诗歌内容。</a:t>
              </a:r>
              <a:endParaRPr lang="zh-CN" altLang="en-US" sz="3200" b="1">
                <a:latin typeface="黑体" panose="02010609060101010101" pitchFamily="2" charset="-122"/>
                <a:ea typeface="黑体" panose="02010609060101010101" pitchFamily="2" charset="-122"/>
              </a:endParaRPr>
            </a:p>
          </p:txBody>
        </p:sp>
        <p:pic>
          <p:nvPicPr>
            <p:cNvPr id="6" name="图片 5"/>
            <p:cNvPicPr/>
            <p:nvPr/>
          </p:nvPicPr>
          <p:blipFill>
            <a:blip r:embed="rId2"/>
            <a:stretch>
              <a:fillRect/>
            </a:stretch>
          </p:blipFill>
          <p:spPr>
            <a:xfrm>
              <a:off x="279713" y="172439"/>
              <a:ext cx="880110" cy="880110"/>
            </a:xfrm>
            <a:prstGeom prst="rect">
              <a:avLst/>
            </a:prstGeom>
          </p:spPr>
        </p:pic>
      </p:grpSp>
      <p:sp>
        <p:nvSpPr>
          <p:cNvPr id="7" name="矩形 6"/>
          <p:cNvSpPr>
            <a:spLocks noChangeArrowheads="1"/>
          </p:cNvSpPr>
          <p:nvPr/>
        </p:nvSpPr>
        <p:spPr bwMode="auto">
          <a:xfrm>
            <a:off x="433597" y="2181777"/>
            <a:ext cx="8541702" cy="480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pPr>
            <a:r>
              <a:rPr lang="zh-CN" altLang="en-US" sz="2800" b="1">
                <a:solidFill>
                  <a:srgbClr val="000000"/>
                </a:solidFill>
                <a:latin typeface="宋体" panose="02010600030101010101" pitchFamily="2" charset="-122"/>
              </a:rPr>
              <a:t>丙辰中秋，欢饮达旦，大醉，作此篇，兼怀子由。</a:t>
            </a:r>
            <a:endParaRPr lang="en-US" altLang="zh-CN" sz="2800" b="1">
              <a:solidFill>
                <a:srgbClr val="000000"/>
              </a:solidFill>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121243" y="2314564"/>
            <a:ext cx="7122872" cy="1715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pPr>
            <a:r>
              <a:rPr lang="zh-CN" altLang="en-US" sz="3000" b="1">
                <a:solidFill>
                  <a:schemeClr val="accent6">
                    <a:lumMod val="50000"/>
                  </a:schemeClr>
                </a:solidFill>
                <a:latin typeface="楷体" panose="02010609060101010101" pitchFamily="49" charset="-122"/>
                <a:ea typeface="楷体" panose="02010609060101010101" pitchFamily="49" charset="-122"/>
              </a:rPr>
              <a:t>    向往天上仙境，惆怅于人间生活中的种种不顺；但又眷念人世间的繁华热闹，不舍离去。</a:t>
            </a:r>
            <a:endParaRPr lang="zh-CN" altLang="en-US" sz="3000" b="1">
              <a:solidFill>
                <a:schemeClr val="accent6">
                  <a:lumMod val="50000"/>
                </a:schemeClr>
              </a:solidFill>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513449" y="959492"/>
            <a:ext cx="7730665" cy="1195712"/>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a:t>“我欲乘风归去，又恐琼楼玉宇，高处不胜寒”写出了词人怎样的矛盾心理？</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620040" y="1921361"/>
            <a:ext cx="7903919" cy="2516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pPr>
            <a:r>
              <a:rPr lang="zh-CN" altLang="en-US" sz="2800" b="1">
                <a:solidFill>
                  <a:schemeClr val="accent6">
                    <a:lumMod val="50000"/>
                  </a:schemeClr>
                </a:solidFill>
                <a:latin typeface="楷体" panose="02010609060101010101" pitchFamily="49" charset="-122"/>
                <a:ea typeface="楷体" panose="02010609060101010101" pitchFamily="49" charset="-122"/>
              </a:rPr>
              <a:t>    这是蕴含了人生哲理的句子，它将人世的聚合离散看作明月的阴晴圆缺，两者都是自然的常理，非人力所能左右，是人生无法克服的遗憾。既然如此，就不必再慨叹悲伤了。表现了词人由心中有所郁结到心胸开阔，作达观之想的心理变化。</a:t>
            </a:r>
            <a:endParaRPr lang="zh-CN" altLang="en-US" sz="2800" b="1">
              <a:solidFill>
                <a:schemeClr val="accent6">
                  <a:lumMod val="50000"/>
                </a:schemeClr>
              </a:solidFill>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329295" y="705488"/>
            <a:ext cx="8647791" cy="1057790"/>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sz="2800"/>
              <a:t>“人有悲欢离合，月有阴晴圆缺，此事古难全。”你从中读出了什么？</a:t>
            </a: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888549" y="2654331"/>
            <a:ext cx="7635411" cy="1103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pPr>
            <a:r>
              <a:rPr lang="zh-CN" altLang="en-US" sz="3200" b="1">
                <a:solidFill>
                  <a:schemeClr val="accent6">
                    <a:lumMod val="50000"/>
                  </a:schemeClr>
                </a:solidFill>
                <a:latin typeface="楷体" panose="02010609060101010101" pitchFamily="49" charset="-122"/>
                <a:ea typeface="楷体" panose="02010609060101010101" pitchFamily="49" charset="-122"/>
              </a:rPr>
              <a:t>    祝愿离别之人都能健康长寿，虽不能相聚也能共享美好的月光。</a:t>
            </a:r>
            <a:endParaRPr lang="zh-CN" altLang="en-US" sz="3200" b="1">
              <a:solidFill>
                <a:schemeClr val="accent6">
                  <a:lumMod val="50000"/>
                </a:schemeClr>
              </a:solidFill>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329296" y="1213488"/>
            <a:ext cx="8194664" cy="1195712"/>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a:t>“但愿人长久，千里共婵娟”表达了词人怎样的祝愿？</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888549" y="1783477"/>
            <a:ext cx="7635411" cy="287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pPr>
            <a:r>
              <a:rPr lang="zh-CN" altLang="en-US" sz="3200" b="1">
                <a:solidFill>
                  <a:schemeClr val="accent6">
                    <a:lumMod val="50000"/>
                  </a:schemeClr>
                </a:solidFill>
                <a:latin typeface="楷体" panose="02010609060101010101" pitchFamily="49" charset="-122"/>
                <a:ea typeface="楷体" panose="02010609060101010101" pitchFamily="49" charset="-122"/>
              </a:rPr>
              <a:t>实景：明月、酒、青天、“我”、风、清影、朱阁、绮户。</a:t>
            </a:r>
            <a:endParaRPr lang="zh-CN" altLang="en-US" sz="3200" b="1">
              <a:solidFill>
                <a:schemeClr val="accent6">
                  <a:lumMod val="50000"/>
                </a:schemeClr>
              </a:solidFill>
              <a:latin typeface="楷体" panose="02010609060101010101" pitchFamily="49" charset="-122"/>
              <a:ea typeface="楷体" panose="02010609060101010101" pitchFamily="49" charset="-122"/>
            </a:endParaRPr>
          </a:p>
          <a:p>
            <a:pPr eaLnBrk="1" hangingPunct="1">
              <a:lnSpc>
                <a:spcPct val="120000"/>
              </a:lnSpc>
              <a:spcBef>
                <a:spcPct val="0"/>
              </a:spcBef>
            </a:pPr>
            <a:r>
              <a:rPr lang="zh-CN" altLang="en-US" sz="3200" b="1">
                <a:solidFill>
                  <a:schemeClr val="accent6">
                    <a:lumMod val="50000"/>
                  </a:schemeClr>
                </a:solidFill>
                <a:latin typeface="楷体" panose="02010609060101010101" pitchFamily="49" charset="-122"/>
                <a:ea typeface="楷体" panose="02010609060101010101" pitchFamily="49" charset="-122"/>
              </a:rPr>
              <a:t>虚景：宫阙、琼楼玉宇。</a:t>
            </a:r>
            <a:endParaRPr lang="zh-CN" altLang="en-US" sz="3200" b="1">
              <a:solidFill>
                <a:schemeClr val="accent6">
                  <a:lumMod val="50000"/>
                </a:schemeClr>
              </a:solidFill>
              <a:latin typeface="楷体" panose="02010609060101010101" pitchFamily="49" charset="-122"/>
              <a:ea typeface="楷体" panose="02010609060101010101" pitchFamily="49" charset="-122"/>
            </a:endParaRPr>
          </a:p>
          <a:p>
            <a:pPr eaLnBrk="1" hangingPunct="1">
              <a:lnSpc>
                <a:spcPct val="120000"/>
              </a:lnSpc>
              <a:spcBef>
                <a:spcPct val="0"/>
              </a:spcBef>
            </a:pPr>
            <a:r>
              <a:rPr lang="zh-CN" altLang="en-US" sz="3200" b="1">
                <a:solidFill>
                  <a:schemeClr val="accent6">
                    <a:lumMod val="50000"/>
                  </a:schemeClr>
                </a:solidFill>
                <a:latin typeface="楷体" panose="02010609060101010101" pitchFamily="49" charset="-122"/>
                <a:ea typeface="楷体" panose="02010609060101010101" pitchFamily="49" charset="-122"/>
              </a:rPr>
              <a:t>联想：明月</a:t>
            </a:r>
            <a:r>
              <a:rPr lang="en-US" altLang="zh-CN" sz="3200" b="1">
                <a:solidFill>
                  <a:schemeClr val="accent6">
                    <a:lumMod val="50000"/>
                  </a:schemeClr>
                </a:solidFill>
                <a:latin typeface="楷体" panose="02010609060101010101" pitchFamily="49" charset="-122"/>
                <a:ea typeface="楷体" panose="02010609060101010101" pitchFamily="49" charset="-122"/>
              </a:rPr>
              <a:t>(</a:t>
            </a:r>
            <a:r>
              <a:rPr lang="zh-CN" altLang="en-US" sz="3200" b="1">
                <a:solidFill>
                  <a:schemeClr val="accent6">
                    <a:lumMod val="50000"/>
                  </a:schemeClr>
                </a:solidFill>
                <a:latin typeface="楷体" panose="02010609060101010101" pitchFamily="49" charset="-122"/>
                <a:ea typeface="楷体" panose="02010609060101010101" pitchFamily="49" charset="-122"/>
              </a:rPr>
              <a:t>月圆</a:t>
            </a:r>
            <a:r>
              <a:rPr lang="en-US" altLang="zh-CN" sz="3200" b="1">
                <a:solidFill>
                  <a:schemeClr val="accent6">
                    <a:lumMod val="50000"/>
                  </a:schemeClr>
                </a:solidFill>
                <a:latin typeface="楷体" panose="02010609060101010101" pitchFamily="49" charset="-122"/>
                <a:ea typeface="楷体" panose="02010609060101010101" pitchFamily="49" charset="-122"/>
              </a:rPr>
              <a:t>)→</a:t>
            </a:r>
            <a:r>
              <a:rPr lang="zh-CN" altLang="en-US" sz="3200" b="1">
                <a:solidFill>
                  <a:schemeClr val="accent6">
                    <a:lumMod val="50000"/>
                  </a:schemeClr>
                </a:solidFill>
                <a:latin typeface="楷体" panose="02010609060101010101" pitchFamily="49" charset="-122"/>
                <a:ea typeface="楷体" panose="02010609060101010101" pitchFamily="49" charset="-122"/>
              </a:rPr>
              <a:t>团圆</a:t>
            </a:r>
            <a:r>
              <a:rPr lang="en-US" altLang="zh-CN" sz="3200" b="1">
                <a:solidFill>
                  <a:schemeClr val="accent6">
                    <a:lumMod val="50000"/>
                  </a:schemeClr>
                </a:solidFill>
                <a:latin typeface="楷体" panose="02010609060101010101" pitchFamily="49" charset="-122"/>
                <a:ea typeface="楷体" panose="02010609060101010101" pitchFamily="49" charset="-122"/>
              </a:rPr>
              <a:t>(</a:t>
            </a:r>
            <a:r>
              <a:rPr lang="zh-CN" altLang="en-US" sz="3200" b="1">
                <a:solidFill>
                  <a:schemeClr val="accent6">
                    <a:lumMod val="50000"/>
                  </a:schemeClr>
                </a:solidFill>
                <a:latin typeface="楷体" panose="02010609060101010101" pitchFamily="49" charset="-122"/>
                <a:ea typeface="楷体" panose="02010609060101010101" pitchFamily="49" charset="-122"/>
              </a:rPr>
              <a:t>人圆</a:t>
            </a:r>
            <a:r>
              <a:rPr lang="en-US" altLang="zh-CN" sz="3200" b="1">
                <a:solidFill>
                  <a:schemeClr val="accent6">
                    <a:lumMod val="50000"/>
                  </a:schemeClr>
                </a:solidFill>
                <a:latin typeface="楷体" panose="02010609060101010101" pitchFamily="49" charset="-122"/>
                <a:ea typeface="楷体" panose="02010609060101010101" pitchFamily="49" charset="-122"/>
              </a:rPr>
              <a:t>)</a:t>
            </a:r>
            <a:r>
              <a:rPr lang="zh-CN" altLang="en-US" sz="3200" b="1">
                <a:solidFill>
                  <a:schemeClr val="accent6">
                    <a:lumMod val="50000"/>
                  </a:schemeClr>
                </a:solidFill>
                <a:latin typeface="楷体" panose="02010609060101010101" pitchFamily="49" charset="-122"/>
                <a:ea typeface="楷体" panose="02010609060101010101" pitchFamily="49" charset="-122"/>
              </a:rPr>
              <a:t>。</a:t>
            </a:r>
            <a:endParaRPr lang="en-US" altLang="zh-CN" sz="3200" b="1">
              <a:solidFill>
                <a:schemeClr val="accent6">
                  <a:lumMod val="50000"/>
                </a:schemeClr>
              </a:solidFill>
              <a:latin typeface="楷体" panose="02010609060101010101" pitchFamily="49" charset="-122"/>
              <a:ea typeface="楷体" panose="02010609060101010101" pitchFamily="49" charset="-122"/>
            </a:endParaRPr>
          </a:p>
          <a:p>
            <a:pPr eaLnBrk="1" hangingPunct="1">
              <a:lnSpc>
                <a:spcPct val="120000"/>
              </a:lnSpc>
              <a:spcBef>
                <a:spcPct val="0"/>
              </a:spcBef>
            </a:pPr>
            <a:r>
              <a:rPr lang="zh-CN" altLang="en-US" sz="3200" b="1">
                <a:solidFill>
                  <a:schemeClr val="accent6">
                    <a:lumMod val="50000"/>
                  </a:schemeClr>
                </a:solidFill>
                <a:latin typeface="楷体" panose="02010609060101010101" pitchFamily="49" charset="-122"/>
                <a:ea typeface="楷体" panose="02010609060101010101" pitchFamily="49" charset="-122"/>
              </a:rPr>
              <a:t>想象：明月→宫阙、琼楼玉宇。</a:t>
            </a:r>
            <a:endParaRPr lang="zh-CN" altLang="en-US" sz="3200" b="1">
              <a:solidFill>
                <a:schemeClr val="accent6">
                  <a:lumMod val="50000"/>
                </a:schemeClr>
              </a:solidFill>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329296" y="473263"/>
            <a:ext cx="8194664" cy="1196033"/>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a:t>阅读全词，说说词中哪些是实景，哪些是虚景，哪些地方运用了想象和联想。</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a:spLocks noChangeArrowheads="1"/>
          </p:cNvSpPr>
          <p:nvPr/>
        </p:nvSpPr>
        <p:spPr bwMode="auto">
          <a:xfrm>
            <a:off x="865302" y="3283533"/>
            <a:ext cx="7792469" cy="1369157"/>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marL="0" indent="0">
              <a:lnSpc>
                <a:spcPct val="150000"/>
              </a:lnSpc>
              <a:buNone/>
            </a:pPr>
            <a:r>
              <a:rPr lang="en-US" altLang="zh-CN" sz="3000"/>
              <a:t>    _____</a:t>
            </a:r>
            <a:r>
              <a:rPr lang="zh-CN" altLang="en-US" sz="3000"/>
              <a:t>月，</a:t>
            </a:r>
            <a:r>
              <a:rPr lang="en-US" altLang="zh-CN" sz="3000"/>
              <a:t>______</a:t>
            </a:r>
            <a:r>
              <a:rPr lang="en-US" altLang="en-US" sz="3000"/>
              <a:t>→</a:t>
            </a:r>
            <a:r>
              <a:rPr lang="en-US" altLang="zh-CN" sz="3000"/>
              <a:t>_____</a:t>
            </a:r>
            <a:r>
              <a:rPr lang="zh-CN" altLang="en-US" sz="3000"/>
              <a:t>月，</a:t>
            </a:r>
            <a:r>
              <a:rPr lang="en-US" altLang="zh-CN" sz="3000"/>
              <a:t>______</a:t>
            </a:r>
            <a:r>
              <a:rPr lang="en-US" altLang="en-US" sz="3000"/>
              <a:t>→</a:t>
            </a:r>
            <a:endParaRPr lang="en-US" altLang="en-US" sz="3000"/>
          </a:p>
          <a:p>
            <a:pPr marL="0" indent="0">
              <a:lnSpc>
                <a:spcPct val="150000"/>
              </a:lnSpc>
              <a:buNone/>
            </a:pPr>
            <a:r>
              <a:rPr lang="en-US" altLang="zh-CN" sz="3000"/>
              <a:t>_____</a:t>
            </a:r>
            <a:r>
              <a:rPr lang="zh-CN" altLang="en-US" sz="3000"/>
              <a:t>月，</a:t>
            </a:r>
            <a:r>
              <a:rPr lang="en-US" altLang="zh-CN" sz="3000"/>
              <a:t>______</a:t>
            </a:r>
            <a:r>
              <a:rPr lang="en-US" altLang="en-US" sz="3000"/>
              <a:t>→</a:t>
            </a:r>
            <a:r>
              <a:rPr lang="en-US" altLang="zh-CN" sz="3000"/>
              <a:t>_____</a:t>
            </a:r>
            <a:r>
              <a:rPr lang="zh-CN" altLang="en-US" sz="3000"/>
              <a:t>月，</a:t>
            </a:r>
            <a:r>
              <a:rPr lang="en-US" altLang="zh-CN" sz="3000"/>
              <a:t>______</a:t>
            </a:r>
            <a:endParaRPr lang="en-US" altLang="en-US" sz="3000"/>
          </a:p>
        </p:txBody>
      </p:sp>
      <p:sp>
        <p:nvSpPr>
          <p:cNvPr id="2" name="矩形 6"/>
          <p:cNvSpPr>
            <a:spLocks noChangeArrowheads="1"/>
          </p:cNvSpPr>
          <p:nvPr/>
        </p:nvSpPr>
        <p:spPr bwMode="auto">
          <a:xfrm>
            <a:off x="1781313" y="3381124"/>
            <a:ext cx="871535" cy="51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spcBef>
                <a:spcPct val="0"/>
              </a:spcBef>
            </a:pPr>
            <a:r>
              <a:rPr lang="zh-CN" altLang="en-US" sz="3200" b="1">
                <a:solidFill>
                  <a:schemeClr val="accent6">
                    <a:lumMod val="50000"/>
                  </a:schemeClr>
                </a:solidFill>
                <a:latin typeface="楷体" panose="02010609060101010101" pitchFamily="49" charset="-122"/>
                <a:ea typeface="楷体" panose="02010609060101010101" pitchFamily="49" charset="-122"/>
              </a:rPr>
              <a:t>问</a:t>
            </a:r>
            <a:endParaRPr lang="en-US" altLang="zh-CN" sz="3200" b="1">
              <a:solidFill>
                <a:schemeClr val="accent6">
                  <a:lumMod val="50000"/>
                </a:schemeClr>
              </a:solidFill>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343557" y="980174"/>
            <a:ext cx="8456886" cy="2234779"/>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sz="3000"/>
              <a:t>有一个意象贯穿了</a:t>
            </a:r>
            <a:r>
              <a:rPr lang="en-US" altLang="zh-CN" sz="3000"/>
              <a:t>《</a:t>
            </a:r>
            <a:r>
              <a:rPr lang="zh-CN" altLang="en-US" sz="3000"/>
              <a:t>水调歌头</a:t>
            </a:r>
            <a:r>
              <a:rPr lang="en-US" altLang="zh-CN" sz="3000"/>
              <a:t>》</a:t>
            </a:r>
            <a:r>
              <a:rPr lang="zh-CN" altLang="en-US" sz="3000"/>
              <a:t>（明月几时有）全词，它就是</a:t>
            </a:r>
            <a:r>
              <a:rPr lang="en-US" altLang="zh-CN" sz="3000" spc="-150"/>
              <a:t>——</a:t>
            </a:r>
            <a:r>
              <a:rPr lang="zh-CN" altLang="en-US" sz="3000"/>
              <a:t>月。请你朗读词作，将下列空白处补充完整。其中“月”前补充一个表示词人动作的字，后面的空格填写词人的感受。</a:t>
            </a:r>
            <a:endParaRPr lang="zh-CN" altLang="en-US" sz="3000"/>
          </a:p>
        </p:txBody>
      </p:sp>
      <p:grpSp>
        <p:nvGrpSpPr>
          <p:cNvPr id="4" name="组合 3"/>
          <p:cNvGrpSpPr/>
          <p:nvPr/>
        </p:nvGrpSpPr>
        <p:grpSpPr>
          <a:xfrm>
            <a:off x="188273" y="193121"/>
            <a:ext cx="8597909" cy="880110"/>
            <a:chOff x="279713" y="172439"/>
            <a:chExt cx="8597909" cy="880110"/>
          </a:xfrm>
        </p:grpSpPr>
        <p:sp>
          <p:nvSpPr>
            <p:cNvPr id="5" name="文本框 4"/>
            <p:cNvSpPr txBox="1">
              <a:spLocks noChangeArrowheads="1"/>
            </p:cNvSpPr>
            <p:nvPr/>
          </p:nvSpPr>
          <p:spPr bwMode="auto">
            <a:xfrm>
              <a:off x="956742" y="274387"/>
              <a:ext cx="7920880"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目标任务四：把握意象，体会词中意境。</a:t>
              </a:r>
              <a:endParaRPr lang="zh-CN" altLang="en-US" sz="3200" b="1">
                <a:latin typeface="黑体" panose="02010609060101010101" pitchFamily="2" charset="-122"/>
                <a:ea typeface="黑体" panose="02010609060101010101" pitchFamily="2" charset="-122"/>
              </a:endParaRPr>
            </a:p>
          </p:txBody>
        </p:sp>
        <p:pic>
          <p:nvPicPr>
            <p:cNvPr id="6" name="图片 5"/>
            <p:cNvPicPr/>
            <p:nvPr/>
          </p:nvPicPr>
          <p:blipFill>
            <a:blip r:embed="rId2"/>
            <a:stretch>
              <a:fillRect/>
            </a:stretch>
          </p:blipFill>
          <p:spPr>
            <a:xfrm>
              <a:off x="279713" y="172439"/>
              <a:ext cx="880110" cy="880110"/>
            </a:xfrm>
            <a:prstGeom prst="rect">
              <a:avLst/>
            </a:prstGeom>
          </p:spPr>
        </p:pic>
      </p:grpSp>
      <p:sp>
        <p:nvSpPr>
          <p:cNvPr id="8" name="矩形 6"/>
          <p:cNvSpPr>
            <a:spLocks noChangeArrowheads="1"/>
          </p:cNvSpPr>
          <p:nvPr/>
        </p:nvSpPr>
        <p:spPr bwMode="auto">
          <a:xfrm>
            <a:off x="3483539" y="3381124"/>
            <a:ext cx="1054558" cy="51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spcBef>
                <a:spcPct val="0"/>
              </a:spcBef>
            </a:pPr>
            <a:r>
              <a:rPr lang="zh-CN" altLang="en-US" sz="3200" b="1">
                <a:solidFill>
                  <a:schemeClr val="accent6">
                    <a:lumMod val="50000"/>
                  </a:schemeClr>
                </a:solidFill>
                <a:latin typeface="楷体" panose="02010609060101010101" pitchFamily="49" charset="-122"/>
                <a:ea typeface="楷体" panose="02010609060101010101" pitchFamily="49" charset="-122"/>
              </a:rPr>
              <a:t>孤独</a:t>
            </a:r>
            <a:endParaRPr lang="zh-CN" altLang="en-US" sz="3200" b="1">
              <a:solidFill>
                <a:schemeClr val="accent6">
                  <a:lumMod val="50000"/>
                </a:schemeClr>
              </a:solidFill>
              <a:latin typeface="楷体" panose="02010609060101010101" pitchFamily="49" charset="-122"/>
              <a:ea typeface="楷体" panose="02010609060101010101" pitchFamily="49" charset="-122"/>
            </a:endParaRPr>
          </a:p>
        </p:txBody>
      </p:sp>
      <p:sp>
        <p:nvSpPr>
          <p:cNvPr id="9" name="矩形 6"/>
          <p:cNvSpPr>
            <a:spLocks noChangeArrowheads="1"/>
          </p:cNvSpPr>
          <p:nvPr/>
        </p:nvSpPr>
        <p:spPr bwMode="auto">
          <a:xfrm>
            <a:off x="6775379" y="3381124"/>
            <a:ext cx="1054558" cy="51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spcBef>
                <a:spcPct val="0"/>
              </a:spcBef>
            </a:pPr>
            <a:r>
              <a:rPr lang="zh-CN" altLang="en-US" sz="3200" b="1">
                <a:solidFill>
                  <a:schemeClr val="accent6">
                    <a:lumMod val="50000"/>
                  </a:schemeClr>
                </a:solidFill>
                <a:latin typeface="楷体" panose="02010609060101010101" pitchFamily="49" charset="-122"/>
                <a:ea typeface="楷体" panose="02010609060101010101" pitchFamily="49" charset="-122"/>
              </a:rPr>
              <a:t>惆怅</a:t>
            </a:r>
            <a:endParaRPr lang="zh-CN" altLang="en-US" sz="3200" b="1">
              <a:solidFill>
                <a:schemeClr val="accent6">
                  <a:lumMod val="50000"/>
                </a:schemeClr>
              </a:solidFill>
              <a:latin typeface="楷体" panose="02010609060101010101" pitchFamily="49" charset="-122"/>
              <a:ea typeface="楷体" panose="02010609060101010101" pitchFamily="49" charset="-122"/>
            </a:endParaRPr>
          </a:p>
        </p:txBody>
      </p:sp>
      <p:sp>
        <p:nvSpPr>
          <p:cNvPr id="10" name="矩形 6"/>
          <p:cNvSpPr>
            <a:spLocks noChangeArrowheads="1"/>
          </p:cNvSpPr>
          <p:nvPr/>
        </p:nvSpPr>
        <p:spPr bwMode="auto">
          <a:xfrm>
            <a:off x="5059842" y="3392066"/>
            <a:ext cx="871535" cy="51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spcBef>
                <a:spcPct val="0"/>
              </a:spcBef>
            </a:pPr>
            <a:r>
              <a:rPr lang="zh-CN" altLang="en-US" sz="3200" b="1">
                <a:solidFill>
                  <a:schemeClr val="accent6">
                    <a:lumMod val="50000"/>
                  </a:schemeClr>
                </a:solidFill>
                <a:latin typeface="楷体" panose="02010609060101010101" pitchFamily="49" charset="-122"/>
                <a:ea typeface="楷体" panose="02010609060101010101" pitchFamily="49" charset="-122"/>
              </a:rPr>
              <a:t>望</a:t>
            </a:r>
            <a:endParaRPr lang="en-US" altLang="zh-CN" sz="3200" b="1">
              <a:solidFill>
                <a:schemeClr val="accent6">
                  <a:lumMod val="50000"/>
                </a:schemeClr>
              </a:solidFill>
              <a:latin typeface="楷体" panose="02010609060101010101" pitchFamily="49" charset="-122"/>
              <a:ea typeface="楷体" panose="02010609060101010101" pitchFamily="49" charset="-122"/>
            </a:endParaRPr>
          </a:p>
        </p:txBody>
      </p:sp>
      <p:sp>
        <p:nvSpPr>
          <p:cNvPr id="11" name="矩形 6"/>
          <p:cNvSpPr>
            <a:spLocks noChangeArrowheads="1"/>
          </p:cNvSpPr>
          <p:nvPr/>
        </p:nvSpPr>
        <p:spPr bwMode="auto">
          <a:xfrm>
            <a:off x="2705560" y="4062966"/>
            <a:ext cx="1054558" cy="51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spcBef>
                <a:spcPct val="0"/>
              </a:spcBef>
            </a:pPr>
            <a:r>
              <a:rPr lang="zh-CN" altLang="en-US" sz="3200" b="1">
                <a:solidFill>
                  <a:schemeClr val="accent6">
                    <a:lumMod val="50000"/>
                  </a:schemeClr>
                </a:solidFill>
                <a:latin typeface="楷体" panose="02010609060101010101" pitchFamily="49" charset="-122"/>
                <a:ea typeface="楷体" panose="02010609060101010101" pitchFamily="49" charset="-122"/>
              </a:rPr>
              <a:t>嗔怪</a:t>
            </a:r>
            <a:endParaRPr lang="zh-CN" altLang="en-US" sz="3200" b="1">
              <a:solidFill>
                <a:schemeClr val="accent6">
                  <a:lumMod val="50000"/>
                </a:schemeClr>
              </a:solidFill>
              <a:latin typeface="楷体" panose="02010609060101010101" pitchFamily="49" charset="-122"/>
              <a:ea typeface="楷体" panose="02010609060101010101" pitchFamily="49" charset="-122"/>
            </a:endParaRPr>
          </a:p>
        </p:txBody>
      </p:sp>
      <p:sp>
        <p:nvSpPr>
          <p:cNvPr id="12" name="矩形 6"/>
          <p:cNvSpPr>
            <a:spLocks noChangeArrowheads="1"/>
          </p:cNvSpPr>
          <p:nvPr/>
        </p:nvSpPr>
        <p:spPr bwMode="auto">
          <a:xfrm>
            <a:off x="1006002" y="4062966"/>
            <a:ext cx="871535" cy="51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spcBef>
                <a:spcPct val="0"/>
              </a:spcBef>
            </a:pPr>
            <a:r>
              <a:rPr lang="zh-CN" altLang="en-US" sz="3200" b="1">
                <a:solidFill>
                  <a:schemeClr val="accent6">
                    <a:lumMod val="50000"/>
                  </a:schemeClr>
                </a:solidFill>
                <a:latin typeface="楷体" panose="02010609060101010101" pitchFamily="49" charset="-122"/>
                <a:ea typeface="楷体" panose="02010609060101010101" pitchFamily="49" charset="-122"/>
              </a:rPr>
              <a:t>责</a:t>
            </a:r>
            <a:endParaRPr lang="en-US" altLang="zh-CN" sz="3200" b="1">
              <a:solidFill>
                <a:schemeClr val="accent6">
                  <a:lumMod val="50000"/>
                </a:schemeClr>
              </a:solidFill>
              <a:latin typeface="楷体" panose="02010609060101010101" pitchFamily="49" charset="-122"/>
              <a:ea typeface="楷体" panose="02010609060101010101" pitchFamily="49" charset="-122"/>
            </a:endParaRPr>
          </a:p>
        </p:txBody>
      </p:sp>
      <p:sp>
        <p:nvSpPr>
          <p:cNvPr id="13" name="矩形 6"/>
          <p:cNvSpPr>
            <a:spLocks noChangeArrowheads="1"/>
          </p:cNvSpPr>
          <p:nvPr/>
        </p:nvSpPr>
        <p:spPr bwMode="auto">
          <a:xfrm>
            <a:off x="5990519" y="4062966"/>
            <a:ext cx="1054558" cy="51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spcBef>
                <a:spcPct val="0"/>
              </a:spcBef>
            </a:pPr>
            <a:r>
              <a:rPr lang="zh-CN" altLang="en-US" sz="3200" b="1">
                <a:solidFill>
                  <a:schemeClr val="accent6">
                    <a:lumMod val="50000"/>
                  </a:schemeClr>
                </a:solidFill>
                <a:latin typeface="楷体" panose="02010609060101010101" pitchFamily="49" charset="-122"/>
                <a:ea typeface="楷体" panose="02010609060101010101" pitchFamily="49" charset="-122"/>
              </a:rPr>
              <a:t>释怀</a:t>
            </a:r>
            <a:endParaRPr lang="zh-CN" altLang="en-US" sz="3200" b="1">
              <a:solidFill>
                <a:schemeClr val="accent6">
                  <a:lumMod val="50000"/>
                </a:schemeClr>
              </a:solidFill>
              <a:latin typeface="楷体" panose="02010609060101010101" pitchFamily="49" charset="-122"/>
              <a:ea typeface="楷体" panose="02010609060101010101" pitchFamily="49" charset="-122"/>
            </a:endParaRPr>
          </a:p>
        </p:txBody>
      </p:sp>
      <p:sp>
        <p:nvSpPr>
          <p:cNvPr id="14" name="矩形 6"/>
          <p:cNvSpPr>
            <a:spLocks noChangeArrowheads="1"/>
          </p:cNvSpPr>
          <p:nvPr/>
        </p:nvSpPr>
        <p:spPr bwMode="auto">
          <a:xfrm>
            <a:off x="4268101" y="4062966"/>
            <a:ext cx="871535" cy="51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spcBef>
                <a:spcPct val="0"/>
              </a:spcBef>
            </a:pPr>
            <a:r>
              <a:rPr lang="zh-CN" altLang="en-US" sz="3200" b="1">
                <a:solidFill>
                  <a:schemeClr val="accent6">
                    <a:lumMod val="50000"/>
                  </a:schemeClr>
                </a:solidFill>
                <a:latin typeface="楷体" panose="02010609060101010101" pitchFamily="49" charset="-122"/>
                <a:ea typeface="楷体" panose="02010609060101010101" pitchFamily="49" charset="-122"/>
              </a:rPr>
              <a:t>叹</a:t>
            </a:r>
            <a:endParaRPr lang="en-US" altLang="zh-CN" sz="3200" b="1">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down)">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00"/>
                                        <p:tgtEl>
                                          <p:spTgt spid="12"/>
                                        </p:tgtEl>
                                      </p:cBhvr>
                                    </p:animEffect>
                                  </p:childTnLst>
                                </p:cTn>
                              </p:par>
                            </p:childTnLst>
                          </p:cTn>
                        </p:par>
                        <p:par>
                          <p:cTn id="26" fill="hold">
                            <p:stCondLst>
                              <p:cond delay="500"/>
                            </p:stCondLst>
                            <p:childTnLst>
                              <p:par>
                                <p:cTn id="27" presetID="22" presetClass="entr" presetSubtype="4"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down)">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down)">
                                      <p:cBhvr>
                                        <p:cTn id="34" dur="500"/>
                                        <p:tgtEl>
                                          <p:spTgt spid="14"/>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down)">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9" grpId="0"/>
      <p:bldP spid="10" grpId="0"/>
      <p:bldP spid="11" grpId="0"/>
      <p:bldP spid="12" grpId="0"/>
      <p:bldP spid="13" grpId="0"/>
      <p:bldP spid="1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736149" y="1411551"/>
            <a:ext cx="7986937" cy="3033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pPr>
            <a:r>
              <a:rPr lang="zh-CN" altLang="en-US" sz="2800" b="1">
                <a:solidFill>
                  <a:schemeClr val="accent6">
                    <a:lumMod val="50000"/>
                  </a:schemeClr>
                </a:solidFill>
                <a:latin typeface="楷体" panose="02010609060101010101" pitchFamily="49" charset="-122"/>
                <a:ea typeface="楷体" panose="02010609060101010101" pitchFamily="49" charset="-122"/>
              </a:rPr>
              <a:t>    本词通篇咏月，明月是词的中心形象和线索，词作以“明月”开端，以“婵娟”收尾。上片写饮酒问月，由幻想超脱尘世，转为喜爱人间生活，可以说是借明月自喻清高境界</a:t>
            </a:r>
            <a:r>
              <a:rPr lang="en-US" altLang="zh-CN" sz="2800" b="1">
                <a:solidFill>
                  <a:schemeClr val="accent6">
                    <a:lumMod val="50000"/>
                  </a:schemeClr>
                </a:solidFill>
                <a:latin typeface="楷体" panose="02010609060101010101" pitchFamily="49" charset="-122"/>
                <a:ea typeface="楷体" panose="02010609060101010101" pitchFamily="49" charset="-122"/>
              </a:rPr>
              <a:t>;</a:t>
            </a:r>
            <a:r>
              <a:rPr lang="zh-CN" altLang="en-US" sz="2800" b="1">
                <a:solidFill>
                  <a:schemeClr val="accent6">
                    <a:lumMod val="50000"/>
                  </a:schemeClr>
                </a:solidFill>
                <a:latin typeface="楷体" panose="02010609060101010101" pitchFamily="49" charset="-122"/>
                <a:ea typeface="楷体" panose="02010609060101010101" pitchFamily="49" charset="-122"/>
              </a:rPr>
              <a:t>下片写对月怀人，由感伤离别转为对离人的祝福，可以说是用圆月来衬托别离，升华为美好的祝愿。</a:t>
            </a:r>
            <a:endParaRPr lang="zh-CN" altLang="en-US" sz="2800" b="1">
              <a:solidFill>
                <a:schemeClr val="accent6">
                  <a:lumMod val="50000"/>
                </a:schemeClr>
              </a:solidFill>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164648" y="698233"/>
            <a:ext cx="8814704" cy="540725"/>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sz="2800"/>
              <a:t>本词以什么为线索？它在上、下片各起到什么作用？</a:t>
            </a: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033691" y="1665554"/>
            <a:ext cx="7326537" cy="3033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pPr>
            <a:r>
              <a:rPr lang="zh-CN" altLang="en-US" sz="2800" b="1">
                <a:solidFill>
                  <a:schemeClr val="accent6">
                    <a:lumMod val="50000"/>
                  </a:schemeClr>
                </a:solidFill>
                <a:latin typeface="楷体" panose="02010609060101010101" pitchFamily="49" charset="-122"/>
                <a:ea typeface="楷体" panose="02010609060101010101" pitchFamily="49" charset="-122"/>
              </a:rPr>
              <a:t>    上片写词人远望天上月，抓住“明”“高” “寒”的特点，虚实结合，想象大胆而浪漫。下片通过“转”“低”“照”等动词，写出月的移动轨迹。词人笔下的月，明亮而皎洁，高悬而清寒，美好而浪漫，让人无比憧憬又因其而落寞怅惘。</a:t>
            </a:r>
            <a:endParaRPr lang="zh-CN" altLang="en-US" sz="2800" b="1">
              <a:solidFill>
                <a:schemeClr val="accent6">
                  <a:lumMod val="50000"/>
                </a:schemeClr>
              </a:solidFill>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462190" y="487779"/>
            <a:ext cx="7963352" cy="1057790"/>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20000"/>
              </a:lnSpc>
            </a:pPr>
            <a:r>
              <a:rPr lang="zh-CN" altLang="en-US" sz="2800"/>
              <a:t>诵读全词，圈点标注出写“月”的词句，概括词人笔下的“月”的特点。</a:t>
            </a: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a:spLocks noChangeArrowheads="1"/>
          </p:cNvSpPr>
          <p:nvPr/>
        </p:nvSpPr>
        <p:spPr bwMode="auto">
          <a:xfrm>
            <a:off x="343557" y="1734915"/>
            <a:ext cx="8456886" cy="1807739"/>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30000"/>
              </a:lnSpc>
            </a:pPr>
            <a:r>
              <a:rPr lang="zh-CN" altLang="en-US" sz="3000"/>
              <a:t>中秋之夜，词人有怎样的行为？细读这首词，圈画出体现词人行为的词语，并用四到六字词语加以概括。</a:t>
            </a:r>
            <a:endParaRPr lang="zh-CN" altLang="en-US" sz="3000"/>
          </a:p>
        </p:txBody>
      </p:sp>
      <p:grpSp>
        <p:nvGrpSpPr>
          <p:cNvPr id="4" name="组合 3"/>
          <p:cNvGrpSpPr/>
          <p:nvPr/>
        </p:nvGrpSpPr>
        <p:grpSpPr>
          <a:xfrm>
            <a:off x="188273" y="657578"/>
            <a:ext cx="8597909" cy="880110"/>
            <a:chOff x="279713" y="172439"/>
            <a:chExt cx="8597909" cy="880110"/>
          </a:xfrm>
        </p:grpSpPr>
        <p:sp>
          <p:nvSpPr>
            <p:cNvPr id="5" name="文本框 4"/>
            <p:cNvSpPr txBox="1">
              <a:spLocks noChangeArrowheads="1"/>
            </p:cNvSpPr>
            <p:nvPr/>
          </p:nvSpPr>
          <p:spPr bwMode="auto">
            <a:xfrm>
              <a:off x="956742" y="274387"/>
              <a:ext cx="7920880" cy="553998"/>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000" b="1">
                  <a:latin typeface="黑体" panose="02010609060101010101" pitchFamily="2" charset="-122"/>
                  <a:ea typeface="黑体" panose="02010609060101010101" pitchFamily="2" charset="-122"/>
                </a:rPr>
                <a:t>目标任务五：联系背景，分析词人情感起伏。</a:t>
              </a:r>
              <a:endParaRPr lang="zh-CN" altLang="en-US" sz="3000" b="1">
                <a:latin typeface="黑体" panose="02010609060101010101" pitchFamily="2" charset="-122"/>
                <a:ea typeface="黑体" panose="02010609060101010101" pitchFamily="2" charset="-122"/>
              </a:endParaRPr>
            </a:p>
          </p:txBody>
        </p:sp>
        <p:pic>
          <p:nvPicPr>
            <p:cNvPr id="6" name="图片 5"/>
            <p:cNvPicPr/>
            <p:nvPr/>
          </p:nvPicPr>
          <p:blipFill>
            <a:blip r:embed="rId2"/>
            <a:stretch>
              <a:fillRect/>
            </a:stretch>
          </p:blipFill>
          <p:spPr>
            <a:xfrm>
              <a:off x="279713" y="172439"/>
              <a:ext cx="880110" cy="880110"/>
            </a:xfrm>
            <a:prstGeom prst="rect">
              <a:avLst/>
            </a:prstGeom>
          </p:spPr>
        </p:pic>
      </p:gr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442594" y="416608"/>
            <a:ext cx="8382091" cy="3483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10000"/>
              </a:lnSpc>
            </a:pPr>
            <a:r>
              <a:rPr lang="zh-CN" altLang="en-US" sz="2600" b="1">
                <a:solidFill>
                  <a:srgbClr val="000000"/>
                </a:solidFill>
                <a:latin typeface="宋体" panose="02010600030101010101" pitchFamily="2" charset="-122"/>
              </a:rPr>
              <a:t>水调歌头</a:t>
            </a:r>
            <a:endParaRPr lang="en-US" altLang="zh-CN" sz="2600" b="1">
              <a:solidFill>
                <a:srgbClr val="000000"/>
              </a:solidFill>
              <a:latin typeface="宋体" panose="02010600030101010101" pitchFamily="2" charset="-122"/>
            </a:endParaRPr>
          </a:p>
          <a:p>
            <a:pPr algn="ctr" eaLnBrk="1" hangingPunct="1">
              <a:lnSpc>
                <a:spcPct val="110000"/>
              </a:lnSpc>
            </a:pPr>
            <a:r>
              <a:rPr lang="zh-CN" altLang="en-US" sz="2600" b="1">
                <a:solidFill>
                  <a:srgbClr val="000000"/>
                </a:solidFill>
                <a:latin typeface="宋体" panose="02010600030101010101" pitchFamily="2" charset="-122"/>
              </a:rPr>
              <a:t>苏 轼</a:t>
            </a:r>
            <a:endParaRPr lang="en-US" altLang="zh-CN" sz="2600" b="1">
              <a:solidFill>
                <a:srgbClr val="000000"/>
              </a:solidFill>
              <a:latin typeface="宋体" panose="02010600030101010101" pitchFamily="2" charset="-122"/>
            </a:endParaRPr>
          </a:p>
          <a:p>
            <a:pPr eaLnBrk="1" hangingPunct="1">
              <a:lnSpc>
                <a:spcPct val="110000"/>
              </a:lnSpc>
            </a:pPr>
            <a:r>
              <a:rPr lang="zh-CN" altLang="en-US" sz="2600" b="1">
                <a:solidFill>
                  <a:srgbClr val="000000"/>
                </a:solidFill>
                <a:latin typeface="宋体" panose="02010600030101010101" pitchFamily="2" charset="-122"/>
              </a:rPr>
              <a:t>    丙辰中秋，欢饮达旦，大醉，作此篇，兼怀子由。</a:t>
            </a:r>
            <a:endParaRPr lang="en-US" altLang="zh-CN" sz="2600" b="1">
              <a:solidFill>
                <a:srgbClr val="000000"/>
              </a:solidFill>
              <a:latin typeface="宋体" panose="02010600030101010101" pitchFamily="2" charset="-122"/>
            </a:endParaRPr>
          </a:p>
          <a:p>
            <a:pPr eaLnBrk="1" hangingPunct="1">
              <a:lnSpc>
                <a:spcPct val="110000"/>
              </a:lnSpc>
            </a:pPr>
            <a:r>
              <a:rPr lang="zh-CN" altLang="en-US" sz="2600" b="1">
                <a:solidFill>
                  <a:srgbClr val="000000"/>
                </a:solidFill>
                <a:latin typeface="宋体" panose="02010600030101010101" pitchFamily="2" charset="-122"/>
              </a:rPr>
              <a:t>    明月几时有？把酒问青天。不知天上宫阙，今夕是何年。我欲乘风归去，又恐琼楼玉宇，高处不胜寒。起舞弄清影，何似在人间。    转朱阁，低绮户，照无眠。不应有恨，何事长向别时圆？人有悲欢离合，月有阴晴圆缺，此事古难全。但愿人长久，千里共婵娟。</a:t>
            </a:r>
            <a:endParaRPr lang="zh-CN" altLang="en-US" sz="2600">
              <a:ea typeface="楷体" panose="02010609060101010101" pitchFamily="49" charset="-122"/>
            </a:endParaRPr>
          </a:p>
        </p:txBody>
      </p:sp>
      <p:sp>
        <p:nvSpPr>
          <p:cNvPr id="4" name="矩形 6"/>
          <p:cNvSpPr>
            <a:spLocks noChangeArrowheads="1"/>
          </p:cNvSpPr>
          <p:nvPr/>
        </p:nvSpPr>
        <p:spPr bwMode="auto">
          <a:xfrm>
            <a:off x="1376926" y="3923924"/>
            <a:ext cx="6718415" cy="890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pPr>
            <a:r>
              <a:rPr lang="zh-CN" altLang="en-US" sz="2800" b="1">
                <a:solidFill>
                  <a:schemeClr val="accent6">
                    <a:lumMod val="50000"/>
                  </a:schemeClr>
                </a:solidFill>
                <a:latin typeface="楷体" panose="02010609060101010101" pitchFamily="49" charset="-122"/>
                <a:ea typeface="楷体" panose="02010609060101010101" pitchFamily="49" charset="-122"/>
              </a:rPr>
              <a:t>中秋欢饮醉</a:t>
            </a:r>
            <a:r>
              <a:rPr lang="en-US" altLang="zh-CN" sz="2800" b="1">
                <a:solidFill>
                  <a:schemeClr val="accent6">
                    <a:lumMod val="50000"/>
                  </a:schemeClr>
                </a:solidFill>
                <a:latin typeface="楷体" panose="02010609060101010101" pitchFamily="49" charset="-122"/>
                <a:ea typeface="楷体" panose="02010609060101010101" pitchFamily="49" charset="-122"/>
              </a:rPr>
              <a:t>—</a:t>
            </a:r>
            <a:r>
              <a:rPr lang="zh-CN" altLang="en-US" sz="2800" b="1">
                <a:solidFill>
                  <a:schemeClr val="accent6">
                    <a:lumMod val="50000"/>
                  </a:schemeClr>
                </a:solidFill>
                <a:latin typeface="楷体" panose="02010609060101010101" pitchFamily="49" charset="-122"/>
                <a:ea typeface="楷体" panose="02010609060101010101" pitchFamily="49" charset="-122"/>
              </a:rPr>
              <a:t>把酒问青天</a:t>
            </a:r>
            <a:r>
              <a:rPr lang="en-US" altLang="zh-CN" sz="2800" b="1">
                <a:solidFill>
                  <a:schemeClr val="accent6">
                    <a:lumMod val="50000"/>
                  </a:schemeClr>
                </a:solidFill>
                <a:latin typeface="楷体" panose="02010609060101010101" pitchFamily="49" charset="-122"/>
                <a:ea typeface="楷体" panose="02010609060101010101" pitchFamily="49" charset="-122"/>
              </a:rPr>
              <a:t>—</a:t>
            </a:r>
            <a:r>
              <a:rPr lang="zh-CN" altLang="en-US" sz="2800" b="1">
                <a:solidFill>
                  <a:schemeClr val="accent6">
                    <a:lumMod val="50000"/>
                  </a:schemeClr>
                </a:solidFill>
                <a:latin typeface="楷体" panose="02010609060101010101" pitchFamily="49" charset="-122"/>
                <a:ea typeface="楷体" panose="02010609060101010101" pitchFamily="49" charset="-122"/>
              </a:rPr>
              <a:t>欲乘风归去</a:t>
            </a:r>
            <a:r>
              <a:rPr lang="en-US" altLang="zh-CN" sz="2800" b="1">
                <a:solidFill>
                  <a:schemeClr val="accent6">
                    <a:lumMod val="50000"/>
                  </a:schemeClr>
                </a:solidFill>
                <a:latin typeface="楷体" panose="02010609060101010101" pitchFamily="49" charset="-122"/>
                <a:ea typeface="楷体" panose="02010609060101010101" pitchFamily="49" charset="-122"/>
              </a:rPr>
              <a:t>—</a:t>
            </a:r>
            <a:r>
              <a:rPr lang="zh-CN" altLang="en-US" sz="2800" b="1">
                <a:solidFill>
                  <a:schemeClr val="accent6">
                    <a:lumMod val="50000"/>
                  </a:schemeClr>
                </a:solidFill>
                <a:latin typeface="楷体" panose="02010609060101010101" pitchFamily="49" charset="-122"/>
                <a:ea typeface="楷体" panose="02010609060101010101" pitchFamily="49" charset="-122"/>
              </a:rPr>
              <a:t>起舞弄清影</a:t>
            </a:r>
            <a:r>
              <a:rPr lang="en-US" altLang="zh-CN" sz="2800" b="1">
                <a:solidFill>
                  <a:schemeClr val="accent6">
                    <a:lumMod val="50000"/>
                  </a:schemeClr>
                </a:solidFill>
                <a:latin typeface="楷体" panose="02010609060101010101" pitchFamily="49" charset="-122"/>
                <a:ea typeface="楷体" panose="02010609060101010101" pitchFamily="49" charset="-122"/>
              </a:rPr>
              <a:t>—</a:t>
            </a:r>
            <a:r>
              <a:rPr lang="zh-CN" altLang="en-US" sz="2800" b="1">
                <a:solidFill>
                  <a:schemeClr val="accent6">
                    <a:lumMod val="50000"/>
                  </a:schemeClr>
                </a:solidFill>
                <a:latin typeface="楷体" panose="02010609060101010101" pitchFamily="49" charset="-122"/>
                <a:ea typeface="楷体" panose="02010609060101010101" pitchFamily="49" charset="-122"/>
              </a:rPr>
              <a:t>辗转却无眠</a:t>
            </a:r>
            <a:r>
              <a:rPr lang="en-US" altLang="zh-CN" sz="2800" b="1">
                <a:solidFill>
                  <a:schemeClr val="accent6">
                    <a:lumMod val="50000"/>
                  </a:schemeClr>
                </a:solidFill>
                <a:latin typeface="楷体" panose="02010609060101010101" pitchFamily="49" charset="-122"/>
                <a:ea typeface="楷体" panose="02010609060101010101" pitchFamily="49" charset="-122"/>
              </a:rPr>
              <a:t>—</a:t>
            </a:r>
            <a:r>
              <a:rPr lang="zh-CN" altLang="en-US" sz="2800" b="1">
                <a:solidFill>
                  <a:schemeClr val="accent6">
                    <a:lumMod val="50000"/>
                  </a:schemeClr>
                </a:solidFill>
                <a:latin typeface="楷体" panose="02010609060101010101" pitchFamily="49" charset="-122"/>
                <a:ea typeface="楷体" panose="02010609060101010101" pitchFamily="49" charset="-122"/>
              </a:rPr>
              <a:t>祈愿共婵娟。</a:t>
            </a:r>
            <a:endParaRPr lang="zh-CN" altLang="en-US" sz="2800" b="1">
              <a:solidFill>
                <a:schemeClr val="accent6">
                  <a:lumMod val="50000"/>
                </a:schemeClr>
              </a:solidFill>
              <a:latin typeface="楷体" panose="02010609060101010101" pitchFamily="49" charset="-122"/>
              <a:ea typeface="楷体" panose="02010609060101010101" pitchFamily="49" charset="-122"/>
            </a:endParaRPr>
          </a:p>
        </p:txBody>
      </p:sp>
      <p:sp>
        <p:nvSpPr>
          <p:cNvPr id="5" name="椭圆 4"/>
          <p:cNvSpPr/>
          <p:nvPr/>
        </p:nvSpPr>
        <p:spPr bwMode="auto">
          <a:xfrm>
            <a:off x="2721430" y="1242973"/>
            <a:ext cx="754742" cy="512448"/>
          </a:xfrm>
          <a:prstGeom prst="ellipse">
            <a:avLst/>
          </a:prstGeom>
          <a:noFill/>
          <a:ln w="28575">
            <a:solidFill>
              <a:srgbClr val="C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6" name="椭圆 5"/>
          <p:cNvSpPr/>
          <p:nvPr/>
        </p:nvSpPr>
        <p:spPr bwMode="auto">
          <a:xfrm>
            <a:off x="4383316" y="1242973"/>
            <a:ext cx="754742" cy="512448"/>
          </a:xfrm>
          <a:prstGeom prst="ellipse">
            <a:avLst/>
          </a:prstGeom>
          <a:noFill/>
          <a:ln w="28575">
            <a:solidFill>
              <a:srgbClr val="C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7" name="椭圆 6"/>
          <p:cNvSpPr/>
          <p:nvPr/>
        </p:nvSpPr>
        <p:spPr bwMode="auto">
          <a:xfrm>
            <a:off x="3715660" y="1645790"/>
            <a:ext cx="413655" cy="512448"/>
          </a:xfrm>
          <a:prstGeom prst="ellipse">
            <a:avLst/>
          </a:prstGeom>
          <a:noFill/>
          <a:ln w="28575">
            <a:solidFill>
              <a:srgbClr val="C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8" name="椭圆 7"/>
          <p:cNvSpPr/>
          <p:nvPr/>
        </p:nvSpPr>
        <p:spPr bwMode="auto">
          <a:xfrm>
            <a:off x="7678059" y="2110101"/>
            <a:ext cx="754742" cy="512448"/>
          </a:xfrm>
          <a:prstGeom prst="ellipse">
            <a:avLst/>
          </a:prstGeom>
          <a:noFill/>
          <a:ln w="28575">
            <a:solidFill>
              <a:srgbClr val="C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9" name="椭圆 8"/>
          <p:cNvSpPr/>
          <p:nvPr/>
        </p:nvSpPr>
        <p:spPr bwMode="auto">
          <a:xfrm>
            <a:off x="7046689" y="2545443"/>
            <a:ext cx="754742" cy="512448"/>
          </a:xfrm>
          <a:prstGeom prst="ellipse">
            <a:avLst/>
          </a:prstGeom>
          <a:noFill/>
          <a:ln w="28575">
            <a:solidFill>
              <a:srgbClr val="C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
        <p:nvSpPr>
          <p:cNvPr id="10" name="椭圆 9"/>
          <p:cNvSpPr/>
          <p:nvPr/>
        </p:nvSpPr>
        <p:spPr bwMode="auto">
          <a:xfrm>
            <a:off x="2735947" y="3411915"/>
            <a:ext cx="413655" cy="512448"/>
          </a:xfrm>
          <a:prstGeom prst="ellipse">
            <a:avLst/>
          </a:prstGeom>
          <a:noFill/>
          <a:ln w="28575">
            <a:solidFill>
              <a:srgbClr val="C00000"/>
            </a:solidFill>
            <a:miter lim="800000"/>
          </a:ln>
          <a:extLst>
            <a:ext uri="{909E8E84-426E-40DD-AFC4-6F175D3DCCD1}">
              <a14:hiddenFill xmlns:a14="http://schemas.microsoft.com/office/drawing/2010/main">
                <a:solidFill>
                  <a:srgbClr val="FFFFFF"/>
                </a:solidFill>
              </a14:hiddenFill>
            </a:ext>
          </a:extLst>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500"/>
                                        <p:tgtEl>
                                          <p:spTgt spid="6"/>
                                        </p:tgtEl>
                                      </p:cBhvr>
                                    </p:animEffect>
                                  </p:childTnLst>
                                </p:cTn>
                              </p:par>
                            </p:childTnLst>
                          </p:cTn>
                        </p:par>
                        <p:par>
                          <p:cTn id="12" fill="hold">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childTnLst>
                          </p:cTn>
                        </p:par>
                        <p:par>
                          <p:cTn id="16" fill="hold">
                            <p:stCondLst>
                              <p:cond delay="1500"/>
                            </p:stCondLst>
                            <p:childTnLst>
                              <p:par>
                                <p:cTn id="17" presetID="16" presetClass="entr" presetSubtype="21"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500"/>
                                        <p:tgtEl>
                                          <p:spTgt spid="8"/>
                                        </p:tgtEl>
                                      </p:cBhvr>
                                    </p:animEffect>
                                  </p:childTnLst>
                                </p:cTn>
                              </p:par>
                            </p:childTnLst>
                          </p:cTn>
                        </p:par>
                        <p:par>
                          <p:cTn id="20" fill="hold">
                            <p:stCondLst>
                              <p:cond delay="2000"/>
                            </p:stCondLst>
                            <p:childTnLst>
                              <p:par>
                                <p:cTn id="21" presetID="16" presetClass="entr" presetSubtype="21"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arn(inVertical)">
                                      <p:cBhvr>
                                        <p:cTn id="23" dur="500"/>
                                        <p:tgtEl>
                                          <p:spTgt spid="9"/>
                                        </p:tgtEl>
                                      </p:cBhvr>
                                    </p:animEffect>
                                  </p:childTnLst>
                                </p:cTn>
                              </p:par>
                            </p:childTnLst>
                          </p:cTn>
                        </p:par>
                        <p:par>
                          <p:cTn id="24" fill="hold">
                            <p:stCondLst>
                              <p:cond delay="2500"/>
                            </p:stCondLst>
                            <p:childTnLst>
                              <p:par>
                                <p:cTn id="25" presetID="16" presetClass="entr" presetSubtype="21"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inVertic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736149" y="1697301"/>
            <a:ext cx="7986937" cy="3259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pPr>
            <a:r>
              <a:rPr lang="zh-CN" altLang="en-US" sz="2800" b="1">
                <a:solidFill>
                  <a:schemeClr val="accent6">
                    <a:lumMod val="50000"/>
                  </a:schemeClr>
                </a:solidFill>
                <a:latin typeface="楷体" panose="02010609060101010101" pitchFamily="49" charset="-122"/>
                <a:ea typeface="楷体" panose="02010609060101010101" pitchFamily="49" charset="-122"/>
              </a:rPr>
              <a:t>    问、何年：苏轼的思绪，首先飘向中秋之月所在的茫茫上空。“把酒问青天”好像是在追溯明月的起源，问出了词人对宇宙时空的困惑。同时，又好像是把青天当作自己的朋友，举杯邀明月，把盏相问，惊叹造化的巧妙。可以从中感受到词人对明月的赞美与向往，显示了他豪放的性格和不凡的气魄。 苏轼把酒问天，情感是高亢激昂的。</a:t>
            </a:r>
            <a:endParaRPr lang="zh-CN" altLang="en-US" sz="2800" b="1">
              <a:solidFill>
                <a:schemeClr val="accent6">
                  <a:lumMod val="50000"/>
                </a:schemeClr>
              </a:solidFill>
              <a:latin typeface="楷体" panose="02010609060101010101" pitchFamily="49" charset="-122"/>
              <a:ea typeface="楷体" panose="02010609060101010101" pitchFamily="49" charset="-122"/>
            </a:endParaRPr>
          </a:p>
        </p:txBody>
      </p:sp>
      <p:sp>
        <p:nvSpPr>
          <p:cNvPr id="3" name="文本框 2"/>
          <p:cNvSpPr txBox="1">
            <a:spLocks noChangeArrowheads="1"/>
          </p:cNvSpPr>
          <p:nvPr/>
        </p:nvSpPr>
        <p:spPr bwMode="auto">
          <a:xfrm>
            <a:off x="164648" y="241033"/>
            <a:ext cx="8814704" cy="1456361"/>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10000"/>
              </a:lnSpc>
            </a:pPr>
            <a:r>
              <a:rPr lang="zh-CN" altLang="en-US" sz="2800"/>
              <a:t>这首词句句扣住“月”来写，情感多次起伏变化。 请结合具体词句，分析词人心境，并用折线图画出情感变化的轨迹？</a:t>
            </a: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578532" y="796360"/>
            <a:ext cx="7986937" cy="3550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pPr>
            <a:r>
              <a:rPr lang="zh-CN" altLang="en-US" sz="2800" b="1">
                <a:solidFill>
                  <a:schemeClr val="accent6">
                    <a:lumMod val="50000"/>
                  </a:schemeClr>
                </a:solidFill>
                <a:latin typeface="楷体" panose="02010609060101010101" pitchFamily="49" charset="-122"/>
                <a:ea typeface="楷体" panose="02010609060101010101" pitchFamily="49" charset="-122"/>
              </a:rPr>
              <a:t>    欲、恐：</a:t>
            </a:r>
            <a:r>
              <a:rPr lang="en-US" altLang="zh-CN" sz="2800" b="1">
                <a:solidFill>
                  <a:schemeClr val="accent6">
                    <a:lumMod val="50000"/>
                  </a:schemeClr>
                </a:solidFill>
                <a:latin typeface="楷体" panose="02010609060101010101" pitchFamily="49" charset="-122"/>
                <a:ea typeface="楷体" panose="02010609060101010101" pitchFamily="49" charset="-122"/>
              </a:rPr>
              <a:t>“</a:t>
            </a:r>
            <a:r>
              <a:rPr lang="zh-CN" altLang="en-US" sz="2800" b="1">
                <a:solidFill>
                  <a:schemeClr val="accent6">
                    <a:lumMod val="50000"/>
                  </a:schemeClr>
                </a:solidFill>
                <a:latin typeface="楷体" panose="02010609060101010101" pitchFamily="49" charset="-122"/>
                <a:ea typeface="楷体" panose="02010609060101010101" pitchFamily="49" charset="-122"/>
              </a:rPr>
              <a:t>欲”字，表达了词人对天上仙境的向往之情，也表达了对人间生活中仕途不顺、亲人别离等种种不顺意之事的怅惘感慨之情；但后一句“又恐琼楼玉宇”中的“恐”字，写出了词人的犹豫和徘徊，表达了词人对人世间热闹繁华的眷念，表露出他对生活的热爱。 这两个字之间的转折，写出了词人的矛盾之心。</a:t>
            </a:r>
            <a:endParaRPr lang="zh-CN" altLang="en-US" sz="2800" b="1">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578532" y="1313425"/>
            <a:ext cx="7986937" cy="2516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pPr>
            <a:r>
              <a:rPr lang="zh-CN" altLang="en-US" sz="2800" b="1">
                <a:solidFill>
                  <a:schemeClr val="accent6">
                    <a:lumMod val="50000"/>
                  </a:schemeClr>
                </a:solidFill>
                <a:latin typeface="楷体" panose="02010609060101010101" pitchFamily="49" charset="-122"/>
                <a:ea typeface="楷体" panose="02010609060101010101" pitchFamily="49" charset="-122"/>
              </a:rPr>
              <a:t>    起舞弄清影：天上固然美好，但是“高处不胜寒”。留在人间，可以自在起舞，更有难以割舍的亲人。词人徘徊在现实与理想、人间与非人间之间，矛盾而又统一。 此时，苏轼的心情应该转为通达热烈。</a:t>
            </a:r>
            <a:endParaRPr lang="zh-CN" altLang="en-US" sz="2800" b="1">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578532" y="1054892"/>
            <a:ext cx="7986937" cy="3033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pPr>
            <a:r>
              <a:rPr lang="zh-CN" altLang="en-US" sz="2800" b="1">
                <a:solidFill>
                  <a:schemeClr val="accent6">
                    <a:lumMod val="50000"/>
                  </a:schemeClr>
                </a:solidFill>
                <a:latin typeface="楷体" panose="02010609060101010101" pitchFamily="49" charset="-122"/>
                <a:ea typeface="楷体" panose="02010609060101010101" pitchFamily="49" charset="-122"/>
              </a:rPr>
              <a:t>    不应：词人夜晚喝得大醉，此时惆怅涌上心头，没有睡意。中秋节的圆月，月光流转；而词人调任密州为官，和弟弟苏辙分别已久，不胜想念。二者形成反差。但美丽的明月“不应”有怨恨而刻意照着这“无眠”之人。 词人在此表达了对世事无常的感慨，抒发了对弟弟苏辙的思念之情。</a:t>
            </a:r>
            <a:endParaRPr lang="zh-CN" altLang="en-US" sz="2800" b="1">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684781" y="1054892"/>
            <a:ext cx="7774439" cy="3033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pPr>
            <a:r>
              <a:rPr lang="zh-CN" altLang="en-US" sz="2800" b="1">
                <a:solidFill>
                  <a:schemeClr val="accent6">
                    <a:lumMod val="50000"/>
                  </a:schemeClr>
                </a:solidFill>
                <a:latin typeface="楷体" panose="02010609060101010101" pitchFamily="49" charset="-122"/>
                <a:ea typeface="楷体" panose="02010609060101010101" pitchFamily="49" charset="-122"/>
              </a:rPr>
              <a:t>    共婵娟：中秋月圆之夜，苏轼不能和弟弟团聚，难免抑郁惆怅，但他并没有因此而悲观，从人、月对立过渡到人、月融合，豁达通透。又推己及人，为天下不能相聚的人们发出美好的祝愿，心系全天下的人们，显示出词人精神境界的丰富博大、乐观超拔。</a:t>
            </a:r>
            <a:endParaRPr lang="zh-CN" altLang="en-US" sz="2800" b="1">
              <a:solidFill>
                <a:schemeClr val="accent6">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7"/>
          <p:cNvSpPr txBox="1">
            <a:spLocks noChangeArrowheads="1"/>
          </p:cNvSpPr>
          <p:nvPr/>
        </p:nvSpPr>
        <p:spPr bwMode="auto">
          <a:xfrm>
            <a:off x="39017" y="1108759"/>
            <a:ext cx="2036709"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b="1">
                <a:latin typeface="楷体" panose="02010609060101010101" pitchFamily="49" charset="-122"/>
                <a:ea typeface="楷体" panose="02010609060101010101" pitchFamily="49" charset="-122"/>
              </a:rPr>
              <a:t>把酒问青天</a:t>
            </a:r>
            <a:endParaRPr lang="en-US" altLang="zh-CN" sz="2400" b="1">
              <a:latin typeface="楷体" panose="02010609060101010101" pitchFamily="49" charset="-122"/>
              <a:ea typeface="楷体" panose="02010609060101010101" pitchFamily="49" charset="-122"/>
            </a:endParaRPr>
          </a:p>
        </p:txBody>
      </p:sp>
      <p:cxnSp>
        <p:nvCxnSpPr>
          <p:cNvPr id="7" name="直接箭头连接符 6"/>
          <p:cNvCxnSpPr>
            <a:endCxn id="13" idx="0"/>
          </p:cNvCxnSpPr>
          <p:nvPr/>
        </p:nvCxnSpPr>
        <p:spPr>
          <a:xfrm flipH="1">
            <a:off x="753194" y="1526890"/>
            <a:ext cx="372586" cy="973976"/>
          </a:xfrm>
          <a:prstGeom prst="straightConnector1">
            <a:avLst/>
          </a:prstGeom>
          <a:ln w="12700" cap="flat">
            <a:solidFill>
              <a:srgbClr val="64CDF5"/>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 name="TextBox 7"/>
          <p:cNvSpPr txBox="1">
            <a:spLocks noChangeArrowheads="1"/>
          </p:cNvSpPr>
          <p:nvPr/>
        </p:nvSpPr>
        <p:spPr bwMode="auto">
          <a:xfrm>
            <a:off x="1767983" y="1108759"/>
            <a:ext cx="2036709"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b="1">
                <a:latin typeface="楷体" panose="02010609060101010101" pitchFamily="49" charset="-122"/>
                <a:ea typeface="楷体" panose="02010609060101010101" pitchFamily="49" charset="-122"/>
              </a:rPr>
              <a:t>欲归又恐寒</a:t>
            </a:r>
            <a:endParaRPr lang="en-US" altLang="zh-CN" sz="2400" b="1">
              <a:latin typeface="楷体" panose="02010609060101010101" pitchFamily="49" charset="-122"/>
              <a:ea typeface="楷体" panose="02010609060101010101" pitchFamily="49" charset="-122"/>
            </a:endParaRPr>
          </a:p>
        </p:txBody>
      </p:sp>
      <p:sp>
        <p:nvSpPr>
          <p:cNvPr id="10" name="TextBox 7"/>
          <p:cNvSpPr txBox="1">
            <a:spLocks noChangeArrowheads="1"/>
          </p:cNvSpPr>
          <p:nvPr/>
        </p:nvSpPr>
        <p:spPr bwMode="auto">
          <a:xfrm>
            <a:off x="3496949" y="1108759"/>
            <a:ext cx="2036709"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b="1">
                <a:latin typeface="楷体" panose="02010609060101010101" pitchFamily="49" charset="-122"/>
                <a:ea typeface="楷体" panose="02010609060101010101" pitchFamily="49" charset="-122"/>
              </a:rPr>
              <a:t>人间弄清影</a:t>
            </a:r>
            <a:endParaRPr lang="en-US" altLang="zh-CN" sz="2400" b="1">
              <a:latin typeface="楷体" panose="02010609060101010101" pitchFamily="49" charset="-122"/>
              <a:ea typeface="楷体" panose="02010609060101010101" pitchFamily="49" charset="-122"/>
            </a:endParaRPr>
          </a:p>
        </p:txBody>
      </p:sp>
      <p:sp>
        <p:nvSpPr>
          <p:cNvPr id="11" name="TextBox 7"/>
          <p:cNvSpPr txBox="1">
            <a:spLocks noChangeArrowheads="1"/>
          </p:cNvSpPr>
          <p:nvPr/>
        </p:nvSpPr>
        <p:spPr bwMode="auto">
          <a:xfrm>
            <a:off x="5225915" y="1108759"/>
            <a:ext cx="2036709"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b="1">
                <a:latin typeface="楷体" panose="02010609060101010101" pitchFamily="49" charset="-122"/>
                <a:ea typeface="楷体" panose="02010609060101010101" pitchFamily="49" charset="-122"/>
              </a:rPr>
              <a:t>辗转却无眠</a:t>
            </a:r>
            <a:endParaRPr lang="en-US" altLang="zh-CN" sz="2400" b="1">
              <a:latin typeface="楷体" panose="02010609060101010101" pitchFamily="49" charset="-122"/>
              <a:ea typeface="楷体" panose="02010609060101010101" pitchFamily="49" charset="-122"/>
            </a:endParaRPr>
          </a:p>
        </p:txBody>
      </p:sp>
      <p:sp>
        <p:nvSpPr>
          <p:cNvPr id="12" name="TextBox 7"/>
          <p:cNvSpPr txBox="1">
            <a:spLocks noChangeArrowheads="1"/>
          </p:cNvSpPr>
          <p:nvPr/>
        </p:nvSpPr>
        <p:spPr bwMode="auto">
          <a:xfrm>
            <a:off x="6954881" y="1108759"/>
            <a:ext cx="2036709"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b="1">
                <a:latin typeface="楷体" panose="02010609060101010101" pitchFamily="49" charset="-122"/>
                <a:ea typeface="楷体" panose="02010609060101010101" pitchFamily="49" charset="-122"/>
              </a:rPr>
              <a:t>祈愿共婵娟</a:t>
            </a:r>
            <a:endParaRPr lang="en-US" altLang="zh-CN" sz="2400" b="1">
              <a:latin typeface="楷体" panose="02010609060101010101" pitchFamily="49" charset="-122"/>
              <a:ea typeface="楷体" panose="02010609060101010101" pitchFamily="49" charset="-122"/>
            </a:endParaRPr>
          </a:p>
        </p:txBody>
      </p:sp>
      <p:grpSp>
        <p:nvGrpSpPr>
          <p:cNvPr id="37" name="组合 36"/>
          <p:cNvGrpSpPr/>
          <p:nvPr/>
        </p:nvGrpSpPr>
        <p:grpSpPr>
          <a:xfrm>
            <a:off x="77489" y="2481815"/>
            <a:ext cx="1705782" cy="630607"/>
            <a:chOff x="77489" y="2481815"/>
            <a:chExt cx="1705782" cy="630607"/>
          </a:xfrm>
        </p:grpSpPr>
        <p:sp>
          <p:nvSpPr>
            <p:cNvPr id="13" name="TextBox 7"/>
            <p:cNvSpPr txBox="1">
              <a:spLocks noChangeArrowheads="1"/>
            </p:cNvSpPr>
            <p:nvPr/>
          </p:nvSpPr>
          <p:spPr bwMode="auto">
            <a:xfrm rot="20156452">
              <a:off x="77489" y="2481815"/>
              <a:ext cx="1530210"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b="1">
                  <a:latin typeface="楷体" panose="02010609060101010101" pitchFamily="49" charset="-122"/>
                  <a:ea typeface="楷体" panose="02010609060101010101" pitchFamily="49" charset="-122"/>
                </a:rPr>
                <a:t>高亢激昂</a:t>
              </a:r>
              <a:endParaRPr lang="zh-CN" altLang="en-US" sz="2400" b="1">
                <a:latin typeface="楷体" panose="02010609060101010101" pitchFamily="49" charset="-122"/>
                <a:ea typeface="楷体" panose="02010609060101010101" pitchFamily="49" charset="-122"/>
              </a:endParaRPr>
            </a:p>
          </p:txBody>
        </p:sp>
        <p:sp>
          <p:nvSpPr>
            <p:cNvPr id="20" name="箭头: 右 19"/>
            <p:cNvSpPr/>
            <p:nvPr/>
          </p:nvSpPr>
          <p:spPr bwMode="auto">
            <a:xfrm rot="20156452">
              <a:off x="201213" y="2771336"/>
              <a:ext cx="1582058" cy="341086"/>
            </a:xfrm>
            <a:prstGeom prst="rightArrow">
              <a:avLst/>
            </a:prstGeom>
            <a:solidFill>
              <a:srgbClr val="CCEEFB"/>
            </a:solidFill>
            <a:ln w="9525">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grpSp>
      <p:grpSp>
        <p:nvGrpSpPr>
          <p:cNvPr id="38" name="组合 37"/>
          <p:cNvGrpSpPr/>
          <p:nvPr/>
        </p:nvGrpSpPr>
        <p:grpSpPr>
          <a:xfrm>
            <a:off x="1662870" y="2346196"/>
            <a:ext cx="1661359" cy="649479"/>
            <a:chOff x="1662870" y="2346196"/>
            <a:chExt cx="1661359" cy="649479"/>
          </a:xfrm>
        </p:grpSpPr>
        <p:sp>
          <p:nvSpPr>
            <p:cNvPr id="14" name="TextBox 7"/>
            <p:cNvSpPr txBox="1">
              <a:spLocks noChangeArrowheads="1"/>
            </p:cNvSpPr>
            <p:nvPr/>
          </p:nvSpPr>
          <p:spPr bwMode="auto">
            <a:xfrm rot="1729434">
              <a:off x="1794019" y="2346196"/>
              <a:ext cx="1530210"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b="1">
                  <a:latin typeface="楷体" panose="02010609060101010101" pitchFamily="49" charset="-122"/>
                  <a:ea typeface="楷体" panose="02010609060101010101" pitchFamily="49" charset="-122"/>
                </a:rPr>
                <a:t>徘徊矛盾</a:t>
              </a:r>
              <a:endParaRPr lang="zh-CN" altLang="en-US" sz="2400" b="1">
                <a:latin typeface="楷体" panose="02010609060101010101" pitchFamily="49" charset="-122"/>
                <a:ea typeface="楷体" panose="02010609060101010101" pitchFamily="49" charset="-122"/>
              </a:endParaRPr>
            </a:p>
          </p:txBody>
        </p:sp>
        <p:sp>
          <p:nvSpPr>
            <p:cNvPr id="21" name="箭头: 右 20"/>
            <p:cNvSpPr/>
            <p:nvPr/>
          </p:nvSpPr>
          <p:spPr bwMode="auto">
            <a:xfrm rot="1729434">
              <a:off x="1662870" y="2654589"/>
              <a:ext cx="1582058" cy="341086"/>
            </a:xfrm>
            <a:prstGeom prst="rightArrow">
              <a:avLst/>
            </a:prstGeom>
            <a:solidFill>
              <a:srgbClr val="CCEEFB"/>
            </a:solidFill>
            <a:ln w="9525">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grpSp>
      <p:grpSp>
        <p:nvGrpSpPr>
          <p:cNvPr id="39" name="组合 38"/>
          <p:cNvGrpSpPr/>
          <p:nvPr/>
        </p:nvGrpSpPr>
        <p:grpSpPr>
          <a:xfrm>
            <a:off x="3177182" y="2674628"/>
            <a:ext cx="1618344" cy="694560"/>
            <a:chOff x="3177182" y="2674628"/>
            <a:chExt cx="1618344" cy="694560"/>
          </a:xfrm>
        </p:grpSpPr>
        <p:sp>
          <p:nvSpPr>
            <p:cNvPr id="15" name="TextBox 7"/>
            <p:cNvSpPr txBox="1">
              <a:spLocks noChangeArrowheads="1"/>
            </p:cNvSpPr>
            <p:nvPr/>
          </p:nvSpPr>
          <p:spPr bwMode="auto">
            <a:xfrm>
              <a:off x="3177182" y="2674628"/>
              <a:ext cx="1530210"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b="1">
                  <a:latin typeface="楷体" panose="02010609060101010101" pitchFamily="49" charset="-122"/>
                  <a:ea typeface="楷体" panose="02010609060101010101" pitchFamily="49" charset="-122"/>
                </a:rPr>
                <a:t>通达热烈</a:t>
              </a:r>
              <a:endParaRPr lang="zh-CN" altLang="en-US" sz="2400" b="1">
                <a:latin typeface="楷体" panose="02010609060101010101" pitchFamily="49" charset="-122"/>
                <a:ea typeface="楷体" panose="02010609060101010101" pitchFamily="49" charset="-122"/>
              </a:endParaRPr>
            </a:p>
          </p:txBody>
        </p:sp>
        <p:sp>
          <p:nvSpPr>
            <p:cNvPr id="22" name="箭头: 右 21"/>
            <p:cNvSpPr/>
            <p:nvPr/>
          </p:nvSpPr>
          <p:spPr bwMode="auto">
            <a:xfrm>
              <a:off x="3213468" y="3028102"/>
              <a:ext cx="1582058" cy="341086"/>
            </a:xfrm>
            <a:prstGeom prst="rightArrow">
              <a:avLst/>
            </a:prstGeom>
            <a:solidFill>
              <a:srgbClr val="CCEEFB"/>
            </a:solidFill>
            <a:ln w="9525">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grpSp>
      <p:grpSp>
        <p:nvGrpSpPr>
          <p:cNvPr id="40" name="组合 39"/>
          <p:cNvGrpSpPr/>
          <p:nvPr/>
        </p:nvGrpSpPr>
        <p:grpSpPr>
          <a:xfrm>
            <a:off x="4767447" y="2973797"/>
            <a:ext cx="1579697" cy="638738"/>
            <a:chOff x="4767447" y="2973797"/>
            <a:chExt cx="1579697" cy="638738"/>
          </a:xfrm>
        </p:grpSpPr>
        <p:sp>
          <p:nvSpPr>
            <p:cNvPr id="16" name="TextBox 7"/>
            <p:cNvSpPr txBox="1">
              <a:spLocks noChangeArrowheads="1"/>
            </p:cNvSpPr>
            <p:nvPr/>
          </p:nvSpPr>
          <p:spPr bwMode="auto">
            <a:xfrm rot="1424472">
              <a:off x="4816934" y="2973797"/>
              <a:ext cx="1530210"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b="1">
                  <a:latin typeface="楷体" panose="02010609060101010101" pitchFamily="49" charset="-122"/>
                  <a:ea typeface="楷体" panose="02010609060101010101" pitchFamily="49" charset="-122"/>
                </a:rPr>
                <a:t>抑郁惆怅</a:t>
              </a:r>
              <a:endParaRPr lang="zh-CN" altLang="en-US" sz="2400" b="1">
                <a:latin typeface="楷体" panose="02010609060101010101" pitchFamily="49" charset="-122"/>
                <a:ea typeface="楷体" panose="02010609060101010101" pitchFamily="49" charset="-122"/>
              </a:endParaRPr>
            </a:p>
          </p:txBody>
        </p:sp>
        <p:sp>
          <p:nvSpPr>
            <p:cNvPr id="23" name="箭头: 右 22"/>
            <p:cNvSpPr/>
            <p:nvPr/>
          </p:nvSpPr>
          <p:spPr bwMode="auto">
            <a:xfrm rot="1424472">
              <a:off x="4767447" y="3271449"/>
              <a:ext cx="1465818" cy="341086"/>
            </a:xfrm>
            <a:prstGeom prst="rightArrow">
              <a:avLst/>
            </a:prstGeom>
            <a:solidFill>
              <a:srgbClr val="CCEEFB"/>
            </a:solidFill>
            <a:ln w="9525">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grpSp>
      <p:grpSp>
        <p:nvGrpSpPr>
          <p:cNvPr id="41" name="组合 40"/>
          <p:cNvGrpSpPr/>
          <p:nvPr/>
        </p:nvGrpSpPr>
        <p:grpSpPr>
          <a:xfrm>
            <a:off x="5988428" y="2897957"/>
            <a:ext cx="1741934" cy="588229"/>
            <a:chOff x="5988428" y="2897957"/>
            <a:chExt cx="1741934" cy="588229"/>
          </a:xfrm>
        </p:grpSpPr>
        <p:sp>
          <p:nvSpPr>
            <p:cNvPr id="17" name="TextBox 7"/>
            <p:cNvSpPr txBox="1">
              <a:spLocks noChangeArrowheads="1"/>
            </p:cNvSpPr>
            <p:nvPr/>
          </p:nvSpPr>
          <p:spPr bwMode="auto">
            <a:xfrm rot="19489060">
              <a:off x="5988428" y="2897957"/>
              <a:ext cx="1530210"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b="1">
                  <a:latin typeface="楷体" panose="02010609060101010101" pitchFamily="49" charset="-122"/>
                  <a:ea typeface="楷体" panose="02010609060101010101" pitchFamily="49" charset="-122"/>
                </a:rPr>
                <a:t>豁达通透</a:t>
              </a:r>
              <a:endParaRPr lang="zh-CN" altLang="en-US" sz="2400" b="1">
                <a:latin typeface="楷体" panose="02010609060101010101" pitchFamily="49" charset="-122"/>
                <a:ea typeface="楷体" panose="02010609060101010101" pitchFamily="49" charset="-122"/>
              </a:endParaRPr>
            </a:p>
          </p:txBody>
        </p:sp>
        <p:sp>
          <p:nvSpPr>
            <p:cNvPr id="24" name="箭头: 右 23"/>
            <p:cNvSpPr/>
            <p:nvPr/>
          </p:nvSpPr>
          <p:spPr bwMode="auto">
            <a:xfrm rot="19489060">
              <a:off x="6148304" y="3145100"/>
              <a:ext cx="1582058" cy="341086"/>
            </a:xfrm>
            <a:prstGeom prst="rightArrow">
              <a:avLst/>
            </a:prstGeom>
            <a:solidFill>
              <a:srgbClr val="CCEEFB"/>
            </a:solidFill>
            <a:ln w="9525">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grpSp>
      <p:grpSp>
        <p:nvGrpSpPr>
          <p:cNvPr id="42" name="组合 41"/>
          <p:cNvGrpSpPr/>
          <p:nvPr/>
        </p:nvGrpSpPr>
        <p:grpSpPr>
          <a:xfrm>
            <a:off x="7179768" y="1967634"/>
            <a:ext cx="1802872" cy="539528"/>
            <a:chOff x="7179768" y="1967634"/>
            <a:chExt cx="1802872" cy="539528"/>
          </a:xfrm>
        </p:grpSpPr>
        <p:sp>
          <p:nvSpPr>
            <p:cNvPr id="18" name="TextBox 7"/>
            <p:cNvSpPr txBox="1">
              <a:spLocks noChangeArrowheads="1"/>
            </p:cNvSpPr>
            <p:nvPr/>
          </p:nvSpPr>
          <p:spPr bwMode="auto">
            <a:xfrm rot="19219782">
              <a:off x="7179768" y="1967634"/>
              <a:ext cx="1530210"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b="1">
                  <a:latin typeface="楷体" panose="02010609060101010101" pitchFamily="49" charset="-122"/>
                  <a:ea typeface="楷体" panose="02010609060101010101" pitchFamily="49" charset="-122"/>
                </a:rPr>
                <a:t>乐观超拔</a:t>
              </a:r>
              <a:endParaRPr lang="zh-CN" altLang="en-US" sz="2400" b="1">
                <a:latin typeface="楷体" panose="02010609060101010101" pitchFamily="49" charset="-122"/>
                <a:ea typeface="楷体" panose="02010609060101010101" pitchFamily="49" charset="-122"/>
              </a:endParaRPr>
            </a:p>
          </p:txBody>
        </p:sp>
        <p:sp>
          <p:nvSpPr>
            <p:cNvPr id="25" name="箭头: 右 24"/>
            <p:cNvSpPr/>
            <p:nvPr/>
          </p:nvSpPr>
          <p:spPr bwMode="auto">
            <a:xfrm rot="19219782">
              <a:off x="7400582" y="2166076"/>
              <a:ext cx="1582058" cy="341086"/>
            </a:xfrm>
            <a:prstGeom prst="rightArrow">
              <a:avLst/>
            </a:prstGeom>
            <a:solidFill>
              <a:srgbClr val="CCEEFB"/>
            </a:solidFill>
            <a:ln w="9525">
              <a:noFill/>
              <a:miter lim="800000"/>
            </a:ln>
          </p:spPr>
          <p:txBody>
            <a:bodyPr lIns="0" tIns="0" rIns="0" bIns="0" rtlCol="0" anchor="ctr">
              <a:noAutofit/>
            </a:bodyPr>
            <a:lstStyle/>
            <a:p>
              <a:pPr algn="l" eaLnBrk="1" hangingPunct="1">
                <a:lnSpc>
                  <a:spcPct val="120000"/>
                </a:lnSpc>
              </a:pPr>
              <a:endParaRPr lang="zh-CN" altLang="en-US" sz="3200" b="1">
                <a:solidFill>
                  <a:srgbClr val="000000"/>
                </a:solidFill>
                <a:latin typeface="楷体" panose="02010609060101010101" pitchFamily="49" charset="-122"/>
                <a:ea typeface="楷体" panose="02010609060101010101" pitchFamily="49" charset="-122"/>
              </a:endParaRPr>
            </a:p>
          </p:txBody>
        </p:sp>
      </p:grpSp>
      <p:cxnSp>
        <p:nvCxnSpPr>
          <p:cNvPr id="27" name="直接箭头连接符 26"/>
          <p:cNvCxnSpPr>
            <a:endCxn id="14" idx="0"/>
          </p:cNvCxnSpPr>
          <p:nvPr/>
        </p:nvCxnSpPr>
        <p:spPr>
          <a:xfrm flipH="1">
            <a:off x="2664848" y="1489689"/>
            <a:ext cx="116460" cy="883676"/>
          </a:xfrm>
          <a:prstGeom prst="straightConnector1">
            <a:avLst/>
          </a:prstGeom>
          <a:ln w="12700" cap="flat">
            <a:solidFill>
              <a:srgbClr val="64CDF5"/>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endCxn id="15" idx="0"/>
          </p:cNvCxnSpPr>
          <p:nvPr/>
        </p:nvCxnSpPr>
        <p:spPr>
          <a:xfrm flipH="1">
            <a:off x="3942287" y="1496151"/>
            <a:ext cx="588812" cy="1178477"/>
          </a:xfrm>
          <a:prstGeom prst="straightConnector1">
            <a:avLst/>
          </a:prstGeom>
          <a:ln w="12700" cap="flat">
            <a:solidFill>
              <a:srgbClr val="64CDF5"/>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endCxn id="16" idx="0"/>
          </p:cNvCxnSpPr>
          <p:nvPr/>
        </p:nvCxnSpPr>
        <p:spPr>
          <a:xfrm flipH="1">
            <a:off x="5670327" y="1526660"/>
            <a:ext cx="601330" cy="1465695"/>
          </a:xfrm>
          <a:prstGeom prst="straightConnector1">
            <a:avLst/>
          </a:prstGeom>
          <a:ln w="12700" cap="flat">
            <a:solidFill>
              <a:srgbClr val="64CDF5"/>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endCxn id="17" idx="0"/>
          </p:cNvCxnSpPr>
          <p:nvPr/>
        </p:nvCxnSpPr>
        <p:spPr>
          <a:xfrm flipH="1">
            <a:off x="6627182" y="1504317"/>
            <a:ext cx="1366364" cy="1433700"/>
          </a:xfrm>
          <a:prstGeom prst="straightConnector1">
            <a:avLst/>
          </a:prstGeom>
          <a:ln w="12700" cap="flat">
            <a:solidFill>
              <a:srgbClr val="64CDF5"/>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endCxn id="18" idx="0"/>
          </p:cNvCxnSpPr>
          <p:nvPr/>
        </p:nvCxnSpPr>
        <p:spPr>
          <a:xfrm flipH="1">
            <a:off x="7804884" y="1489689"/>
            <a:ext cx="179088" cy="528441"/>
          </a:xfrm>
          <a:prstGeom prst="straightConnector1">
            <a:avLst/>
          </a:prstGeom>
          <a:ln w="12700" cap="flat">
            <a:solidFill>
              <a:srgbClr val="64CDF5"/>
            </a:solidFill>
            <a:prstDash val="dash"/>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up)">
                                      <p:cBhvr>
                                        <p:cTn id="28" dur="500"/>
                                        <p:tgtEl>
                                          <p:spTgt spid="7"/>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wipe(left)">
                                      <p:cBhvr>
                                        <p:cTn id="32" dur="500"/>
                                        <p:tgtEl>
                                          <p:spTgt spid="37"/>
                                        </p:tgtEl>
                                      </p:cBhvr>
                                    </p:animEffect>
                                  </p:childTnLst>
                                </p:cTn>
                              </p:par>
                            </p:childTnLst>
                          </p:cTn>
                        </p:par>
                        <p:par>
                          <p:cTn id="33" fill="hold">
                            <p:stCondLst>
                              <p:cond delay="1000"/>
                            </p:stCondLst>
                            <p:childTnLst>
                              <p:par>
                                <p:cTn id="34" presetID="22" presetClass="entr" presetSubtype="1" fill="hold" nodeType="after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wipe(up)">
                                      <p:cBhvr>
                                        <p:cTn id="36" dur="500"/>
                                        <p:tgtEl>
                                          <p:spTgt spid="27"/>
                                        </p:tgtEl>
                                      </p:cBhvr>
                                    </p:animEffect>
                                  </p:childTnLst>
                                </p:cTn>
                              </p:par>
                            </p:childTnLst>
                          </p:cTn>
                        </p:par>
                        <p:par>
                          <p:cTn id="37" fill="hold">
                            <p:stCondLst>
                              <p:cond delay="1500"/>
                            </p:stCondLst>
                            <p:childTnLst>
                              <p:par>
                                <p:cTn id="38" presetID="22" presetClass="entr" presetSubtype="8" fill="hold" nodeType="after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wipe(left)">
                                      <p:cBhvr>
                                        <p:cTn id="40" dur="500"/>
                                        <p:tgtEl>
                                          <p:spTgt spid="38"/>
                                        </p:tgtEl>
                                      </p:cBhvr>
                                    </p:animEffect>
                                  </p:childTnLst>
                                </p:cTn>
                              </p:par>
                            </p:childTnLst>
                          </p:cTn>
                        </p:par>
                        <p:par>
                          <p:cTn id="41" fill="hold">
                            <p:stCondLst>
                              <p:cond delay="2000"/>
                            </p:stCondLst>
                            <p:childTnLst>
                              <p:par>
                                <p:cTn id="42" presetID="22" presetClass="entr" presetSubtype="1" fill="hold" nodeType="after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wipe(up)">
                                      <p:cBhvr>
                                        <p:cTn id="44" dur="500"/>
                                        <p:tgtEl>
                                          <p:spTgt spid="29"/>
                                        </p:tgtEl>
                                      </p:cBhvr>
                                    </p:animEffect>
                                  </p:childTnLst>
                                </p:cTn>
                              </p:par>
                            </p:childTnLst>
                          </p:cTn>
                        </p:par>
                        <p:par>
                          <p:cTn id="45" fill="hold">
                            <p:stCondLst>
                              <p:cond delay="2500"/>
                            </p:stCondLst>
                            <p:childTnLst>
                              <p:par>
                                <p:cTn id="46" presetID="22" presetClass="entr" presetSubtype="8" fill="hold" nodeType="after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wipe(left)">
                                      <p:cBhvr>
                                        <p:cTn id="48" dur="500"/>
                                        <p:tgtEl>
                                          <p:spTgt spid="39"/>
                                        </p:tgtEl>
                                      </p:cBhvr>
                                    </p:animEffect>
                                  </p:childTnLst>
                                </p:cTn>
                              </p:par>
                            </p:childTnLst>
                          </p:cTn>
                        </p:par>
                        <p:par>
                          <p:cTn id="49" fill="hold">
                            <p:stCondLst>
                              <p:cond delay="3000"/>
                            </p:stCondLst>
                            <p:childTnLst>
                              <p:par>
                                <p:cTn id="50" presetID="22" presetClass="entr" presetSubtype="1" fill="hold" nodeType="after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up)">
                                      <p:cBhvr>
                                        <p:cTn id="52" dur="500"/>
                                        <p:tgtEl>
                                          <p:spTgt spid="31"/>
                                        </p:tgtEl>
                                      </p:cBhvr>
                                    </p:animEffect>
                                  </p:childTnLst>
                                </p:cTn>
                              </p:par>
                            </p:childTnLst>
                          </p:cTn>
                        </p:par>
                        <p:par>
                          <p:cTn id="53" fill="hold">
                            <p:stCondLst>
                              <p:cond delay="3500"/>
                            </p:stCondLst>
                            <p:childTnLst>
                              <p:par>
                                <p:cTn id="54" presetID="22" presetClass="entr" presetSubtype="8" fill="hold" nodeType="after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wipe(left)">
                                      <p:cBhvr>
                                        <p:cTn id="56" dur="500"/>
                                        <p:tgtEl>
                                          <p:spTgt spid="40"/>
                                        </p:tgtEl>
                                      </p:cBhvr>
                                    </p:animEffect>
                                  </p:childTnLst>
                                </p:cTn>
                              </p:par>
                            </p:childTnLst>
                          </p:cTn>
                        </p:par>
                        <p:par>
                          <p:cTn id="57" fill="hold">
                            <p:stCondLst>
                              <p:cond delay="4000"/>
                            </p:stCondLst>
                            <p:childTnLst>
                              <p:par>
                                <p:cTn id="58" presetID="22" presetClass="entr" presetSubtype="1" fill="hold" nodeType="after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wipe(up)">
                                      <p:cBhvr>
                                        <p:cTn id="60" dur="500"/>
                                        <p:tgtEl>
                                          <p:spTgt spid="33"/>
                                        </p:tgtEl>
                                      </p:cBhvr>
                                    </p:animEffect>
                                  </p:childTnLst>
                                </p:cTn>
                              </p:par>
                            </p:childTnLst>
                          </p:cTn>
                        </p:par>
                        <p:par>
                          <p:cTn id="61" fill="hold">
                            <p:stCondLst>
                              <p:cond delay="4500"/>
                            </p:stCondLst>
                            <p:childTnLst>
                              <p:par>
                                <p:cTn id="62" presetID="22" presetClass="entr" presetSubtype="8" fill="hold" nodeType="after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wipe(left)">
                                      <p:cBhvr>
                                        <p:cTn id="64" dur="500"/>
                                        <p:tgtEl>
                                          <p:spTgt spid="41"/>
                                        </p:tgtEl>
                                      </p:cBhvr>
                                    </p:animEffect>
                                  </p:childTnLst>
                                </p:cTn>
                              </p:par>
                            </p:childTnLst>
                          </p:cTn>
                        </p:par>
                        <p:par>
                          <p:cTn id="65" fill="hold">
                            <p:stCondLst>
                              <p:cond delay="5000"/>
                            </p:stCondLst>
                            <p:childTnLst>
                              <p:par>
                                <p:cTn id="66" presetID="22" presetClass="entr" presetSubtype="1" fill="hold" nodeType="after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wipe(up)">
                                      <p:cBhvr>
                                        <p:cTn id="68" dur="500"/>
                                        <p:tgtEl>
                                          <p:spTgt spid="35"/>
                                        </p:tgtEl>
                                      </p:cBhvr>
                                    </p:animEffect>
                                  </p:childTnLst>
                                </p:cTn>
                              </p:par>
                            </p:childTnLst>
                          </p:cTn>
                        </p:par>
                        <p:par>
                          <p:cTn id="69" fill="hold">
                            <p:stCondLst>
                              <p:cond delay="5500"/>
                            </p:stCondLst>
                            <p:childTnLst>
                              <p:par>
                                <p:cTn id="70" presetID="22" presetClass="entr" presetSubtype="8" fill="hold" nodeType="after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wipe(left)">
                                      <p:cBhvr>
                                        <p:cTn id="7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P spid="11" grpId="0"/>
      <p:bldP spid="1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rrowheads="1"/>
          </p:cNvSpPr>
          <p:nvPr/>
        </p:nvSpPr>
        <p:spPr bwMode="auto">
          <a:xfrm>
            <a:off x="488655" y="1413805"/>
            <a:ext cx="8166691" cy="2315890"/>
          </a:xfrm>
          <a:prstGeom prst="rect">
            <a:avLst/>
          </a:prstGeom>
          <a:noFill/>
          <a:ln>
            <a:noFill/>
          </a:ln>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3000" b="1">
                <a:latin typeface="楷体" panose="02010609060101010101" pitchFamily="49" charset="-122"/>
                <a:ea typeface="楷体" panose="02010609060101010101" pitchFamily="49" charset="-122"/>
              </a:rPr>
              <a:t>    天若有情天亦老，月如无恨月长圆。我们在生活中也会有各种各样的遗憾。面对生活中的风雨坎坷，请读一读苏轼的词吧。愿我们的心灵永远澄澈明净，愿我们的人生更加豁达从容！</a:t>
            </a:r>
            <a:endParaRPr lang="en-US" altLang="zh-CN" sz="3000" b="1">
              <a:latin typeface="楷体" panose="02010609060101010101" pitchFamily="49" charset="-122"/>
              <a:ea typeface="楷体" panose="02010609060101010101" pitchFamily="49" charset="-122"/>
            </a:endParaRPr>
          </a:p>
        </p:txBody>
      </p:sp>
      <p:grpSp>
        <p:nvGrpSpPr>
          <p:cNvPr id="6" name="组合 5"/>
          <p:cNvGrpSpPr/>
          <p:nvPr/>
        </p:nvGrpSpPr>
        <p:grpSpPr>
          <a:xfrm>
            <a:off x="188273" y="421358"/>
            <a:ext cx="2730187" cy="880110"/>
            <a:chOff x="279713" y="172439"/>
            <a:chExt cx="2730187" cy="880110"/>
          </a:xfrm>
        </p:grpSpPr>
        <p:sp>
          <p:nvSpPr>
            <p:cNvPr id="7" name="文本框 6"/>
            <p:cNvSpPr txBox="1">
              <a:spLocks noChangeArrowheads="1"/>
            </p:cNvSpPr>
            <p:nvPr/>
          </p:nvSpPr>
          <p:spPr bwMode="auto">
            <a:xfrm>
              <a:off x="956742" y="274387"/>
              <a:ext cx="2053158"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课堂小结</a:t>
              </a:r>
              <a:endParaRPr lang="zh-CN" altLang="en-US" sz="3200" b="1">
                <a:latin typeface="黑体" panose="02010609060101010101" pitchFamily="2" charset="-122"/>
                <a:ea typeface="黑体" panose="02010609060101010101" pitchFamily="2" charset="-122"/>
              </a:endParaRPr>
            </a:p>
          </p:txBody>
        </p:sp>
        <p:pic>
          <p:nvPicPr>
            <p:cNvPr id="8" name="图片 7"/>
            <p:cNvPicPr/>
            <p:nvPr/>
          </p:nvPicPr>
          <p:blipFill>
            <a:blip r:embed="rId1"/>
            <a:stretch>
              <a:fillRect/>
            </a:stretch>
          </p:blipFill>
          <p:spPr>
            <a:xfrm>
              <a:off x="279713" y="172439"/>
              <a:ext cx="880110" cy="880110"/>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a:spLocks noChangeArrowheads="1"/>
          </p:cNvSpPr>
          <p:nvPr/>
        </p:nvSpPr>
        <p:spPr bwMode="auto">
          <a:xfrm>
            <a:off x="631312" y="1419266"/>
            <a:ext cx="7881376" cy="2716449"/>
          </a:xfrm>
          <a:prstGeom prst="rect">
            <a:avLst/>
          </a:prstGeom>
          <a:noFill/>
          <a:ln>
            <a:noFill/>
          </a:ln>
          <a:extLst>
            <a:ext uri="{909E8E84-426E-40DD-AFC4-6F175D3DCCD1}">
              <a14:hiddenFill xmlns:a14="http://schemas.microsoft.com/office/drawing/2010/main">
                <a:blipFill>
                  <a:blip r:embed="rId1"/>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457200" indent="-457200" eaLnBrk="1" hangingPunct="1">
              <a:buFont typeface="Wingdings" panose="05000000000000000000" pitchFamily="2" charset="2"/>
              <a:buChar char="l"/>
              <a:defRPr sz="3200" b="1">
                <a:latin typeface="+mn-ea"/>
                <a:ea typeface="+mn-ea"/>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marL="514350" indent="-514350">
              <a:lnSpc>
                <a:spcPct val="130000"/>
              </a:lnSpc>
              <a:spcBef>
                <a:spcPts val="1200"/>
              </a:spcBef>
              <a:buFont typeface="+mj-lt"/>
              <a:buAutoNum type="arabicPeriod"/>
            </a:pPr>
            <a:r>
              <a:rPr lang="zh-CN" altLang="en-US"/>
              <a:t>背诵并默写这首词，积累有关“月”的古诗词名句。</a:t>
            </a:r>
            <a:endParaRPr lang="zh-CN" altLang="en-US"/>
          </a:p>
          <a:p>
            <a:pPr marL="514350" indent="-514350">
              <a:lnSpc>
                <a:spcPct val="130000"/>
              </a:lnSpc>
              <a:spcBef>
                <a:spcPts val="1200"/>
              </a:spcBef>
              <a:buFont typeface="+mj-lt"/>
              <a:buAutoNum type="arabicPeriod"/>
            </a:pPr>
            <a:r>
              <a:rPr lang="zh-CN" altLang="en-US"/>
              <a:t>向先辈们学习，写一段话，借月来抒发你的心声。</a:t>
            </a:r>
            <a:endParaRPr lang="zh-CN" altLang="en-US"/>
          </a:p>
        </p:txBody>
      </p:sp>
      <p:grpSp>
        <p:nvGrpSpPr>
          <p:cNvPr id="6" name="组合 5"/>
          <p:cNvGrpSpPr/>
          <p:nvPr/>
        </p:nvGrpSpPr>
        <p:grpSpPr>
          <a:xfrm>
            <a:off x="188273" y="421358"/>
            <a:ext cx="2730187" cy="880110"/>
            <a:chOff x="279713" y="172439"/>
            <a:chExt cx="2730187" cy="880110"/>
          </a:xfrm>
        </p:grpSpPr>
        <p:sp>
          <p:nvSpPr>
            <p:cNvPr id="7" name="文本框 6"/>
            <p:cNvSpPr txBox="1">
              <a:spLocks noChangeArrowheads="1"/>
            </p:cNvSpPr>
            <p:nvPr/>
          </p:nvSpPr>
          <p:spPr bwMode="auto">
            <a:xfrm>
              <a:off x="956742" y="274387"/>
              <a:ext cx="2053158"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作业布置</a:t>
              </a:r>
              <a:endParaRPr lang="zh-CN" altLang="en-US" sz="3200" b="1">
                <a:latin typeface="黑体" panose="02010609060101010101" pitchFamily="2" charset="-122"/>
                <a:ea typeface="黑体" panose="02010609060101010101" pitchFamily="2" charset="-122"/>
              </a:endParaRPr>
            </a:p>
          </p:txBody>
        </p:sp>
        <p:pic>
          <p:nvPicPr>
            <p:cNvPr id="8" name="图片 7"/>
            <p:cNvPicPr/>
            <p:nvPr/>
          </p:nvPicPr>
          <p:blipFill>
            <a:blip r:embed="rId2"/>
            <a:stretch>
              <a:fillRect/>
            </a:stretch>
          </p:blipFill>
          <p:spPr>
            <a:xfrm>
              <a:off x="279713" y="172439"/>
              <a:ext cx="880110" cy="880110"/>
            </a:xfrm>
            <a:prstGeom prst="rect">
              <a:avLst/>
            </a:prstGeom>
          </p:spPr>
        </p:pic>
      </p:gr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7"/>
          <p:cNvSpPr txBox="1">
            <a:spLocks noChangeArrowheads="1"/>
          </p:cNvSpPr>
          <p:nvPr/>
        </p:nvSpPr>
        <p:spPr bwMode="auto">
          <a:xfrm>
            <a:off x="1313552" y="871249"/>
            <a:ext cx="6516897" cy="5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800" b="1">
                <a:latin typeface="楷体" panose="02010609060101010101" pitchFamily="49" charset="-122"/>
                <a:ea typeface="楷体" panose="02010609060101010101" pitchFamily="49" charset="-122"/>
              </a:rPr>
              <a:t>水调歌头</a:t>
            </a:r>
            <a:endParaRPr lang="zh-CN" altLang="en-US" sz="2800" b="1">
              <a:latin typeface="楷体" panose="02010609060101010101" pitchFamily="49" charset="-122"/>
              <a:ea typeface="楷体" panose="02010609060101010101" pitchFamily="49" charset="-122"/>
            </a:endParaRPr>
          </a:p>
        </p:txBody>
      </p:sp>
      <p:sp>
        <p:nvSpPr>
          <p:cNvPr id="18" name="TextBox 7"/>
          <p:cNvSpPr txBox="1">
            <a:spLocks noChangeArrowheads="1"/>
          </p:cNvSpPr>
          <p:nvPr/>
        </p:nvSpPr>
        <p:spPr bwMode="auto">
          <a:xfrm>
            <a:off x="8030738" y="2320983"/>
            <a:ext cx="939092" cy="869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600" b="1">
                <a:latin typeface="楷体" panose="02010609060101010101" pitchFamily="49" charset="-122"/>
                <a:ea typeface="楷体" panose="02010609060101010101" pitchFamily="49" charset="-122"/>
              </a:rPr>
              <a:t>乐观思亲</a:t>
            </a:r>
            <a:endParaRPr lang="en-US" altLang="zh-CN" sz="2600" b="1">
              <a:latin typeface="楷体" panose="02010609060101010101" pitchFamily="49" charset="-122"/>
              <a:ea typeface="楷体" panose="02010609060101010101" pitchFamily="49" charset="-122"/>
            </a:endParaRPr>
          </a:p>
        </p:txBody>
      </p:sp>
      <p:sp>
        <p:nvSpPr>
          <p:cNvPr id="30" name="TextBox 7"/>
          <p:cNvSpPr txBox="1">
            <a:spLocks noChangeArrowheads="1"/>
          </p:cNvSpPr>
          <p:nvPr/>
        </p:nvSpPr>
        <p:spPr bwMode="auto">
          <a:xfrm>
            <a:off x="1231662" y="1494256"/>
            <a:ext cx="2871136" cy="1035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defRPr/>
            </a:pPr>
            <a:r>
              <a:rPr lang="zh-CN" altLang="en-US" sz="2600" b="1">
                <a:latin typeface="楷体" panose="02010609060101010101" pitchFamily="49" charset="-122"/>
                <a:ea typeface="楷体" panose="02010609060101010101" pitchFamily="49" charset="-122"/>
              </a:rPr>
              <a:t>一问：几时有月</a:t>
            </a:r>
            <a:endParaRPr lang="en-US" altLang="zh-CN" sz="2600" b="1">
              <a:latin typeface="楷体" panose="02010609060101010101" pitchFamily="49" charset="-122"/>
              <a:ea typeface="楷体" panose="02010609060101010101" pitchFamily="49" charset="-122"/>
            </a:endParaRPr>
          </a:p>
          <a:p>
            <a:pPr eaLnBrk="1" hangingPunct="1">
              <a:lnSpc>
                <a:spcPct val="130000"/>
              </a:lnSpc>
              <a:defRPr/>
            </a:pPr>
            <a:r>
              <a:rPr lang="zh-CN" altLang="en-US" sz="2600" b="1">
                <a:latin typeface="楷体" panose="02010609060101010101" pitchFamily="49" charset="-122"/>
                <a:ea typeface="楷体" panose="02010609060101010101" pitchFamily="49" charset="-122"/>
              </a:rPr>
              <a:t>二问：今夕何年</a:t>
            </a:r>
            <a:endParaRPr lang="en-US" altLang="zh-CN" sz="2600" b="1">
              <a:latin typeface="楷体" panose="02010609060101010101" pitchFamily="49" charset="-122"/>
              <a:ea typeface="楷体" panose="02010609060101010101" pitchFamily="49" charset="-122"/>
            </a:endParaRPr>
          </a:p>
        </p:txBody>
      </p:sp>
      <p:grpSp>
        <p:nvGrpSpPr>
          <p:cNvPr id="37" name="组合 36"/>
          <p:cNvGrpSpPr/>
          <p:nvPr/>
        </p:nvGrpSpPr>
        <p:grpSpPr>
          <a:xfrm>
            <a:off x="188273" y="421358"/>
            <a:ext cx="2730187" cy="880110"/>
            <a:chOff x="279713" y="172439"/>
            <a:chExt cx="2730187" cy="880110"/>
          </a:xfrm>
        </p:grpSpPr>
        <p:sp>
          <p:nvSpPr>
            <p:cNvPr id="38" name="文本框 37"/>
            <p:cNvSpPr txBox="1">
              <a:spLocks noChangeArrowheads="1"/>
            </p:cNvSpPr>
            <p:nvPr/>
          </p:nvSpPr>
          <p:spPr bwMode="auto">
            <a:xfrm>
              <a:off x="956742" y="274387"/>
              <a:ext cx="2053158" cy="584775"/>
            </a:xfrm>
            <a:prstGeom prst="rect">
              <a:avLst/>
            </a:prstGeom>
            <a:noFill/>
            <a:ln>
              <a:noFill/>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3200" b="1">
                  <a:latin typeface="黑体" panose="02010609060101010101" pitchFamily="2" charset="-122"/>
                  <a:ea typeface="黑体" panose="02010609060101010101" pitchFamily="2" charset="-122"/>
                </a:rPr>
                <a:t>板书设计</a:t>
              </a:r>
              <a:endParaRPr lang="zh-CN" altLang="en-US" sz="3200" b="1">
                <a:latin typeface="黑体" panose="02010609060101010101" pitchFamily="2" charset="-122"/>
                <a:ea typeface="黑体" panose="02010609060101010101" pitchFamily="2" charset="-122"/>
              </a:endParaRPr>
            </a:p>
          </p:txBody>
        </p:sp>
        <p:pic>
          <p:nvPicPr>
            <p:cNvPr id="39" name="图片 38"/>
            <p:cNvPicPr/>
            <p:nvPr/>
          </p:nvPicPr>
          <p:blipFill>
            <a:blip r:embed="rId1"/>
            <a:stretch>
              <a:fillRect/>
            </a:stretch>
          </p:blipFill>
          <p:spPr>
            <a:xfrm>
              <a:off x="279713" y="172439"/>
              <a:ext cx="880110" cy="880110"/>
            </a:xfrm>
            <a:prstGeom prst="rect">
              <a:avLst/>
            </a:prstGeom>
          </p:spPr>
        </p:pic>
      </p:grpSp>
      <p:sp>
        <p:nvSpPr>
          <p:cNvPr id="40" name="左大括号 39"/>
          <p:cNvSpPr/>
          <p:nvPr/>
        </p:nvSpPr>
        <p:spPr>
          <a:xfrm flipH="1">
            <a:off x="7735584" y="1589670"/>
            <a:ext cx="290540" cy="2362200"/>
          </a:xfrm>
          <a:prstGeom prst="leftBrace">
            <a:avLst>
              <a:gd name="adj1" fmla="val 39715"/>
              <a:gd name="adj2" fmla="val 50000"/>
            </a:avLst>
          </a:prstGeom>
          <a:ln w="38100">
            <a:solidFill>
              <a:srgbClr val="64CDF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左大括号 40"/>
          <p:cNvSpPr/>
          <p:nvPr/>
        </p:nvSpPr>
        <p:spPr>
          <a:xfrm>
            <a:off x="1000220" y="1635787"/>
            <a:ext cx="260564" cy="752671"/>
          </a:xfrm>
          <a:prstGeom prst="leftBrace">
            <a:avLst>
              <a:gd name="adj1" fmla="val 0"/>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TextBox 7"/>
          <p:cNvSpPr txBox="1">
            <a:spLocks noChangeArrowheads="1"/>
          </p:cNvSpPr>
          <p:nvPr/>
        </p:nvSpPr>
        <p:spPr bwMode="auto">
          <a:xfrm>
            <a:off x="214525" y="1777443"/>
            <a:ext cx="979917" cy="469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600" b="1">
                <a:latin typeface="楷体" panose="02010609060101010101" pitchFamily="49" charset="-122"/>
                <a:ea typeface="楷体" panose="02010609060101010101" pitchFamily="49" charset="-122"/>
              </a:rPr>
              <a:t>上片</a:t>
            </a:r>
            <a:endParaRPr lang="zh-CN" altLang="en-US" sz="2600" b="1">
              <a:latin typeface="楷体" panose="02010609060101010101" pitchFamily="49" charset="-122"/>
              <a:ea typeface="楷体" panose="02010609060101010101" pitchFamily="49" charset="-122"/>
            </a:endParaRPr>
          </a:p>
        </p:txBody>
      </p:sp>
      <p:sp>
        <p:nvSpPr>
          <p:cNvPr id="44" name="TextBox 7"/>
          <p:cNvSpPr txBox="1">
            <a:spLocks noChangeArrowheads="1"/>
          </p:cNvSpPr>
          <p:nvPr/>
        </p:nvSpPr>
        <p:spPr bwMode="auto">
          <a:xfrm>
            <a:off x="3988720" y="1397968"/>
            <a:ext cx="3896875" cy="155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defRPr/>
            </a:pPr>
            <a:r>
              <a:rPr lang="zh-CN" altLang="en-US" sz="2600" b="1">
                <a:latin typeface="楷体" panose="02010609060101010101" pitchFamily="49" charset="-122"/>
                <a:ea typeface="楷体" panose="02010609060101010101" pitchFamily="49" charset="-122"/>
              </a:rPr>
              <a:t>写景→想象：明月→宫阙</a:t>
            </a:r>
            <a:endParaRPr lang="en-US" altLang="zh-CN" sz="2600" b="1">
              <a:latin typeface="楷体" panose="02010609060101010101" pitchFamily="49" charset="-122"/>
              <a:ea typeface="楷体" panose="02010609060101010101" pitchFamily="49" charset="-122"/>
            </a:endParaRPr>
          </a:p>
          <a:p>
            <a:pPr eaLnBrk="1" hangingPunct="1">
              <a:lnSpc>
                <a:spcPct val="130000"/>
              </a:lnSpc>
              <a:defRPr/>
            </a:pPr>
            <a:r>
              <a:rPr lang="zh-CN" altLang="en-US" sz="2600" b="1">
                <a:latin typeface="楷体" panose="02010609060101010101" pitchFamily="49" charset="-122"/>
                <a:ea typeface="楷体" panose="02010609060101010101" pitchFamily="49" charset="-122"/>
              </a:rPr>
              <a:t>（借景抒情：苦闷难遣，    </a:t>
            </a:r>
            <a:endParaRPr lang="en-US" altLang="zh-CN" sz="2600" b="1">
              <a:latin typeface="楷体" panose="02010609060101010101" pitchFamily="49" charset="-122"/>
              <a:ea typeface="楷体" panose="02010609060101010101" pitchFamily="49" charset="-122"/>
            </a:endParaRPr>
          </a:p>
          <a:p>
            <a:pPr eaLnBrk="1" hangingPunct="1">
              <a:lnSpc>
                <a:spcPct val="130000"/>
              </a:lnSpc>
              <a:defRPr/>
            </a:pPr>
            <a:r>
              <a:rPr lang="en-US" altLang="zh-CN" sz="2600" b="1">
                <a:latin typeface="楷体" panose="02010609060101010101" pitchFamily="49" charset="-122"/>
                <a:ea typeface="楷体" panose="02010609060101010101" pitchFamily="49" charset="-122"/>
              </a:rPr>
              <a:t>            </a:t>
            </a:r>
            <a:r>
              <a:rPr lang="zh-CN" altLang="en-US" sz="2600" b="1">
                <a:latin typeface="楷体" panose="02010609060101010101" pitchFamily="49" charset="-122"/>
                <a:ea typeface="楷体" panose="02010609060101010101" pitchFamily="49" charset="-122"/>
              </a:rPr>
              <a:t>欲求解脱）</a:t>
            </a:r>
            <a:endParaRPr lang="zh-CN" altLang="en-US" sz="2600" b="1">
              <a:latin typeface="楷体" panose="02010609060101010101" pitchFamily="49" charset="-122"/>
              <a:ea typeface="楷体" panose="02010609060101010101" pitchFamily="49" charset="-122"/>
            </a:endParaRPr>
          </a:p>
        </p:txBody>
      </p:sp>
      <p:sp>
        <p:nvSpPr>
          <p:cNvPr id="46" name="左大括号 45"/>
          <p:cNvSpPr/>
          <p:nvPr/>
        </p:nvSpPr>
        <p:spPr>
          <a:xfrm flipH="1">
            <a:off x="3667276" y="1609229"/>
            <a:ext cx="260564" cy="805786"/>
          </a:xfrm>
          <a:prstGeom prst="leftBrace">
            <a:avLst>
              <a:gd name="adj1" fmla="val 0"/>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TextBox 7"/>
          <p:cNvSpPr txBox="1">
            <a:spLocks noChangeArrowheads="1"/>
          </p:cNvSpPr>
          <p:nvPr/>
        </p:nvSpPr>
        <p:spPr bwMode="auto">
          <a:xfrm>
            <a:off x="1231662" y="3199324"/>
            <a:ext cx="2871136" cy="1035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defRPr/>
            </a:pPr>
            <a:r>
              <a:rPr lang="zh-CN" altLang="en-US" sz="2600" b="1">
                <a:latin typeface="楷体" panose="02010609060101010101" pitchFamily="49" charset="-122"/>
                <a:ea typeface="楷体" panose="02010609060101010101" pitchFamily="49" charset="-122"/>
              </a:rPr>
              <a:t>离人无眠：怨月</a:t>
            </a:r>
            <a:endParaRPr lang="en-US" altLang="zh-CN" sz="2600" b="1">
              <a:latin typeface="楷体" panose="02010609060101010101" pitchFamily="49" charset="-122"/>
              <a:ea typeface="楷体" panose="02010609060101010101" pitchFamily="49" charset="-122"/>
            </a:endParaRPr>
          </a:p>
          <a:p>
            <a:pPr eaLnBrk="1" hangingPunct="1">
              <a:lnSpc>
                <a:spcPct val="130000"/>
              </a:lnSpc>
              <a:defRPr/>
            </a:pPr>
            <a:r>
              <a:rPr lang="zh-CN" altLang="en-US" sz="2600" b="1">
                <a:latin typeface="楷体" panose="02010609060101010101" pitchFamily="49" charset="-122"/>
                <a:ea typeface="楷体" panose="02010609060101010101" pitchFamily="49" charset="-122"/>
              </a:rPr>
              <a:t>愿人长久：惜月</a:t>
            </a:r>
            <a:endParaRPr lang="en-US" altLang="zh-CN" sz="2600" b="1">
              <a:latin typeface="楷体" panose="02010609060101010101" pitchFamily="49" charset="-122"/>
              <a:ea typeface="楷体" panose="02010609060101010101" pitchFamily="49" charset="-122"/>
            </a:endParaRPr>
          </a:p>
        </p:txBody>
      </p:sp>
      <p:sp>
        <p:nvSpPr>
          <p:cNvPr id="48" name="左大括号 47"/>
          <p:cNvSpPr/>
          <p:nvPr/>
        </p:nvSpPr>
        <p:spPr>
          <a:xfrm>
            <a:off x="1000220" y="3340855"/>
            <a:ext cx="260564" cy="752671"/>
          </a:xfrm>
          <a:prstGeom prst="leftBrace">
            <a:avLst>
              <a:gd name="adj1" fmla="val 0"/>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 name="TextBox 7"/>
          <p:cNvSpPr txBox="1">
            <a:spLocks noChangeArrowheads="1"/>
          </p:cNvSpPr>
          <p:nvPr/>
        </p:nvSpPr>
        <p:spPr bwMode="auto">
          <a:xfrm>
            <a:off x="214525" y="3482511"/>
            <a:ext cx="979917" cy="469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600" b="1">
                <a:latin typeface="楷体" panose="02010609060101010101" pitchFamily="49" charset="-122"/>
                <a:ea typeface="楷体" panose="02010609060101010101" pitchFamily="49" charset="-122"/>
              </a:rPr>
              <a:t>下片</a:t>
            </a:r>
            <a:endParaRPr lang="zh-CN" altLang="en-US" sz="2600" b="1">
              <a:latin typeface="楷体" panose="02010609060101010101" pitchFamily="49" charset="-122"/>
              <a:ea typeface="楷体" panose="02010609060101010101" pitchFamily="49" charset="-122"/>
            </a:endParaRPr>
          </a:p>
        </p:txBody>
      </p:sp>
      <p:sp>
        <p:nvSpPr>
          <p:cNvPr id="50" name="TextBox 7"/>
          <p:cNvSpPr txBox="1">
            <a:spLocks noChangeArrowheads="1"/>
          </p:cNvSpPr>
          <p:nvPr/>
        </p:nvSpPr>
        <p:spPr bwMode="auto">
          <a:xfrm>
            <a:off x="3988720" y="3103036"/>
            <a:ext cx="3896875" cy="155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defRPr/>
            </a:pPr>
            <a:r>
              <a:rPr lang="zh-CN" altLang="en-US" sz="2600" b="1">
                <a:latin typeface="楷体" panose="02010609060101010101" pitchFamily="49" charset="-122"/>
                <a:ea typeface="楷体" panose="02010609060101010101" pitchFamily="49" charset="-122"/>
              </a:rPr>
              <a:t>抒情→联想：月圆→人圆</a:t>
            </a:r>
            <a:endParaRPr lang="en-US" altLang="zh-CN" sz="2600" b="1">
              <a:latin typeface="楷体" panose="02010609060101010101" pitchFamily="49" charset="-122"/>
              <a:ea typeface="楷体" panose="02010609060101010101" pitchFamily="49" charset="-122"/>
            </a:endParaRPr>
          </a:p>
          <a:p>
            <a:pPr eaLnBrk="1" hangingPunct="1">
              <a:lnSpc>
                <a:spcPct val="130000"/>
              </a:lnSpc>
              <a:defRPr/>
            </a:pPr>
            <a:r>
              <a:rPr lang="zh-CN" altLang="en-US" sz="2600" b="1">
                <a:latin typeface="楷体" panose="02010609060101010101" pitchFamily="49" charset="-122"/>
                <a:ea typeface="楷体" panose="02010609060101010101" pitchFamily="49" charset="-122"/>
              </a:rPr>
              <a:t>（议论升华：释怀离怨，    </a:t>
            </a:r>
            <a:endParaRPr lang="en-US" altLang="zh-CN" sz="2600" b="1">
              <a:latin typeface="楷体" panose="02010609060101010101" pitchFamily="49" charset="-122"/>
              <a:ea typeface="楷体" panose="02010609060101010101" pitchFamily="49" charset="-122"/>
            </a:endParaRPr>
          </a:p>
          <a:p>
            <a:pPr eaLnBrk="1" hangingPunct="1">
              <a:lnSpc>
                <a:spcPct val="130000"/>
              </a:lnSpc>
              <a:defRPr/>
            </a:pPr>
            <a:r>
              <a:rPr lang="en-US" altLang="zh-CN" sz="2600" b="1">
                <a:latin typeface="楷体" panose="02010609060101010101" pitchFamily="49" charset="-122"/>
                <a:ea typeface="楷体" panose="02010609060101010101" pitchFamily="49" charset="-122"/>
              </a:rPr>
              <a:t>            </a:t>
            </a:r>
            <a:r>
              <a:rPr lang="zh-CN" altLang="en-US" sz="2600" b="1">
                <a:latin typeface="楷体" panose="02010609060101010101" pitchFamily="49" charset="-122"/>
                <a:ea typeface="楷体" panose="02010609060101010101" pitchFamily="49" charset="-122"/>
              </a:rPr>
              <a:t>祝共婵娟）</a:t>
            </a:r>
            <a:endParaRPr lang="zh-CN" altLang="en-US" sz="2600" b="1">
              <a:latin typeface="楷体" panose="02010609060101010101" pitchFamily="49" charset="-122"/>
              <a:ea typeface="楷体" panose="02010609060101010101" pitchFamily="49" charset="-122"/>
            </a:endParaRPr>
          </a:p>
        </p:txBody>
      </p:sp>
      <p:sp>
        <p:nvSpPr>
          <p:cNvPr id="51" name="左大括号 50"/>
          <p:cNvSpPr/>
          <p:nvPr/>
        </p:nvSpPr>
        <p:spPr>
          <a:xfrm flipH="1">
            <a:off x="3667276" y="3314297"/>
            <a:ext cx="260564" cy="805786"/>
          </a:xfrm>
          <a:prstGeom prst="leftBrace">
            <a:avLst>
              <a:gd name="adj1" fmla="val 0"/>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500"/>
                                        <p:tgtEl>
                                          <p:spTgt spid="42"/>
                                        </p:tgtEl>
                                      </p:cBhvr>
                                    </p:animEffect>
                                  </p:childTnLst>
                                </p:cTn>
                              </p:par>
                            </p:childTnLst>
                          </p:cTn>
                        </p:par>
                        <p:par>
                          <p:cTn id="8" fill="hold">
                            <p:stCondLst>
                              <p:cond delay="500"/>
                            </p:stCondLst>
                            <p:childTnLst>
                              <p:par>
                                <p:cTn id="9" presetID="16" presetClass="entr" presetSubtype="26" fill="hold" grpId="0"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barn(inHorizontal)">
                                      <p:cBhvr>
                                        <p:cTn id="11" dur="500"/>
                                        <p:tgtEl>
                                          <p:spTgt spid="4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left)">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6" fill="hold" grpId="0" nodeType="click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barn(inHorizontal)">
                                      <p:cBhvr>
                                        <p:cTn id="21" dur="500"/>
                                        <p:tgtEl>
                                          <p:spTgt spid="46"/>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wipe(left)">
                                      <p:cBhvr>
                                        <p:cTn id="25" dur="500"/>
                                        <p:tgtEl>
                                          <p:spTgt spid="4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wipe(left)">
                                      <p:cBhvr>
                                        <p:cTn id="30" dur="500"/>
                                        <p:tgtEl>
                                          <p:spTgt spid="49"/>
                                        </p:tgtEl>
                                      </p:cBhvr>
                                    </p:animEffect>
                                  </p:childTnLst>
                                </p:cTn>
                              </p:par>
                            </p:childTnLst>
                          </p:cTn>
                        </p:par>
                        <p:par>
                          <p:cTn id="31" fill="hold">
                            <p:stCondLst>
                              <p:cond delay="500"/>
                            </p:stCondLst>
                            <p:childTnLst>
                              <p:par>
                                <p:cTn id="32" presetID="16" presetClass="entr" presetSubtype="26" fill="hold" grpId="0" nodeType="afterEffect">
                                  <p:stCondLst>
                                    <p:cond delay="0"/>
                                  </p:stCondLst>
                                  <p:childTnLst>
                                    <p:set>
                                      <p:cBhvr>
                                        <p:cTn id="33" dur="1" fill="hold">
                                          <p:stCondLst>
                                            <p:cond delay="0"/>
                                          </p:stCondLst>
                                        </p:cTn>
                                        <p:tgtEl>
                                          <p:spTgt spid="48"/>
                                        </p:tgtEl>
                                        <p:attrNameLst>
                                          <p:attrName>style.visibility</p:attrName>
                                        </p:attrNameLst>
                                      </p:cBhvr>
                                      <p:to>
                                        <p:strVal val="visible"/>
                                      </p:to>
                                    </p:set>
                                    <p:animEffect transition="in" filter="barn(inHorizontal)">
                                      <p:cBhvr>
                                        <p:cTn id="34" dur="500"/>
                                        <p:tgtEl>
                                          <p:spTgt spid="4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7"/>
                                        </p:tgtEl>
                                        <p:attrNameLst>
                                          <p:attrName>style.visibility</p:attrName>
                                        </p:attrNameLst>
                                      </p:cBhvr>
                                      <p:to>
                                        <p:strVal val="visible"/>
                                      </p:to>
                                    </p:set>
                                    <p:animEffect transition="in" filter="wipe(left)">
                                      <p:cBhvr>
                                        <p:cTn id="39" dur="500"/>
                                        <p:tgtEl>
                                          <p:spTgt spid="47"/>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6" fill="hold" grpId="0" nodeType="clickEffect">
                                  <p:stCondLst>
                                    <p:cond delay="0"/>
                                  </p:stCondLst>
                                  <p:childTnLst>
                                    <p:set>
                                      <p:cBhvr>
                                        <p:cTn id="43" dur="1" fill="hold">
                                          <p:stCondLst>
                                            <p:cond delay="0"/>
                                          </p:stCondLst>
                                        </p:cTn>
                                        <p:tgtEl>
                                          <p:spTgt spid="51"/>
                                        </p:tgtEl>
                                        <p:attrNameLst>
                                          <p:attrName>style.visibility</p:attrName>
                                        </p:attrNameLst>
                                      </p:cBhvr>
                                      <p:to>
                                        <p:strVal val="visible"/>
                                      </p:to>
                                    </p:set>
                                    <p:animEffect transition="in" filter="barn(inHorizontal)">
                                      <p:cBhvr>
                                        <p:cTn id="44" dur="500"/>
                                        <p:tgtEl>
                                          <p:spTgt spid="51"/>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50"/>
                                        </p:tgtEl>
                                        <p:attrNameLst>
                                          <p:attrName>style.visibility</p:attrName>
                                        </p:attrNameLst>
                                      </p:cBhvr>
                                      <p:to>
                                        <p:strVal val="visible"/>
                                      </p:to>
                                    </p:set>
                                    <p:animEffect transition="in" filter="wipe(left)">
                                      <p:cBhvr>
                                        <p:cTn id="48" dur="500"/>
                                        <p:tgtEl>
                                          <p:spTgt spid="50"/>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6" fill="hold" grpId="0" nodeType="click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barn(inHorizontal)">
                                      <p:cBhvr>
                                        <p:cTn id="53" dur="500"/>
                                        <p:tgtEl>
                                          <p:spTgt spid="40"/>
                                        </p:tgtEl>
                                      </p:cBhvr>
                                    </p:animEffect>
                                  </p:childTnLst>
                                </p:cTn>
                              </p:par>
                            </p:childTnLst>
                          </p:cTn>
                        </p:par>
                        <p:par>
                          <p:cTn id="54" fill="hold">
                            <p:stCondLst>
                              <p:cond delay="500"/>
                            </p:stCondLst>
                            <p:childTnLst>
                              <p:par>
                                <p:cTn id="55" presetID="22" presetClass="entr" presetSubtype="1" fill="hold" grpId="0" nodeType="after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up)">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0" grpId="0"/>
      <p:bldP spid="40" grpId="0" animBg="1"/>
      <p:bldP spid="41" grpId="0" animBg="1"/>
      <p:bldP spid="42" grpId="0"/>
      <p:bldP spid="44" grpId="0"/>
      <p:bldP spid="46" grpId="0" animBg="1"/>
      <p:bldP spid="47" grpId="0"/>
      <p:bldP spid="48" grpId="0" animBg="1"/>
      <p:bldP spid="49" grpId="0"/>
      <p:bldP spid="50" grpId="0"/>
      <p:bldP spid="51" grpId="0" animBg="1"/>
    </p:bldLst>
  </p:timing>
</p:sld>
</file>

<file path=ppt/tags/tag1.xml><?xml version="1.0" encoding="utf-8"?>
<p:tagLst xmlns:p="http://schemas.openxmlformats.org/presentationml/2006/main">
  <p:tag name="AS_OS" val="Unix 3.10 unknown"/>
  <p:tag name="AS_RELEASE_DATE" val="2023.03.31"/>
  <p:tag name="AS_TITLE" val="Aspose.Slides for Java"/>
  <p:tag name="AS_VERSION" val="23.3"/>
  <p:tag name="ISLIDE.GUIDESSETTING" val="{&quot;Id&quot;:null,&quot;Name&quot;:&quot;上课课件&quot;,&quot;HeaderHeight&quot;:14.0,&quot;FooterHeight&quot;:0.0,&quot;SideMargin&quot;:9.5,&quot;TopMargin&quot;:0.0,&quot;BottomMargin&quot;:0.0,&quot;IntervalMargin&quot;:0.0,&quot;SettingType&quot;:&quot;Custom&quot;}"/>
  <p:tag name="ISPRING_PRESENTATION_PATH" val="C:\Users\Administrator\Desktop\12 古诗二首.ppt"/>
  <p:tag name="ISPRING_PROJECT_FOLDER_UPDATED" val="1"/>
  <p:tag name="ISPRING_RESOURCE_FOLDER" val="C:\Users\Administrator\Desktop\12 古诗二首\"/>
  <p:tag name="ISPRING_SCREEN_RECS_UPDATED" val="C:\Users\Administrator\Desktop\12 古诗二首"/>
  <p:tag name="ISPRING_UUID" val="{FFC64191-23F7-48FB-A6D0-3DAA3F2008CB}"/>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eaLnBrk="1" hangingPunct="1">
          <a:lnSpc>
            <a:spcPct val="120000"/>
          </a:lnSpc>
          <a:defRPr sz="3200" b="1" dirty="0" smtClean="0">
            <a:latin typeface="楷体" panose="02010609060101010101" pitchFamily="49" charset="-122"/>
            <a:ea typeface="楷体" panose="02010609060101010101" pitchFamily="49"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8830</Words>
  <Application>WPS 演示</Application>
  <PresentationFormat>On-screen Show (16:9)</PresentationFormat>
  <Paragraphs>561</Paragraphs>
  <Slides>75</Slides>
  <Notes>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75</vt:i4>
      </vt:variant>
    </vt:vector>
  </HeadingPairs>
  <TitlesOfParts>
    <vt:vector size="86" baseType="lpstr">
      <vt:lpstr>Arial</vt:lpstr>
      <vt:lpstr>宋体</vt:lpstr>
      <vt:lpstr>Wingdings</vt:lpstr>
      <vt:lpstr>楷体</vt:lpstr>
      <vt:lpstr>Calibri</vt:lpstr>
      <vt:lpstr>黑体</vt:lpstr>
      <vt:lpstr>汉语拼音</vt:lpstr>
      <vt:lpstr>Segoe Print</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学科网</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rbm.xkw.com</dc:creator>
  <cp:lastModifiedBy>Administrator</cp:lastModifiedBy>
  <cp:revision>3</cp:revision>
  <cp:lastPrinted>2026-08-31T12:05:00Z</cp:lastPrinted>
  <dcterms:created xsi:type="dcterms:W3CDTF">2026-08-31T12:05:00Z</dcterms:created>
  <dcterms:modified xsi:type="dcterms:W3CDTF">2026-09-18T02:00:40Z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y fmtid="{D5CDD505-2E9C-101B-9397-08002B2CF9AE}" pid="6" name="KSOProductBuildVer">
    <vt:lpwstr>2052-12.1.0.28505</vt:lpwstr>
  </property>
  <property fmtid="{D5CDD505-2E9C-101B-9397-08002B2CF9AE}" pid="7" name="ICV">
    <vt:lpwstr>09B721823EFA49FC893C515066F91710_12</vt:lpwstr>
  </property>
</Properties>
</file>