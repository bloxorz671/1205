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d8c6aa334714f41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a1a8e10bf5c944ea" /><Relationship Type="http://schemas.openxmlformats.org/officeDocument/2006/relationships/custom-properties" Target="/docProps/custom.xml" Id="R491f2c6c7048484b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slide" Target="/ppt/slides/slide19.xml" Id="rId24" /><Relationship Type="http://schemas.openxmlformats.org/officeDocument/2006/relationships/slide" Target="/ppt/slides/slide20.xml" Id="rId25" /><Relationship Type="http://schemas.openxmlformats.org/officeDocument/2006/relationships/slide" Target="/ppt/slides/slide21.xml" Id="rId26" /><Relationship Type="http://schemas.openxmlformats.org/officeDocument/2006/relationships/slide" Target="/ppt/slides/slide22.xml" Id="rId27" /><Relationship Type="http://schemas.openxmlformats.org/officeDocument/2006/relationships/slide" Target="/ppt/slides/slide23.xml" Id="rId28" /><Relationship Type="http://schemas.openxmlformats.org/officeDocument/2006/relationships/slide" Target="/ppt/slides/slide24.xml" Id="rId29" /><Relationship Type="http://schemas.openxmlformats.org/officeDocument/2006/relationships/slide" Target="/ppt/slides/slide25.xml" Id="rId30" /><Relationship Type="http://schemas.openxmlformats.org/officeDocument/2006/relationships/slide" Target="/ppt/slides/slide26.xml" Id="rId31" /><Relationship Type="http://schemas.openxmlformats.org/officeDocument/2006/relationships/slide" Target="/ppt/slides/slide27.xml" Id="rId32" /><Relationship Type="http://schemas.openxmlformats.org/officeDocument/2006/relationships/slide" Target="/ppt/slides/slide28.xml" Id="rId33" /><Relationship Type="http://schemas.openxmlformats.org/officeDocument/2006/relationships/slide" Target="/ppt/slides/slide29.xml" Id="rId34" /><Relationship Type="http://schemas.openxmlformats.org/officeDocument/2006/relationships/slide" Target="/ppt/slides/slide30.xml" Id="rId35" /><Relationship Type="http://schemas.openxmlformats.org/officeDocument/2006/relationships/slide" Target="/ppt/slides/slide31.xml" Id="rId3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Relationship Type="http://schemas.openxmlformats.org/officeDocument/2006/relationships/slideLayout" Target="/ppt/slideLayouts/slideLayout15.xml" Id="rId16" /><Relationship Type="http://schemas.openxmlformats.org/officeDocument/2006/relationships/slideLayout" Target="/ppt/slideLayouts/slideLayout16.xml" Id="rId17" /><Relationship Type="http://schemas.openxmlformats.org/officeDocument/2006/relationships/slideLayout" Target="/ppt/slideLayouts/slideLayout17.xml" Id="rId18" /><Relationship Type="http://schemas.openxmlformats.org/officeDocument/2006/relationships/slideLayout" Target="/ppt/slideLayouts/slideLayout18.xml" Id="rId19" /><Relationship Type="http://schemas.openxmlformats.org/officeDocument/2006/relationships/slideLayout" Target="/ppt/slideLayouts/slideLayout19.xml" Id="rId20" /><Relationship Type="http://schemas.openxmlformats.org/officeDocument/2006/relationships/slideLayout" Target="/ppt/slideLayouts/slideLayout20.xml" Id="rId21" /><Relationship Type="http://schemas.openxmlformats.org/officeDocument/2006/relationships/slideLayout" Target="/ppt/slideLayouts/slideLayout21.xml" Id="rId22" /><Relationship Type="http://schemas.openxmlformats.org/officeDocument/2006/relationships/slideLayout" Target="/ppt/slideLayouts/slideLayout22.xml" Id="rId23" /><Relationship Type="http://schemas.openxmlformats.org/officeDocument/2006/relationships/slideLayout" Target="/ppt/slideLayouts/slideLayout23.xml" Id="rId24" /><Relationship Type="http://schemas.openxmlformats.org/officeDocument/2006/relationships/slideLayout" Target="/ppt/slideLayouts/slideLayout24.xml" Id="rId25" /><Relationship Type="http://schemas.openxmlformats.org/officeDocument/2006/relationships/slideLayout" Target="/ppt/slideLayouts/slideLayout25.xml" Id="rId26" /><Relationship Type="http://schemas.openxmlformats.org/officeDocument/2006/relationships/slideLayout" Target="/ppt/slideLayouts/slideLayout26.xml" Id="rId27" /><Relationship Type="http://schemas.openxmlformats.org/officeDocument/2006/relationships/slideLayout" Target="/ppt/slideLayouts/slideLayout27.xml" Id="rId28" /><Relationship Type="http://schemas.openxmlformats.org/officeDocument/2006/relationships/slideLayout" Target="/ppt/slideLayouts/slideLayout28.xml" Id="rId29" /><Relationship Type="http://schemas.openxmlformats.org/officeDocument/2006/relationships/slideLayout" Target="/ppt/slideLayouts/slideLayout29.xml" Id="rId30" /><Relationship Type="http://schemas.openxmlformats.org/officeDocument/2006/relationships/slideLayout" Target="/ppt/slideLayouts/slideLayout30.xml" Id="rId31" /><Relationship Type="http://schemas.openxmlformats.org/officeDocument/2006/relationships/slideLayout" Target="/ppt/slideLayouts/slideLayout31.xml" Id="rId32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.pn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2.png" Id="rId2" /><Relationship Type="http://schemas.openxmlformats.org/officeDocument/2006/relationships/image" Target="/ppt/media/image3.png" Id="rId3" /><Relationship Type="http://schemas.openxmlformats.org/officeDocument/2006/relationships/image" Target="/ppt/media/image4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5.png" Id="rId2" /><Relationship Type="http://schemas.openxmlformats.org/officeDocument/2006/relationships/image" Target="/ppt/media/image6.png" Id="rId3" /><Relationship Type="http://schemas.openxmlformats.org/officeDocument/2006/relationships/image" Target="/ppt/media/image7.pn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8.png" Id="rId2" /><Relationship Type="http://schemas.openxmlformats.org/officeDocument/2006/relationships/image" Target="/ppt/media/image9.pn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.jp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10.png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2.jpg" Id="rId2" /><Relationship Type="http://schemas.openxmlformats.org/officeDocument/2006/relationships/image" Target="/ppt/media/image11.pn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12.pn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13.pn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image" Target="/ppt/media/image14.png" Id="rI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Id1" /><Relationship Type="http://schemas.openxmlformats.org/officeDocument/2006/relationships/image" Target="/ppt/media/image15.png" Id="rI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Id1" /><Relationship Type="http://schemas.openxmlformats.org/officeDocument/2006/relationships/image" Target="/ppt/media/image16.png" Id="rId2" /><Relationship Type="http://schemas.openxmlformats.org/officeDocument/2006/relationships/image" Target="/ppt/media/image17.png" Id="rI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Id1" /><Relationship Type="http://schemas.openxmlformats.org/officeDocument/2006/relationships/image" Target="/ppt/media/image18.png" Id="rI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Id1" /><Relationship Type="http://schemas.openxmlformats.org/officeDocument/2006/relationships/image" Target="/ppt/media/image19.png" Id="rI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Id1" /><Relationship Type="http://schemas.openxmlformats.org/officeDocument/2006/relationships/image" Target="/ppt/media/image20.png" Id="rI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Id1" /><Relationship Type="http://schemas.openxmlformats.org/officeDocument/2006/relationships/image" Target="/ppt/media/image3.jpg" Id="rI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Id1" /><Relationship Type="http://schemas.openxmlformats.org/officeDocument/2006/relationships/image" Target="/ppt/media/image21.png" Id="rI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Id1" /><Relationship Type="http://schemas.openxmlformats.org/officeDocument/2006/relationships/image" Target="/ppt/media/image4.jpg" Id="rId2" /><Relationship Type="http://schemas.openxmlformats.org/officeDocument/2006/relationships/image" Target="/ppt/media/image22.png" Id="rId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I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Id1" /><Relationship Type="http://schemas.openxmlformats.org/officeDocument/2006/relationships/image" Target="/ppt/media/image23.png" Id="rI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I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I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Id1" /><Relationship Type="http://schemas.openxmlformats.org/officeDocument/2006/relationships/image" Target="/ppt/media/image24.png" Id="rId2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7480" y="-486"/>
            <a:ext cx="11996835" cy="657947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宋体"/>
                <a:ea typeface="宋体"/>
              </a:rPr>
              <a:t>【重点知识回顾】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1. 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古希腊文明与城邦：_______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是古希腊文明的源头;_____是古希腊的基本政治单位，突出特点是____，典型代表是_____</a:t>
            </a: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（奴隶制民主政治）和_______（寡头政治崇尚武力）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；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2. 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雅典民主政治：____________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使民主政治达到高峰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，________是最高权力机构，成年男性公民可以参政；但妇女、外邦人、奴隶被排除在外，是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“少数人的民主”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，</a:t>
            </a: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直接民主容易导致暴民政治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，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具有历史局限性；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3. </a:t>
            </a:r>
            <a:r>
              <a:rPr lang="zh-CN" altLang="en-US" sz="2000" b="1" i="0" u="sng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亚历山大东侵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：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亚历山大建立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地跨欧亚非三洲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的庞大帝国；</a:t>
            </a: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东征给东方各族人民带来_____，同时促进了______________；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4. 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古罗马：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罗马共和国时期，平民通过斗争设立保民官；罗马扩张过程中，将大量的被征服地区的人变为奴隶，奴隶处境悲惨，公元前73年，角斗士________发动奴隶起义，冲击了罗马奴隶主的统治。公元前27年_______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建立元首制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，罗马进入帝国时代，2世纪时帝国版图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横跨欧亚非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；</a:t>
            </a:r>
          </a:p>
          <a:p>
            <a:pPr marL="0" algn="l">
              <a:lnSpc>
                <a:spcPts val="34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5. 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方正粗黑宋简体"/>
                <a:ea typeface="方正粗黑宋简体"/>
              </a:rPr>
              <a:t>文明成就：</a:t>
            </a: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希腊——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哲学（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苏格拉底、柏拉图、亚里士多德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）、文学（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《荷马史诗》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）、史学（希罗多德的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《历史》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、修昔底德的名作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《伯罗奔尼撒战争史》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）、艺术（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《掷铁饼者》、神庙、雅典卫城建筑群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）、科学（欧几里得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《几何原本》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、阿基米德的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浮力定律、杠杆原理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</a:t>
            </a:r>
          </a:p>
          <a:p>
            <a:pPr marL="0" algn="l">
              <a:lnSpc>
                <a:spcPts val="3400"/>
              </a:lnSpc>
            </a:pP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罗马——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文学史学（维吉尔的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《埃涅阿斯纪》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、李维的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《罗马史》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）建筑（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万神殿、大竞技场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）、历法（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儒略历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）及拉丁语影响深远，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罗马法更是近代欧洲法律的基础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——古希腊罗马文化成为西方文明的源头。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647798" y="224771"/>
            <a:ext cx="1226312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爱琴文明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6048404" y="354520"/>
            <a:ext cx="708406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城邦</a:t>
            </a:r>
          </a:p>
        </p:txBody>
      </p:sp>
      <p:sp>
        <p:nvSpPr>
          <p:cNvPr id="5" name="文本4"/>
          <p:cNvSpPr txBox="1"/>
          <p:nvPr/>
        </p:nvSpPr>
        <p:spPr>
          <a:xfrm>
            <a:off x="10677735" y="181508"/>
            <a:ext cx="1744218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“小国寡民”</a:t>
            </a:r>
          </a:p>
        </p:txBody>
      </p:sp>
      <p:sp>
        <p:nvSpPr>
          <p:cNvPr id="6" name="文本5"/>
          <p:cNvSpPr txBox="1"/>
          <p:nvPr/>
        </p:nvSpPr>
        <p:spPr>
          <a:xfrm>
            <a:off x="1393126" y="706041"/>
            <a:ext cx="708406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雅典</a:t>
            </a:r>
          </a:p>
        </p:txBody>
      </p:sp>
      <p:sp>
        <p:nvSpPr>
          <p:cNvPr id="7" name="文本6"/>
          <p:cNvSpPr txBox="1"/>
          <p:nvPr/>
        </p:nvSpPr>
        <p:spPr>
          <a:xfrm>
            <a:off x="4786141" y="706326"/>
            <a:ext cx="967359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斯巴达</a:t>
            </a:r>
          </a:p>
        </p:txBody>
      </p:sp>
      <p:sp>
        <p:nvSpPr>
          <p:cNvPr id="8" name="文本7"/>
          <p:cNvSpPr txBox="1"/>
          <p:nvPr/>
        </p:nvSpPr>
        <p:spPr>
          <a:xfrm>
            <a:off x="2101110" y="1072763"/>
            <a:ext cx="1744218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伯里克利改革</a:t>
            </a:r>
          </a:p>
        </p:txBody>
      </p:sp>
      <p:sp>
        <p:nvSpPr>
          <p:cNvPr id="9" name="文本8"/>
          <p:cNvSpPr txBox="1"/>
          <p:nvPr/>
        </p:nvSpPr>
        <p:spPr>
          <a:xfrm>
            <a:off x="9970256" y="2220230"/>
            <a:ext cx="708406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灾难</a:t>
            </a:r>
          </a:p>
        </p:txBody>
      </p:sp>
      <p:sp>
        <p:nvSpPr>
          <p:cNvPr id="10" name="文本9"/>
          <p:cNvSpPr txBox="1"/>
          <p:nvPr/>
        </p:nvSpPr>
        <p:spPr>
          <a:xfrm>
            <a:off x="6282033" y="1073086"/>
            <a:ext cx="1226312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公民大会</a:t>
            </a:r>
          </a:p>
        </p:txBody>
      </p:sp>
      <p:sp>
        <p:nvSpPr>
          <p:cNvPr id="11" name="文本10"/>
          <p:cNvSpPr txBox="1"/>
          <p:nvPr/>
        </p:nvSpPr>
        <p:spPr>
          <a:xfrm>
            <a:off x="501863" y="2612993"/>
            <a:ext cx="3038983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东西方文化大交汇</a:t>
            </a:r>
          </a:p>
        </p:txBody>
      </p:sp>
      <p:sp>
        <p:nvSpPr>
          <p:cNvPr id="12" name="文本11"/>
          <p:cNvSpPr txBox="1"/>
          <p:nvPr/>
        </p:nvSpPr>
        <p:spPr>
          <a:xfrm>
            <a:off x="5154425" y="3215211"/>
            <a:ext cx="1744218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斯巴达克</a:t>
            </a:r>
          </a:p>
        </p:txBody>
      </p:sp>
      <p:sp>
        <p:nvSpPr>
          <p:cNvPr id="13" name="文本12"/>
          <p:cNvSpPr txBox="1"/>
          <p:nvPr/>
        </p:nvSpPr>
        <p:spPr>
          <a:xfrm>
            <a:off x="588397" y="3772481"/>
            <a:ext cx="967359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屋大维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830933" y="2764481"/>
            <a:ext cx="6193194" cy="214571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第7课 法兰克王国和西欧封建制度</a:t>
            </a:r>
          </a:p>
          <a:p>
            <a:pPr marL="0" algn="l">
              <a:lnSpc>
                <a:spcPts val="50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第8课 西欧的城市和大学</a:t>
            </a:r>
          </a:p>
          <a:p>
            <a:pPr marL="0" algn="l">
              <a:lnSpc>
                <a:spcPts val="50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第9课 拜占庭帝国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4042617" y="1740814"/>
            <a:ext cx="8079039" cy="959941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5300"/>
              </a:lnSpc>
            </a:pPr>
            <a:r>
              <a:rPr lang="zh-CN" altLang="en-US" sz="4399" b="1" i="0" dirty="0">
                <a:solidFill>
                  <a:srgbClr val="B0441D">
                    <a:alpha val="100000"/>
                  </a:srgbClr>
                </a:solidFill>
                <a:latin typeface="微软雅黑"/>
                <a:ea typeface="微软雅黑"/>
              </a:rPr>
              <a:t>第三单元  封建时代的欧洲</a:t>
            </a:r>
          </a:p>
        </p:txBody>
      </p:sp>
      <p:pic>
        <p:nvPicPr>
          <p:cNvPr id="4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3" t="0" r="0" b="0"/>
          <a:stretch>
            <a:fillRect/>
          </a:stretch>
        </p:blipFill>
        <p:spPr>
          <a:xfrm>
            <a:off x="0" y="0"/>
            <a:ext cx="4460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71361" y="268968"/>
            <a:ext cx="11615365" cy="4962876"/>
            <a:chOff x="0" y="0"/>
            <a:chExt cx="11615365" cy="4962876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11611555" cy="4825552"/>
            </a:xfrm>
            <a:prstGeom prst="rect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1"/>
            <p:cNvSpPr txBox="1"/>
            <p:nvPr/>
          </p:nvSpPr>
          <p:spPr>
            <a:xfrm>
              <a:off x="0" y="0"/>
              <a:ext cx="11611555" cy="496287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700"/>
                </a:lnSpc>
              </a:pPr>
              <a:r>
                <a:rPr lang="zh-CN" altLang="en-US" sz="2400" b="1" i="0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【单元导读】</a:t>
              </a:r>
            </a:p>
            <a:p>
              <a:pPr marL="0" algn="l">
                <a:lnSpc>
                  <a:spcPts val="3700"/>
                </a:lnSpc>
              </a:pP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    西罗马帝国灭亡后，</a:t>
              </a:r>
              <a:r>
                <a:rPr lang="zh-CN" altLang="en-US" sz="2400" b="1" i="0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西欧逐渐进入封建社会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，西欧人</a:t>
              </a:r>
              <a:r>
                <a:rPr lang="zh-CN" altLang="en-US" sz="2400" b="1" i="0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称之为“中世纪”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。在中世纪早期西欧日耳曼人建立的王国中，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法兰克王国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最为强大，在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查理统治时期达到鼎盛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，成为一个大帝国。</a:t>
              </a:r>
              <a:r>
                <a:rPr lang="zh-CN" altLang="en-US" sz="2400" b="1" i="0" u="sng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封君封臣制度、庄园和农奴制度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是西欧封建社会的基本特征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。封君与封臣以</a:t>
              </a:r>
              <a:r>
                <a:rPr lang="zh-CN" altLang="en-US" sz="2400" b="1" i="0" u="sng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土地封赐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为纽带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，有着严格的等级性。</a:t>
              </a:r>
              <a:r>
                <a:rPr lang="zh-CN" altLang="en-US" sz="2400" b="1" i="0" u="sng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自给自足的庄园经济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盛行一时，农奴是庄园中的主要劳动者，被束缚在土地上为领主提供繁重的劳役。10世纪，西欧城市复兴。这些城市通过</a:t>
              </a:r>
              <a:r>
                <a:rPr lang="zh-CN" altLang="en-US" sz="2400" b="1" i="0" u="sng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金钱赎买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和</a:t>
              </a:r>
              <a:r>
                <a:rPr lang="zh-CN" altLang="en-US" sz="2400" b="1" i="0" u="sng" dirty="0">
                  <a:solidFill>
                    <a:srgbClr val="3333FF">
                      <a:alpha val="100000"/>
                    </a:srgbClr>
                  </a:solidFill>
                  <a:latin typeface="宋体"/>
                  <a:ea typeface="宋体"/>
                </a:rPr>
                <a:t>武力反抗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等方式争取自治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。随着经济发展和城市复兴，尤其是西欧与东方文化联系不断加强，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大学兴起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。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拜占庭帝国即东罗马帝国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，是罗马帝国的延续。6世纪，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查士丁尼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统治时期，帝国进入“黄金时代”。拜占庭帝国延续1000余年，</a:t>
              </a:r>
              <a:r>
                <a:rPr lang="zh-CN" altLang="en-US" sz="2400" b="1" i="0" u="sng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是东西方贸易和文化交流的“金桥”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1"/>
          <p:cNvSpPr txBox="1"/>
          <p:nvPr/>
        </p:nvSpPr>
        <p:spPr>
          <a:xfrm>
            <a:off x="-3810" y="-16510"/>
            <a:ext cx="5189855" cy="71247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effectLst>
                  <a:outerShdw blurRad="101600" dist="38100" dir="2700000" rotWithShape="0">
                    <a:srgbClr val="000000">
                      <a:alpha val="20000"/>
                    </a:srgbClr>
                  </a:outerShdw>
                </a:effectLst>
                <a:latin typeface="方正大标宋简体"/>
                <a:ea typeface="方正大标宋简体"/>
              </a:rPr>
              <a:t>第三单元  封建时代的欧洲</a:t>
            </a:r>
          </a:p>
        </p:txBody>
      </p:sp>
      <p:sp>
        <p:nvSpPr>
          <p:cNvPr id="5" name="形状1"/>
          <p:cNvSpPr txBox="1"/>
          <p:nvPr/>
        </p:nvSpPr>
        <p:spPr>
          <a:xfrm flipH="1">
            <a:off x="3204528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2"/>
          <p:cNvSpPr txBox="1"/>
          <p:nvPr/>
        </p:nvSpPr>
        <p:spPr>
          <a:xfrm flipH="1">
            <a:off x="4510088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3"/>
          <p:cNvSpPr txBox="1"/>
          <p:nvPr/>
        </p:nvSpPr>
        <p:spPr>
          <a:xfrm flipH="1">
            <a:off x="1020128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4"/>
          <p:cNvSpPr txBox="1"/>
          <p:nvPr/>
        </p:nvSpPr>
        <p:spPr>
          <a:xfrm flipH="1">
            <a:off x="2034540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2"/>
          <p:cNvSpPr txBox="1"/>
          <p:nvPr/>
        </p:nvSpPr>
        <p:spPr>
          <a:xfrm>
            <a:off x="1498283" y="4455478"/>
            <a:ext cx="125539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4世纪末</a:t>
            </a:r>
          </a:p>
        </p:txBody>
      </p:sp>
      <p:sp>
        <p:nvSpPr>
          <p:cNvPr id="10" name="文本3"/>
          <p:cNvSpPr txBox="1"/>
          <p:nvPr/>
        </p:nvSpPr>
        <p:spPr>
          <a:xfrm>
            <a:off x="2747645" y="4455478"/>
            <a:ext cx="106743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481年</a:t>
            </a:r>
          </a:p>
        </p:txBody>
      </p:sp>
      <p:sp>
        <p:nvSpPr>
          <p:cNvPr id="11" name="文本4"/>
          <p:cNvSpPr txBox="1"/>
          <p:nvPr/>
        </p:nvSpPr>
        <p:spPr>
          <a:xfrm>
            <a:off x="4111625" y="4455478"/>
            <a:ext cx="96075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529年</a:t>
            </a:r>
          </a:p>
        </p:txBody>
      </p:sp>
      <p:sp>
        <p:nvSpPr>
          <p:cNvPr id="12" name="文本5"/>
          <p:cNvSpPr txBox="1"/>
          <p:nvPr/>
        </p:nvSpPr>
        <p:spPr>
          <a:xfrm>
            <a:off x="10123170" y="4455478"/>
            <a:ext cx="117284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1453年</a:t>
            </a:r>
          </a:p>
        </p:txBody>
      </p:sp>
      <p:sp>
        <p:nvSpPr>
          <p:cNvPr id="13" name="形状5"/>
          <p:cNvSpPr txBox="1"/>
          <p:nvPr/>
        </p:nvSpPr>
        <p:spPr>
          <a:xfrm flipH="1">
            <a:off x="8131175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形状6"/>
          <p:cNvSpPr txBox="1"/>
          <p:nvPr/>
        </p:nvSpPr>
        <p:spPr>
          <a:xfrm flipH="1">
            <a:off x="10637520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形状7"/>
          <p:cNvSpPr txBox="1"/>
          <p:nvPr/>
        </p:nvSpPr>
        <p:spPr>
          <a:xfrm flipH="1">
            <a:off x="9251950" y="4318000"/>
            <a:ext cx="38100" cy="180975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6" name="文本6"/>
          <p:cNvSpPr txBox="1"/>
          <p:nvPr/>
        </p:nvSpPr>
        <p:spPr>
          <a:xfrm>
            <a:off x="7676515" y="4455478"/>
            <a:ext cx="106489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10世纪</a:t>
            </a:r>
          </a:p>
        </p:txBody>
      </p:sp>
      <p:sp>
        <p:nvSpPr>
          <p:cNvPr id="17" name="文本7"/>
          <p:cNvSpPr txBox="1"/>
          <p:nvPr/>
        </p:nvSpPr>
        <p:spPr>
          <a:xfrm>
            <a:off x="6587490" y="4455478"/>
            <a:ext cx="101917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843年</a:t>
            </a:r>
          </a:p>
        </p:txBody>
      </p:sp>
      <p:sp>
        <p:nvSpPr>
          <p:cNvPr id="18" name="文本8"/>
          <p:cNvSpPr txBox="1"/>
          <p:nvPr/>
        </p:nvSpPr>
        <p:spPr>
          <a:xfrm>
            <a:off x="516255" y="3593465"/>
            <a:ext cx="1190625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基督教产生</a:t>
            </a:r>
          </a:p>
        </p:txBody>
      </p:sp>
      <p:sp>
        <p:nvSpPr>
          <p:cNvPr id="19" name="文本9"/>
          <p:cNvSpPr txBox="1"/>
          <p:nvPr/>
        </p:nvSpPr>
        <p:spPr>
          <a:xfrm>
            <a:off x="1454150" y="3593465"/>
            <a:ext cx="134366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拜占庭帝国建立</a:t>
            </a:r>
          </a:p>
        </p:txBody>
      </p:sp>
      <p:sp>
        <p:nvSpPr>
          <p:cNvPr id="20" name="文本10"/>
          <p:cNvSpPr txBox="1"/>
          <p:nvPr/>
        </p:nvSpPr>
        <p:spPr>
          <a:xfrm>
            <a:off x="2634615" y="3593465"/>
            <a:ext cx="137795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法兰克王国建立</a:t>
            </a:r>
          </a:p>
        </p:txBody>
      </p:sp>
      <p:sp>
        <p:nvSpPr>
          <p:cNvPr id="21" name="文本11"/>
          <p:cNvSpPr txBox="1"/>
          <p:nvPr/>
        </p:nvSpPr>
        <p:spPr>
          <a:xfrm>
            <a:off x="3786505" y="3593465"/>
            <a:ext cx="161163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编成《查士丁尼》法典</a:t>
            </a:r>
          </a:p>
        </p:txBody>
      </p:sp>
      <p:sp>
        <p:nvSpPr>
          <p:cNvPr id="22" name="文本12"/>
          <p:cNvSpPr txBox="1"/>
          <p:nvPr/>
        </p:nvSpPr>
        <p:spPr>
          <a:xfrm>
            <a:off x="6454140" y="3593465"/>
            <a:ext cx="130810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查理曼帝国分裂</a:t>
            </a:r>
          </a:p>
        </p:txBody>
      </p:sp>
      <p:sp>
        <p:nvSpPr>
          <p:cNvPr id="23" name="文本13"/>
          <p:cNvSpPr txBox="1"/>
          <p:nvPr/>
        </p:nvSpPr>
        <p:spPr>
          <a:xfrm>
            <a:off x="7571740" y="3593465"/>
            <a:ext cx="130810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西欧城市兴起</a:t>
            </a:r>
          </a:p>
        </p:txBody>
      </p:sp>
      <p:sp>
        <p:nvSpPr>
          <p:cNvPr id="24" name="文本14"/>
          <p:cNvSpPr txBox="1"/>
          <p:nvPr/>
        </p:nvSpPr>
        <p:spPr>
          <a:xfrm>
            <a:off x="8689340" y="3870325"/>
            <a:ext cx="1308100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大学兴起</a:t>
            </a:r>
          </a:p>
        </p:txBody>
      </p:sp>
      <p:sp>
        <p:nvSpPr>
          <p:cNvPr id="25" name="文本15"/>
          <p:cNvSpPr txBox="1"/>
          <p:nvPr/>
        </p:nvSpPr>
        <p:spPr>
          <a:xfrm>
            <a:off x="10049510" y="3593465"/>
            <a:ext cx="130810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拜占庭帝国灭亡</a:t>
            </a:r>
          </a:p>
        </p:txBody>
      </p:sp>
      <p:sp>
        <p:nvSpPr>
          <p:cNvPr id="26" name="形状8"/>
          <p:cNvSpPr txBox="1"/>
          <p:nvPr/>
        </p:nvSpPr>
        <p:spPr>
          <a:xfrm>
            <a:off x="1339225" y="5637905"/>
            <a:ext cx="10368280" cy="19050"/>
          </a:xfrm>
          <a:prstGeom prst="straightConnector1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dash"/>
            <a:tailEnd type="arrow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7" name="形状9"/>
          <p:cNvSpPr txBox="1"/>
          <p:nvPr/>
        </p:nvSpPr>
        <p:spPr>
          <a:xfrm flipH="1">
            <a:off x="4968973" y="5617416"/>
            <a:ext cx="38100" cy="179388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28" name="组合1"/>
          <p:cNvGrpSpPr/>
          <p:nvPr/>
        </p:nvGrpSpPr>
        <p:grpSpPr>
          <a:xfrm>
            <a:off x="289560" y="5737860"/>
            <a:ext cx="965835" cy="786130"/>
            <a:chOff x="0" y="0"/>
            <a:chExt cx="965835" cy="786130"/>
          </a:xfrm>
        </p:grpSpPr>
        <p:sp>
          <p:nvSpPr>
            <p:cNvPr id="29" name="形状15"/>
            <p:cNvSpPr txBox="1"/>
            <p:nvPr/>
          </p:nvSpPr>
          <p:spPr>
            <a:xfrm>
              <a:off x="0" y="0"/>
              <a:ext cx="965835" cy="786130"/>
            </a:xfrm>
            <a:prstGeom prst="ellipse"/>
            <a:solidFill>
              <a:srgbClr val="FFFFFF">
                <a:alpha val="0"/>
              </a:srgbClr>
            </a:solidFill>
            <a:ln w="12700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0" name="文本26"/>
            <p:cNvSpPr txBox="1"/>
            <p:nvPr/>
          </p:nvSpPr>
          <p:spPr>
            <a:xfrm>
              <a:off x="137633" y="65596"/>
              <a:ext cx="682948" cy="55587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1900"/>
                </a:lnSpc>
              </a:pPr>
              <a:r>
                <a:rPr lang="zh-CN" altLang="en-US" sz="16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中国</a:t>
              </a:r>
            </a:p>
          </p:txBody>
        </p:sp>
      </p:grpSp>
      <p:sp>
        <p:nvSpPr>
          <p:cNvPr id="31" name="文本16"/>
          <p:cNvSpPr txBox="1"/>
          <p:nvPr/>
        </p:nvSpPr>
        <p:spPr>
          <a:xfrm>
            <a:off x="4435002" y="5851874"/>
            <a:ext cx="1068070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581年</a:t>
            </a:r>
          </a:p>
        </p:txBody>
      </p:sp>
      <p:sp>
        <p:nvSpPr>
          <p:cNvPr id="32" name="形状10"/>
          <p:cNvSpPr txBox="1"/>
          <p:nvPr/>
        </p:nvSpPr>
        <p:spPr>
          <a:xfrm flipH="1">
            <a:off x="9539154" y="5617845"/>
            <a:ext cx="38100" cy="179388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3" name="文本17"/>
          <p:cNvSpPr txBox="1"/>
          <p:nvPr/>
        </p:nvSpPr>
        <p:spPr>
          <a:xfrm>
            <a:off x="8967016" y="5737774"/>
            <a:ext cx="114490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1279年</a:t>
            </a:r>
          </a:p>
        </p:txBody>
      </p:sp>
      <p:sp>
        <p:nvSpPr>
          <p:cNvPr id="34" name="形状11"/>
          <p:cNvSpPr txBox="1"/>
          <p:nvPr/>
        </p:nvSpPr>
        <p:spPr>
          <a:xfrm flipH="1">
            <a:off x="5925245" y="5687025"/>
            <a:ext cx="38100" cy="179388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5" name="文本18"/>
          <p:cNvSpPr txBox="1"/>
          <p:nvPr/>
        </p:nvSpPr>
        <p:spPr>
          <a:xfrm>
            <a:off x="5502526" y="5796839"/>
            <a:ext cx="103441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618年</a:t>
            </a:r>
          </a:p>
        </p:txBody>
      </p:sp>
      <p:sp>
        <p:nvSpPr>
          <p:cNvPr id="36" name="文本19"/>
          <p:cNvSpPr txBox="1"/>
          <p:nvPr/>
        </p:nvSpPr>
        <p:spPr>
          <a:xfrm>
            <a:off x="4529261" y="4961858"/>
            <a:ext cx="1035685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隋朝建立</a:t>
            </a:r>
          </a:p>
        </p:txBody>
      </p:sp>
      <p:sp>
        <p:nvSpPr>
          <p:cNvPr id="37" name="文本20"/>
          <p:cNvSpPr txBox="1"/>
          <p:nvPr/>
        </p:nvSpPr>
        <p:spPr>
          <a:xfrm>
            <a:off x="5564876" y="4961858"/>
            <a:ext cx="1007745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唐朝建立</a:t>
            </a:r>
          </a:p>
        </p:txBody>
      </p:sp>
      <p:sp>
        <p:nvSpPr>
          <p:cNvPr id="38" name="形状12"/>
          <p:cNvSpPr txBox="1"/>
          <p:nvPr/>
        </p:nvSpPr>
        <p:spPr>
          <a:xfrm flipH="1">
            <a:off x="8131178" y="5687263"/>
            <a:ext cx="38100" cy="179388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9" name="文本21"/>
          <p:cNvSpPr txBox="1"/>
          <p:nvPr/>
        </p:nvSpPr>
        <p:spPr>
          <a:xfrm>
            <a:off x="7540257" y="5797115"/>
            <a:ext cx="99631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960年</a:t>
            </a:r>
          </a:p>
        </p:txBody>
      </p:sp>
      <p:sp>
        <p:nvSpPr>
          <p:cNvPr id="40" name="文本22"/>
          <p:cNvSpPr txBox="1"/>
          <p:nvPr/>
        </p:nvSpPr>
        <p:spPr>
          <a:xfrm>
            <a:off x="7572918" y="4914700"/>
            <a:ext cx="931545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北宋</a:t>
            </a:r>
          </a:p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建立</a:t>
            </a:r>
          </a:p>
        </p:txBody>
      </p:sp>
      <p:sp>
        <p:nvSpPr>
          <p:cNvPr id="41" name="文本23"/>
          <p:cNvSpPr txBox="1"/>
          <p:nvPr/>
        </p:nvSpPr>
        <p:spPr>
          <a:xfrm>
            <a:off x="8955481" y="4914424"/>
            <a:ext cx="1167765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元朝统一全国</a:t>
            </a:r>
          </a:p>
        </p:txBody>
      </p:sp>
      <p:sp>
        <p:nvSpPr>
          <p:cNvPr id="42" name="文本24"/>
          <p:cNvSpPr txBox="1"/>
          <p:nvPr/>
        </p:nvSpPr>
        <p:spPr>
          <a:xfrm>
            <a:off x="10053714" y="5796791"/>
            <a:ext cx="1167765" cy="55880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1368年</a:t>
            </a:r>
          </a:p>
        </p:txBody>
      </p:sp>
      <p:sp>
        <p:nvSpPr>
          <p:cNvPr id="43" name="文本25"/>
          <p:cNvSpPr txBox="1"/>
          <p:nvPr/>
        </p:nvSpPr>
        <p:spPr>
          <a:xfrm>
            <a:off x="10050380" y="4914462"/>
            <a:ext cx="99060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明朝</a:t>
            </a:r>
          </a:p>
          <a:p>
            <a:pPr marL="0" algn="ctr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建立</a:t>
            </a:r>
          </a:p>
        </p:txBody>
      </p:sp>
      <p:sp>
        <p:nvSpPr>
          <p:cNvPr id="44" name="形状13"/>
          <p:cNvSpPr txBox="1"/>
          <p:nvPr/>
        </p:nvSpPr>
        <p:spPr>
          <a:xfrm flipH="1">
            <a:off x="10545413" y="5687177"/>
            <a:ext cx="38100" cy="179388"/>
          </a:xfrm>
          <a:prstGeom prst="line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5" name="形状14"/>
          <p:cNvSpPr txBox="1"/>
          <p:nvPr/>
        </p:nvSpPr>
        <p:spPr>
          <a:xfrm>
            <a:off x="516560" y="4546416"/>
            <a:ext cx="11649075" cy="2540"/>
          </a:xfrm>
          <a:prstGeom prst="straightConnector1"/>
          <a:solidFill>
            <a:srgbClr val="FFFFFF">
              <a:alpha val="0"/>
            </a:srgbClr>
          </a:solidFill>
          <a:ln w="38100">
            <a:solidFill>
              <a:srgbClr val="000000">
                <a:alpha val="100000"/>
              </a:srgbClr>
            </a:solidFill>
            <a:prstDash val="solid"/>
            <a:tailEnd type="arrow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46" name="组合2"/>
          <p:cNvGrpSpPr/>
          <p:nvPr/>
        </p:nvGrpSpPr>
        <p:grpSpPr>
          <a:xfrm>
            <a:off x="237741" y="387350"/>
            <a:ext cx="3442335" cy="774065"/>
            <a:chOff x="0" y="0"/>
            <a:chExt cx="3442335" cy="774065"/>
          </a:xfrm>
        </p:grpSpPr>
        <p:sp>
          <p:nvSpPr>
            <p:cNvPr id="47" name="形状16"/>
            <p:cNvSpPr txBox="1"/>
            <p:nvPr/>
          </p:nvSpPr>
          <p:spPr>
            <a:xfrm>
              <a:off x="78740" y="587375"/>
              <a:ext cx="3020060" cy="11430"/>
            </a:xfrm>
            <a:prstGeom prst="line"/>
            <a:solidFill>
              <a:srgbClr val="FFFFFF">
                <a:alpha val="0"/>
              </a:srgbClr>
            </a:solidFill>
            <a:ln w="11430">
              <a:solidFill>
                <a:srgbClr val="019542">
                  <a:alpha val="83921"/>
                </a:srgbClr>
              </a:solidFill>
              <a:prstDash val="solid"/>
            </a:ln>
            <a:effectLst>
              <a:outerShdw blurRad="114300" dist="0" dir="0" rotWithShape="0">
                <a:srgbClr val="000000">
                  <a:alpha val="10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pic>
          <p:nvPicPr>
            <p:cNvPr id="48" name="图片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0" t="0" r="84615" b="0"/>
            <a:stretch>
              <a:fillRect/>
            </a:stretch>
          </p:blipFill>
          <p:spPr>
            <a:xfrm>
              <a:off x="0" y="110490"/>
              <a:ext cx="504190" cy="491490"/>
            </a:xfrm>
            <a:prstGeom prst="rect">
              <a:avLst/>
            </a:prstGeom>
          </p:spPr>
        </p:pic>
        <p:sp>
          <p:nvSpPr>
            <p:cNvPr id="49" name="文本27"/>
            <p:cNvSpPr txBox="1"/>
            <p:nvPr/>
          </p:nvSpPr>
          <p:spPr>
            <a:xfrm>
              <a:off x="470535" y="0"/>
              <a:ext cx="2971800" cy="77406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单元时序坐标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1"/>
          <p:cNvSpPr txBox="1"/>
          <p:nvPr/>
        </p:nvSpPr>
        <p:spPr>
          <a:xfrm>
            <a:off x="-3810" y="-16510"/>
            <a:ext cx="5189855" cy="71247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effectLst>
                  <a:outerShdw blurRad="101600" dist="38100" dir="2700000" rotWithShape="0">
                    <a:srgbClr val="000000">
                      <a:alpha val="20000"/>
                    </a:srgbClr>
                  </a:outerShdw>
                </a:effectLst>
                <a:latin typeface="方正大标宋简体"/>
                <a:ea typeface="方正大标宋简体"/>
              </a:rPr>
              <a:t>第三单元  封建时代的欧洲</a:t>
            </a:r>
          </a:p>
        </p:txBody>
      </p:sp>
      <p:grpSp>
        <p:nvGrpSpPr>
          <p:cNvPr id="5" name="组合1"/>
          <p:cNvGrpSpPr/>
          <p:nvPr/>
        </p:nvGrpSpPr>
        <p:grpSpPr>
          <a:xfrm>
            <a:off x="11315700" y="5993130"/>
            <a:ext cx="904875" cy="835660"/>
            <a:chOff x="0" y="0"/>
            <a:chExt cx="904875" cy="835660"/>
          </a:xfrm>
        </p:grpSpPr>
        <p:sp>
          <p:nvSpPr>
            <p:cNvPr id="6" name="形状8"/>
            <p:cNvSpPr txBox="1"/>
            <p:nvPr/>
          </p:nvSpPr>
          <p:spPr>
            <a:xfrm>
              <a:off x="0" y="22225"/>
              <a:ext cx="742950" cy="737870"/>
            </a:xfrm>
            <a:prstGeom prst="flowChartMagneticTape"/>
            <a:solidFill>
              <a:srgbClr val="00B0F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文本6"/>
            <p:cNvSpPr txBox="1"/>
            <p:nvPr/>
          </p:nvSpPr>
          <p:spPr>
            <a:xfrm>
              <a:off x="13970" y="0"/>
              <a:ext cx="890905" cy="83566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100"/>
                </a:lnSpc>
              </a:pPr>
              <a:r>
                <a:rPr lang="zh-CN" altLang="en-US" sz="1800" b="1" i="0" dirty="0">
                  <a:solidFill>
                    <a:srgbClr val="FFFFFF">
                      <a:alpha val="100000"/>
                    </a:srgbClr>
                  </a:solidFill>
                  <a:latin typeface="黑体"/>
                  <a:ea typeface="黑体"/>
                </a:rPr>
                <a:t>返回目录</a:t>
              </a:r>
            </a:p>
          </p:txBody>
        </p:sp>
      </p:grpSp>
      <p:grpSp>
        <p:nvGrpSpPr>
          <p:cNvPr id="8" name="组合2"/>
          <p:cNvGrpSpPr/>
          <p:nvPr/>
        </p:nvGrpSpPr>
        <p:grpSpPr>
          <a:xfrm>
            <a:off x="288925" y="3996055"/>
            <a:ext cx="1298216" cy="1963998"/>
            <a:chOff x="0" y="0"/>
            <a:chExt cx="1298216" cy="1963998"/>
          </a:xfrm>
        </p:grpSpPr>
        <p:sp>
          <p:nvSpPr>
            <p:cNvPr id="9" name="形状9"/>
            <p:cNvSpPr txBox="1"/>
            <p:nvPr/>
          </p:nvSpPr>
          <p:spPr>
            <a:xfrm>
              <a:off x="0" y="0"/>
              <a:ext cx="1241425" cy="1541697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7"/>
            <p:cNvSpPr txBox="1"/>
            <p:nvPr/>
          </p:nvSpPr>
          <p:spPr>
            <a:xfrm>
              <a:off x="56791" y="11071"/>
              <a:ext cx="1241425" cy="195292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4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大概念：</a:t>
              </a:r>
              <a:r>
                <a:rPr lang="zh-CN" altLang="en-US" sz="2400" b="1" i="0" dirty="0">
                  <a:solidFill>
                    <a:srgbClr val="00B0F0">
                      <a:alpha val="100000"/>
                    </a:srgbClr>
                  </a:solidFill>
                  <a:latin typeface="黑体"/>
                  <a:ea typeface="黑体"/>
                </a:rPr>
                <a:t>社会</a:t>
              </a:r>
            </a:p>
            <a:p>
              <a:pPr marL="0" algn="ctr">
                <a:lnSpc>
                  <a:spcPts val="3400"/>
                </a:lnSpc>
              </a:pPr>
              <a:r>
                <a:rPr lang="zh-CN" altLang="en-US" sz="2400" b="1" i="0" dirty="0">
                  <a:solidFill>
                    <a:srgbClr val="00B0F0">
                      <a:alpha val="100000"/>
                    </a:srgbClr>
                  </a:solidFill>
                  <a:latin typeface="黑体"/>
                  <a:ea typeface="黑体"/>
                </a:rPr>
                <a:t>变革</a:t>
              </a:r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531111" y="560070"/>
            <a:ext cx="3442335" cy="774065"/>
            <a:chOff x="0" y="0"/>
            <a:chExt cx="3442335" cy="774065"/>
          </a:xfrm>
        </p:grpSpPr>
        <p:sp>
          <p:nvSpPr>
            <p:cNvPr id="12" name="形状10"/>
            <p:cNvSpPr txBox="1"/>
            <p:nvPr/>
          </p:nvSpPr>
          <p:spPr>
            <a:xfrm>
              <a:off x="78740" y="603885"/>
              <a:ext cx="2547620" cy="11430"/>
            </a:xfrm>
            <a:prstGeom prst="line"/>
            <a:solidFill>
              <a:srgbClr val="FFFFFF">
                <a:alpha val="0"/>
              </a:srgbClr>
            </a:solidFill>
            <a:ln w="11430">
              <a:solidFill>
                <a:srgbClr val="019542">
                  <a:alpha val="83921"/>
                </a:srgbClr>
              </a:solidFill>
              <a:prstDash val="solid"/>
            </a:ln>
            <a:effectLst>
              <a:outerShdw blurRad="114300" dist="0" dir="0" rotWithShape="0">
                <a:srgbClr val="000000">
                  <a:alpha val="10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pic>
          <p:nvPicPr>
            <p:cNvPr id="13" name="图片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0" t="0" r="84615" b="0"/>
            <a:stretch>
              <a:fillRect/>
            </a:stretch>
          </p:blipFill>
          <p:spPr>
            <a:xfrm>
              <a:off x="0" y="127000"/>
              <a:ext cx="504190" cy="491490"/>
            </a:xfrm>
            <a:prstGeom prst="rect">
              <a:avLst/>
            </a:prstGeom>
          </p:spPr>
        </p:pic>
        <p:sp>
          <p:nvSpPr>
            <p:cNvPr id="14" name="文本8"/>
            <p:cNvSpPr txBox="1"/>
            <p:nvPr/>
          </p:nvSpPr>
          <p:spPr>
            <a:xfrm>
              <a:off x="470535" y="0"/>
              <a:ext cx="2971800" cy="77406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大单元建构</a:t>
              </a:r>
            </a:p>
          </p:txBody>
        </p:sp>
      </p:grpSp>
      <p:sp>
        <p:nvSpPr>
          <p:cNvPr id="15" name="形状1"/>
          <p:cNvSpPr txBox="1"/>
          <p:nvPr/>
        </p:nvSpPr>
        <p:spPr>
          <a:xfrm>
            <a:off x="1646555" y="3246755"/>
            <a:ext cx="234950" cy="3033395"/>
          </a:xfrm>
          <a:prstGeom prst="leftBrace"/>
          <a:solidFill>
            <a:srgbClr val="FFFFFF">
              <a:alpha val="0"/>
            </a:srgbClr>
          </a:solidFill>
          <a:ln w="25400">
            <a:solidFill>
              <a:srgbClr val="00B0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16" name="组合4"/>
          <p:cNvGrpSpPr/>
          <p:nvPr/>
        </p:nvGrpSpPr>
        <p:grpSpPr>
          <a:xfrm>
            <a:off x="5146675" y="472888"/>
            <a:ext cx="6597463" cy="925190"/>
            <a:chOff x="0" y="0"/>
            <a:chExt cx="6597463" cy="925190"/>
          </a:xfrm>
        </p:grpSpPr>
        <p:sp>
          <p:nvSpPr>
            <p:cNvPr id="17" name="形状11"/>
            <p:cNvSpPr txBox="1"/>
            <p:nvPr/>
          </p:nvSpPr>
          <p:spPr>
            <a:xfrm>
              <a:off x="0" y="4632"/>
              <a:ext cx="6556375" cy="919739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文本9"/>
            <p:cNvSpPr txBox="1"/>
            <p:nvPr/>
          </p:nvSpPr>
          <p:spPr>
            <a:xfrm>
              <a:off x="41088" y="0"/>
              <a:ext cx="6556375" cy="92519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政治：</a:t>
              </a: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封君封臣制度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（严格的等级性；权利、义务交织在一起；有一定的</a:t>
              </a: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契约意义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）</a:t>
              </a:r>
            </a:p>
          </p:txBody>
        </p:sp>
      </p:grpSp>
      <p:sp>
        <p:nvSpPr>
          <p:cNvPr id="19" name="形状2"/>
          <p:cNvSpPr txBox="1"/>
          <p:nvPr/>
        </p:nvSpPr>
        <p:spPr>
          <a:xfrm>
            <a:off x="4911725" y="934085"/>
            <a:ext cx="234950" cy="2484755"/>
          </a:xfrm>
          <a:prstGeom prst="leftBrace"/>
          <a:solidFill>
            <a:srgbClr val="FFFFFF">
              <a:alpha val="0"/>
            </a:srgbClr>
          </a:solidFill>
          <a:ln w="25400">
            <a:solidFill>
              <a:srgbClr val="00B0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20" name="组合5"/>
          <p:cNvGrpSpPr/>
          <p:nvPr/>
        </p:nvGrpSpPr>
        <p:grpSpPr>
          <a:xfrm>
            <a:off x="3519805" y="1347767"/>
            <a:ext cx="998517" cy="1664632"/>
            <a:chOff x="0" y="0"/>
            <a:chExt cx="998517" cy="1664632"/>
          </a:xfrm>
        </p:grpSpPr>
        <p:sp>
          <p:nvSpPr>
            <p:cNvPr id="21" name="形状12"/>
            <p:cNvSpPr txBox="1"/>
            <p:nvPr/>
          </p:nvSpPr>
          <p:spPr>
            <a:xfrm>
              <a:off x="0" y="2878"/>
              <a:ext cx="955675" cy="1661754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文本10"/>
            <p:cNvSpPr txBox="1"/>
            <p:nvPr/>
          </p:nvSpPr>
          <p:spPr>
            <a:xfrm>
              <a:off x="42842" y="0"/>
              <a:ext cx="955675" cy="165988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西欧进入封建社会</a:t>
              </a:r>
            </a:p>
          </p:txBody>
        </p:sp>
      </p:grpSp>
      <p:grpSp>
        <p:nvGrpSpPr>
          <p:cNvPr id="23" name="组合6"/>
          <p:cNvGrpSpPr/>
          <p:nvPr/>
        </p:nvGrpSpPr>
        <p:grpSpPr>
          <a:xfrm>
            <a:off x="1871980" y="5021720"/>
            <a:ext cx="1297445" cy="557845"/>
            <a:chOff x="0" y="0"/>
            <a:chExt cx="1297445" cy="557845"/>
          </a:xfrm>
        </p:grpSpPr>
        <p:sp>
          <p:nvSpPr>
            <p:cNvPr id="24" name="形状13"/>
            <p:cNvSpPr txBox="1"/>
            <p:nvPr/>
          </p:nvSpPr>
          <p:spPr>
            <a:xfrm>
              <a:off x="0" y="24625"/>
              <a:ext cx="1276350" cy="510181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5" name="文本11"/>
            <p:cNvSpPr txBox="1"/>
            <p:nvPr/>
          </p:nvSpPr>
          <p:spPr>
            <a:xfrm>
              <a:off x="21095" y="0"/>
              <a:ext cx="1276350" cy="55784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基督教</a:t>
              </a:r>
            </a:p>
          </p:txBody>
        </p:sp>
      </p:grpSp>
      <p:grpSp>
        <p:nvGrpSpPr>
          <p:cNvPr id="26" name="组合7"/>
          <p:cNvGrpSpPr/>
          <p:nvPr/>
        </p:nvGrpSpPr>
        <p:grpSpPr>
          <a:xfrm>
            <a:off x="5162550" y="1487170"/>
            <a:ext cx="6610437" cy="1328592"/>
            <a:chOff x="0" y="0"/>
            <a:chExt cx="6610437" cy="1328592"/>
          </a:xfrm>
        </p:grpSpPr>
        <p:sp>
          <p:nvSpPr>
            <p:cNvPr id="27" name="形状14"/>
            <p:cNvSpPr txBox="1"/>
            <p:nvPr/>
          </p:nvSpPr>
          <p:spPr>
            <a:xfrm>
              <a:off x="0" y="0"/>
              <a:ext cx="6549390" cy="1328592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8" name="文本12"/>
            <p:cNvSpPr txBox="1"/>
            <p:nvPr/>
          </p:nvSpPr>
          <p:spPr>
            <a:xfrm>
              <a:off x="61047" y="15327"/>
              <a:ext cx="6549390" cy="12925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经济：</a:t>
              </a: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西欧庄园与农奴制度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（自给自足的经济组织，也是相对独立的政治单位，是</a:t>
              </a: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西欧封建制度的基础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）；西欧城市兴起</a:t>
              </a:r>
            </a:p>
          </p:txBody>
        </p:sp>
      </p:grpSp>
      <p:grpSp>
        <p:nvGrpSpPr>
          <p:cNvPr id="29" name="组合8"/>
          <p:cNvGrpSpPr/>
          <p:nvPr/>
        </p:nvGrpSpPr>
        <p:grpSpPr>
          <a:xfrm>
            <a:off x="3519805" y="3924557"/>
            <a:ext cx="8227952" cy="925190"/>
            <a:chOff x="0" y="0"/>
            <a:chExt cx="8227952" cy="925190"/>
          </a:xfrm>
        </p:grpSpPr>
        <p:sp>
          <p:nvSpPr>
            <p:cNvPr id="30" name="形状15"/>
            <p:cNvSpPr txBox="1"/>
            <p:nvPr/>
          </p:nvSpPr>
          <p:spPr>
            <a:xfrm>
              <a:off x="0" y="4823"/>
              <a:ext cx="8187055" cy="915837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1" name="文本13"/>
            <p:cNvSpPr txBox="1"/>
            <p:nvPr/>
          </p:nvSpPr>
          <p:spPr>
            <a:xfrm>
              <a:off x="40897" y="0"/>
              <a:ext cx="8187055" cy="92519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法兰克王国建立→查理曼帝国一形成德意志、法兰西和意</a:t>
              </a:r>
            </a:p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大利三个国家的雏形</a:t>
              </a:r>
            </a:p>
          </p:txBody>
        </p:sp>
      </p:grpSp>
      <p:grpSp>
        <p:nvGrpSpPr>
          <p:cNvPr id="32" name="组合9"/>
          <p:cNvGrpSpPr/>
          <p:nvPr/>
        </p:nvGrpSpPr>
        <p:grpSpPr>
          <a:xfrm>
            <a:off x="6604635" y="5998024"/>
            <a:ext cx="2098180" cy="557845"/>
            <a:chOff x="0" y="0"/>
            <a:chExt cx="2098180" cy="557845"/>
          </a:xfrm>
        </p:grpSpPr>
        <p:sp>
          <p:nvSpPr>
            <p:cNvPr id="33" name="形状16"/>
            <p:cNvSpPr txBox="1"/>
            <p:nvPr/>
          </p:nvSpPr>
          <p:spPr>
            <a:xfrm>
              <a:off x="0" y="24625"/>
              <a:ext cx="2077085" cy="510183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4" name="文本14"/>
            <p:cNvSpPr txBox="1"/>
            <p:nvPr/>
          </p:nvSpPr>
          <p:spPr>
            <a:xfrm>
              <a:off x="21095" y="0"/>
              <a:ext cx="2077085" cy="55784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拜占庭文化</a:t>
              </a:r>
            </a:p>
          </p:txBody>
        </p:sp>
      </p:grpSp>
      <p:grpSp>
        <p:nvGrpSpPr>
          <p:cNvPr id="35" name="组合10"/>
          <p:cNvGrpSpPr/>
          <p:nvPr/>
        </p:nvGrpSpPr>
        <p:grpSpPr>
          <a:xfrm>
            <a:off x="5162550" y="2923988"/>
            <a:ext cx="6581588" cy="925190"/>
            <a:chOff x="0" y="0"/>
            <a:chExt cx="6581588" cy="925190"/>
          </a:xfrm>
        </p:grpSpPr>
        <p:sp>
          <p:nvSpPr>
            <p:cNvPr id="36" name="形状17"/>
            <p:cNvSpPr txBox="1"/>
            <p:nvPr/>
          </p:nvSpPr>
          <p:spPr>
            <a:xfrm>
              <a:off x="0" y="4632"/>
              <a:ext cx="6540500" cy="919739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7" name="文本15"/>
            <p:cNvSpPr txBox="1"/>
            <p:nvPr/>
          </p:nvSpPr>
          <p:spPr>
            <a:xfrm>
              <a:off x="41088" y="0"/>
              <a:ext cx="6540500" cy="92519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教育文化：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大学的兴起（欧洲中世纪教育</a:t>
              </a:r>
              <a:r>
                <a:rPr lang="zh-CN" altLang="en-US" sz="2400" b="1" i="0" dirty="0">
                  <a:solidFill>
                    <a:srgbClr val="FF0000">
                      <a:alpha val="100000"/>
                    </a:srgbClr>
                  </a:solidFill>
                  <a:latin typeface="宋体"/>
                  <a:ea typeface="宋体"/>
                </a:rPr>
                <a:t>“最美好的花朵”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）</a:t>
              </a:r>
            </a:p>
          </p:txBody>
        </p:sp>
      </p:grpSp>
      <p:grpSp>
        <p:nvGrpSpPr>
          <p:cNvPr id="38" name="组合11"/>
          <p:cNvGrpSpPr/>
          <p:nvPr/>
        </p:nvGrpSpPr>
        <p:grpSpPr>
          <a:xfrm>
            <a:off x="1875790" y="2545715"/>
            <a:ext cx="1339508" cy="1323926"/>
            <a:chOff x="0" y="0"/>
            <a:chExt cx="1339508" cy="1323926"/>
          </a:xfrm>
        </p:grpSpPr>
        <p:sp>
          <p:nvSpPr>
            <p:cNvPr id="39" name="形状18"/>
            <p:cNvSpPr txBox="1"/>
            <p:nvPr/>
          </p:nvSpPr>
          <p:spPr>
            <a:xfrm>
              <a:off x="0" y="0"/>
              <a:ext cx="1280795" cy="1323926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0" name="文本16"/>
            <p:cNvSpPr txBox="1"/>
            <p:nvPr/>
          </p:nvSpPr>
          <p:spPr>
            <a:xfrm>
              <a:off x="58713" y="12993"/>
              <a:ext cx="1280795" cy="12925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西罗马帝国</a:t>
              </a:r>
            </a:p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灭亡</a:t>
              </a:r>
            </a:p>
          </p:txBody>
        </p:sp>
      </p:grpSp>
      <p:sp>
        <p:nvSpPr>
          <p:cNvPr id="41" name="形状3"/>
          <p:cNvSpPr txBox="1"/>
          <p:nvPr/>
        </p:nvSpPr>
        <p:spPr>
          <a:xfrm>
            <a:off x="3284855" y="2162810"/>
            <a:ext cx="234950" cy="2092325"/>
          </a:xfrm>
          <a:prstGeom prst="leftBrace"/>
          <a:solidFill>
            <a:srgbClr val="FFFFFF">
              <a:alpha val="0"/>
            </a:srgbClr>
          </a:solidFill>
          <a:ln w="25400">
            <a:solidFill>
              <a:srgbClr val="00B0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42" name="组合12"/>
          <p:cNvGrpSpPr/>
          <p:nvPr/>
        </p:nvGrpSpPr>
        <p:grpSpPr>
          <a:xfrm>
            <a:off x="1871980" y="5813238"/>
            <a:ext cx="2193738" cy="1292535"/>
            <a:chOff x="0" y="0"/>
            <a:chExt cx="2193738" cy="1292535"/>
          </a:xfrm>
        </p:grpSpPr>
        <p:sp>
          <p:nvSpPr>
            <p:cNvPr id="43" name="形状19"/>
            <p:cNvSpPr txBox="1"/>
            <p:nvPr/>
          </p:nvSpPr>
          <p:spPr>
            <a:xfrm>
              <a:off x="0" y="4632"/>
              <a:ext cx="2152650" cy="919739"/>
            </a:xfrm>
            <a:prstGeom prst="roundRect"/>
            <a:solidFill>
              <a:srgbClr val="FFFFFF">
                <a:alpha val="0"/>
              </a:srgbClr>
            </a:solidFill>
            <a:ln w="25400">
              <a:solidFill>
                <a:srgbClr val="00B0F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4" name="文本17"/>
            <p:cNvSpPr txBox="1"/>
            <p:nvPr/>
          </p:nvSpPr>
          <p:spPr>
            <a:xfrm>
              <a:off x="41088" y="0"/>
              <a:ext cx="2152650" cy="12925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拜占庭帝国</a:t>
              </a:r>
            </a:p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（东罗马帝国）</a:t>
              </a:r>
            </a:p>
          </p:txBody>
        </p:sp>
      </p:grpSp>
      <p:sp>
        <p:nvSpPr>
          <p:cNvPr id="45" name="形状4"/>
          <p:cNvSpPr txBox="1"/>
          <p:nvPr/>
        </p:nvSpPr>
        <p:spPr>
          <a:xfrm rot="10800000" flipH="1">
            <a:off x="3148330" y="4845050"/>
            <a:ext cx="4465320" cy="456565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00B0F0">
                <a:alpha val="100000"/>
              </a:srgbClr>
            </a:solidFill>
            <a:prstDash val="solid"/>
            <a:tailEnd type="triangl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6" name="形状5"/>
          <p:cNvSpPr txBox="1"/>
          <p:nvPr/>
        </p:nvSpPr>
        <p:spPr>
          <a:xfrm>
            <a:off x="3148330" y="5301615"/>
            <a:ext cx="4495165" cy="720725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00B0F0">
                <a:alpha val="100000"/>
              </a:srgbClr>
            </a:solidFill>
            <a:prstDash val="solid"/>
            <a:tailEnd type="triangl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7" name="形状6"/>
          <p:cNvSpPr txBox="1"/>
          <p:nvPr/>
        </p:nvSpPr>
        <p:spPr>
          <a:xfrm>
            <a:off x="4024630" y="6277610"/>
            <a:ext cx="2580005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00B0F0">
                <a:alpha val="100000"/>
              </a:srgbClr>
            </a:solidFill>
            <a:prstDash val="solid"/>
            <a:tailEnd type="triangl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8" name="文本2"/>
          <p:cNvSpPr txBox="1"/>
          <p:nvPr/>
        </p:nvSpPr>
        <p:spPr>
          <a:xfrm>
            <a:off x="4088765" y="5717540"/>
            <a:ext cx="2388235" cy="116776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4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对东西方文化</a:t>
            </a:r>
          </a:p>
          <a:p>
            <a:pPr marL="0" algn="ctr">
              <a:lnSpc>
                <a:spcPts val="34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因素兼收并蓄</a:t>
            </a:r>
          </a:p>
        </p:txBody>
      </p:sp>
      <p:sp>
        <p:nvSpPr>
          <p:cNvPr id="49" name="形状7"/>
          <p:cNvSpPr txBox="1"/>
          <p:nvPr/>
        </p:nvSpPr>
        <p:spPr>
          <a:xfrm rot="10800000" flipH="1">
            <a:off x="4475480" y="2176780"/>
            <a:ext cx="436245" cy="508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00B0F0">
                <a:alpha val="100000"/>
              </a:srgbClr>
            </a:solidFill>
            <a:prstDash val="solid"/>
            <a:tailEnd type="triangl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0" name="文本3"/>
          <p:cNvSpPr txBox="1"/>
          <p:nvPr/>
        </p:nvSpPr>
        <p:spPr>
          <a:xfrm>
            <a:off x="4480560" y="1707515"/>
            <a:ext cx="641350" cy="102044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表现</a:t>
            </a:r>
          </a:p>
        </p:txBody>
      </p:sp>
      <p:sp>
        <p:nvSpPr>
          <p:cNvPr id="51" name="文本4"/>
          <p:cNvSpPr txBox="1"/>
          <p:nvPr/>
        </p:nvSpPr>
        <p:spPr>
          <a:xfrm>
            <a:off x="3540760" y="4723130"/>
            <a:ext cx="2026920" cy="65087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支持、合作</a:t>
            </a:r>
          </a:p>
        </p:txBody>
      </p:sp>
      <p:sp>
        <p:nvSpPr>
          <p:cNvPr id="52" name="文本5"/>
          <p:cNvSpPr txBox="1"/>
          <p:nvPr/>
        </p:nvSpPr>
        <p:spPr>
          <a:xfrm>
            <a:off x="5715000" y="5281930"/>
            <a:ext cx="1497330" cy="65087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影响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23" grpId="0" animBg="1"/>
      <p:bldP spid="38" grpId="0" animBg="1"/>
      <p:bldP spid="42" grpId="0" animBg="1"/>
      <p:bldP spid="16" grpId="0" animBg="1"/>
      <p:bldP spid="19" grpId="0" animBg="1"/>
      <p:bldP spid="20" grpId="0" animBg="1"/>
      <p:bldP spid="26" grpId="0" animBg="1"/>
      <p:bldP spid="29" grpId="0" animBg="1"/>
      <p:bldP spid="35" grpId="0" animBg="1"/>
      <p:bldP spid="41" grpId="0" animBg="1"/>
      <p:bldP spid="49" grpId="0" animBg="1"/>
      <p:bldP spid="50" grpId="0" animBg="1"/>
      <p:bldP spid="32" grpId="0" animBg="1"/>
      <p:bldP spid="47" grpId="0" animBg="1"/>
      <p:bldP spid="48" grpId="0" animBg="1"/>
      <p:bldP spid="45" grpId="0" animBg="1"/>
      <p:bldP spid="46" grpId="0" animBg="1"/>
      <p:bldP spid="51" grpId="0" animBg="1"/>
      <p:bldP spid="52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17" y="1522608"/>
            <a:ext cx="7594922" cy="4083827"/>
          </a:xfrm>
          <a:prstGeom prst="rect">
            <a:avLst/>
          </a:prstGeom>
          <a:ln w="9525">
            <a:solidFill>
              <a:srgbClr val="000000">
                <a:alpha val="100000"/>
              </a:srgbClr>
            </a:solidFill>
            <a:prstDash val="solid"/>
          </a:ln>
        </p:spPr>
      </p:pic>
      <p:sp>
        <p:nvSpPr>
          <p:cNvPr id="3" name="文本1"/>
          <p:cNvSpPr txBox="1"/>
          <p:nvPr/>
        </p:nvSpPr>
        <p:spPr>
          <a:xfrm>
            <a:off x="607997" y="55635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1. </a:t>
            </a: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华文楷体"/>
                <a:ea typeface="华文楷体"/>
              </a:rPr>
              <a:t>法兰克王国的建立者是谁？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查理曼帝国分裂成哪些王国的雏形？封君封臣制度的核心和特点分别是什么？什么是庄园？由哪些人员构成？维持庄园秩序的是什么？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233512" y="45636"/>
            <a:ext cx="3105812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一、法兰克王国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8003153" y="6197352"/>
            <a:ext cx="45127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第7课法兰克王国和西欧封建制度</a:t>
            </a:r>
          </a:p>
        </p:txBody>
      </p:sp>
      <p:sp>
        <p:nvSpPr>
          <p:cNvPr id="6" name="形状1"/>
          <p:cNvSpPr txBox="1"/>
          <p:nvPr/>
        </p:nvSpPr>
        <p:spPr>
          <a:xfrm>
            <a:off x="3625457" y="2904348"/>
            <a:ext cx="1763566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00B05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2"/>
          <p:cNvSpPr txBox="1"/>
          <p:nvPr/>
        </p:nvSpPr>
        <p:spPr>
          <a:xfrm>
            <a:off x="4069599" y="3357661"/>
            <a:ext cx="2434568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00B05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3"/>
          <p:cNvSpPr txBox="1"/>
          <p:nvPr/>
        </p:nvSpPr>
        <p:spPr>
          <a:xfrm>
            <a:off x="1944462" y="3816761"/>
            <a:ext cx="4838001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4"/>
          <p:cNvSpPr txBox="1"/>
          <p:nvPr/>
        </p:nvSpPr>
        <p:spPr>
          <a:xfrm>
            <a:off x="5484439" y="4286089"/>
            <a:ext cx="3794733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5"/>
          <p:cNvSpPr txBox="1"/>
          <p:nvPr/>
        </p:nvSpPr>
        <p:spPr>
          <a:xfrm>
            <a:off x="1907968" y="4744264"/>
            <a:ext cx="7371204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形状6"/>
          <p:cNvSpPr txBox="1"/>
          <p:nvPr/>
        </p:nvSpPr>
        <p:spPr>
          <a:xfrm>
            <a:off x="1907968" y="5157731"/>
            <a:ext cx="3043734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文本4"/>
          <p:cNvSpPr txBox="1"/>
          <p:nvPr/>
        </p:nvSpPr>
        <p:spPr>
          <a:xfrm>
            <a:off x="194007" y="3008183"/>
            <a:ext cx="2664573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微软雅黑"/>
                <a:ea typeface="微软雅黑"/>
              </a:rPr>
              <a:t>核心手段：</a:t>
            </a: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汉仪旗黑-50简"/>
                <a:ea typeface="汉仪旗黑-50简"/>
              </a:rPr>
              <a:t>①</a:t>
            </a:r>
          </a:p>
        </p:txBody>
      </p:sp>
      <p:sp>
        <p:nvSpPr>
          <p:cNvPr id="13" name="文本5"/>
          <p:cNvSpPr txBox="1"/>
          <p:nvPr/>
        </p:nvSpPr>
        <p:spPr>
          <a:xfrm>
            <a:off x="4947892" y="3774894"/>
            <a:ext cx="1065143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汉仪旗黑-50简"/>
                <a:ea typeface="汉仪旗黑-50简"/>
              </a:rPr>
              <a:t>②</a:t>
            </a:r>
          </a:p>
        </p:txBody>
      </p:sp>
      <p:pic>
        <p:nvPicPr>
          <p:cNvPr id="1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" t="0" r="0" b="11111"/>
          <a:stretch>
            <a:fillRect/>
          </a:stretch>
        </p:blipFill>
        <p:spPr>
          <a:xfrm>
            <a:off x="9523167" y="2520091"/>
            <a:ext cx="2055431" cy="2004876"/>
          </a:xfrm>
          <a:prstGeom prst="rect">
            <a:avLst/>
          </a:prstGeom>
          <a:ln w="19050">
            <a:solidFill>
              <a:srgbClr val="7F6000">
                <a:alpha val="100000"/>
              </a:srgbClr>
            </a:solidFill>
            <a:prstDash val="solid"/>
          </a:ln>
        </p:spPr>
      </p:pic>
      <p:sp>
        <p:nvSpPr>
          <p:cNvPr id="15" name="文本6"/>
          <p:cNvSpPr txBox="1"/>
          <p:nvPr/>
        </p:nvSpPr>
        <p:spPr>
          <a:xfrm>
            <a:off x="11655956" y="2298633"/>
            <a:ext cx="646490" cy="139082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克洛维</a:t>
            </a:r>
          </a:p>
        </p:txBody>
      </p:sp>
      <p:sp>
        <p:nvSpPr>
          <p:cNvPr id="16" name="文本7"/>
          <p:cNvSpPr txBox="1"/>
          <p:nvPr/>
        </p:nvSpPr>
        <p:spPr>
          <a:xfrm>
            <a:off x="981710" y="5661136"/>
            <a:ext cx="9621190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1" i="0" dirty="0">
                <a:solidFill>
                  <a:srgbClr val="3333FF">
                    <a:alpha val="100000"/>
                  </a:srgbClr>
                </a:solidFill>
                <a:latin typeface="楷体"/>
                <a:ea typeface="楷体"/>
              </a:rPr>
              <a:t>【知识拓展】：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Roboto"/>
                <a:ea typeface="Roboto"/>
              </a:rPr>
              <a:t>“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楷体"/>
                <a:ea typeface="楷体"/>
              </a:rPr>
              <a:t>丕平献土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Roboto"/>
                <a:ea typeface="Roboto"/>
              </a:rPr>
              <a:t>”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楷体"/>
                <a:ea typeface="楷体"/>
              </a:rPr>
              <a:t>。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Roboto"/>
                <a:ea typeface="Roboto"/>
              </a:rPr>
              <a:t>756</a:t>
            </a:r>
            <a:r>
              <a:rPr lang="zh-CN" altLang="en-US" sz="2000" b="0" i="0" dirty="0">
                <a:solidFill>
                  <a:srgbClr val="3333FF">
                    <a:alpha val="100000"/>
                  </a:srgbClr>
                </a:solidFill>
                <a:latin typeface="楷体"/>
                <a:ea typeface="楷体"/>
              </a:rPr>
              <a:t>年，法兰克国王向罗马主教献土，直接促成教皇国诞生，奠定了中世纪教权高于王权的基础。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  <p:bldP spid="15" grpId="0" animBg="1"/>
      <p:bldP spid="12" grpId="0" animBg="1"/>
      <p:bldP spid="8" grpId="0" animBg="1"/>
      <p:bldP spid="13" grpId="0" animBg="1"/>
      <p:bldP spid="9" grpId="0" animBg="1"/>
      <p:bldP spid="10" grpId="0" animBg="1"/>
      <p:bldP spid="11" grpId="0" animBg="1"/>
      <p:bldP spid="16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07997" y="55635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1. 法兰克王国的建立者是谁？</a:t>
            </a: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华文楷体"/>
                <a:ea typeface="华文楷体"/>
              </a:rPr>
              <a:t>查理曼帝国分裂成哪些王国的雏形？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封君封臣制度的核心和特点分别是什么？什么是庄园？由哪些人员构成？维持庄园秩序的是什么？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33512" y="45636"/>
            <a:ext cx="3105812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一、法兰克王国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003153" y="6197352"/>
            <a:ext cx="45127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第7课法兰克王国和西欧封建制度</a:t>
            </a:r>
          </a:p>
        </p:txBody>
      </p:sp>
      <p:graphicFrame>
        <p:nvGraphicFramePr>
          <p:cNvPr id="5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2393" y="1696626"/>
          <a:ext cx="9370512" cy="414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9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8798018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4142896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2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查理霸业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①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768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年，查理成为法兰克王国国王。</a:t>
                      </a:r>
                    </a:p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②他征战扩张，建立查理曼帝国，推行基督教，把新扩张的地区划分为若干教区，命令每个教区的人民把每年收入的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1/10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贡献给教会，称为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“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什一税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”</a:t>
                      </a: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；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重视文化教育（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“加洛林体”“加洛林文艺复兴”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）</a:t>
                      </a: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；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 </a:t>
                      </a: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800</a:t>
                      </a: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年，教皇在罗马为查理举行加冕礼，称查理为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“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罗马人的皇帝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”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，强化了教权与王权的联系。</a:t>
                      </a:r>
                    </a:p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③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814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年，查理曼去世，强盛一时的帝国很快走向分裂。</a:t>
                      </a:r>
                    </a:p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④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843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年，查理曼的三个孙子缔结条约，将帝国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一分为三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。这三个王国成为后来</a:t>
                      </a:r>
                      <a:r>
                        <a:rPr lang="zh-CN" altLang="en-US" sz="2400" b="1" i="0" u="sng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德意志、法兰西和意大利的雏形</a:t>
                      </a:r>
                      <a:r>
                        <a:rPr lang="zh-CN" altLang="en-US" sz="2400" b="0" i="0" u="sng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t="0" r="0" b="6126"/>
          <a:stretch>
            <a:fillRect/>
          </a:stretch>
        </p:blipFill>
        <p:spPr>
          <a:xfrm>
            <a:off x="9632904" y="2545452"/>
            <a:ext cx="2296703" cy="2217379"/>
          </a:xfrm>
          <a:prstGeom prst="rect">
            <a:avLst/>
          </a:prstGeom>
          <a:ln w="19050">
            <a:solidFill>
              <a:srgbClr val="7F6000">
                <a:alpha val="100000"/>
              </a:srgbClr>
            </a:solidFill>
            <a:prstDash val="solid"/>
          </a:ln>
        </p:spPr>
      </p:pic>
      <p:sp>
        <p:nvSpPr>
          <p:cNvPr id="7" name="文本4"/>
          <p:cNvSpPr txBox="1"/>
          <p:nvPr/>
        </p:nvSpPr>
        <p:spPr>
          <a:xfrm>
            <a:off x="11599089" y="1735140"/>
            <a:ext cx="700088" cy="151393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4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查理加冕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83" y="939975"/>
            <a:ext cx="11983279" cy="3518678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1705566" y="2239166"/>
            <a:ext cx="2199132" cy="128364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汉仪旗黑-50简"/>
                <a:ea typeface="汉仪旗黑-50简"/>
              </a:rPr>
              <a:t>建国：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汉仪旗黑-50简"/>
                <a:ea typeface="汉仪旗黑-50简"/>
              </a:rPr>
              <a:t>克洛维建立法兰克王国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3219841" y="5139642"/>
            <a:ext cx="4007739" cy="55488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汉仪旗黑-50简"/>
                <a:ea typeface="汉仪旗黑-50简"/>
              </a:rPr>
              <a:t>8世纪初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汉仪旗黑-50简"/>
                <a:ea typeface="汉仪旗黑-50简"/>
              </a:rPr>
              <a:t>封君封臣制度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7606875" y="2282704"/>
            <a:ext cx="2365883" cy="91926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汉仪旗黑-50简"/>
                <a:ea typeface="汉仪旗黑-50简"/>
              </a:rPr>
              <a:t>分裂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汉仪旗黑-50简"/>
                <a:ea typeface="汉仪旗黑-50简"/>
              </a:rPr>
              <a:t>：查理曼帝国一分为三</a:t>
            </a:r>
          </a:p>
        </p:txBody>
      </p:sp>
      <p:sp>
        <p:nvSpPr>
          <p:cNvPr id="6" name="文本4"/>
          <p:cNvSpPr txBox="1"/>
          <p:nvPr/>
        </p:nvSpPr>
        <p:spPr>
          <a:xfrm>
            <a:off x="4363641" y="1341368"/>
            <a:ext cx="3345409" cy="19288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鼎盛：</a:t>
            </a:r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法兰克国王查理被罗马教皇加冕为“罗马人的皇帝”，史称“查理大帝”或“查理曼”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5" grpId="0" animBg="1"/>
      <p:bldP spid="4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64119" y="465239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1. 法兰克王国的建立者是谁？查理曼帝国分裂成哪些王国的雏形？</a:t>
            </a: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华文楷体"/>
                <a:ea typeface="华文楷体"/>
              </a:rPr>
              <a:t>封君封臣制度的核心和特点分别是什么？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什么是庄园？由哪些人员构成？维持庄园秩序的是什么？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二、封君封臣制度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003153" y="6197352"/>
            <a:ext cx="45127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第7课法兰克王国和西欧封建制度</a:t>
            </a:r>
          </a:p>
        </p:txBody>
      </p:sp>
      <p:graphicFrame>
        <p:nvGraphicFramePr>
          <p:cNvPr id="5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359397" y="1486195"/>
          <a:ext cx="11717356" cy="465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6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46864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434115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1109813">
                <a:tc rowSpan="4" gridSpan="1">
                  <a:txBody>
                    <a:bodyPr anchor="ctr"/>
                    <a:lstStyle/>
                    <a:p>
                      <a:pPr marL="0" algn="ctr">
                        <a:lnSpc>
                          <a:spcPts val="32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封君封臣制度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4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形成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8世纪前期，法兰克王国对土地的分封形式进行改革，要求得到封地的人必须服兵役。赐地的人成为封君，接受封地的人成为封臣。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440607">
                <a:tc rowSpan="3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4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纽带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这种以</a:t>
                      </a:r>
                      <a:r>
                        <a:rPr lang="zh-CN" altLang="en-US" sz="2400" b="1" i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土地封赐为纽带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而形成的封建制度在西欧逐渐流行。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991027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4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特点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①封君与封臣的关系有着</a:t>
                      </a:r>
                      <a:r>
                        <a:rPr lang="zh-CN" altLang="en-US" sz="2400" b="1" i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严格的等级性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，而且权利、义务交织在一起，有一定的</a:t>
                      </a:r>
                      <a:r>
                        <a:rPr lang="zh-CN" altLang="en-US" sz="2400" b="1" i="0" u="sng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契约</a:t>
                      </a: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意义。②</a:t>
                      </a:r>
                      <a:r>
                        <a:rPr lang="zh-CN" altLang="en-US" sz="24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封臣必须效忠于封君，要为封君服兵役、提供财物等;封君不能任意侵害封臣的荣誉、人身和财产安全，当封臣受到外来攻击时，封君必须提供保护</a:t>
                      </a: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109813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4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影响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34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这一制度成为西欧封建社会的典型特征，推动了西欧封建制度的形成。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363939" y="99757"/>
            <a:ext cx="10564964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合作探究</a:t>
            </a: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：</a:t>
            </a: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西欧封君封臣制和西周分封制的异同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5" y="1028159"/>
            <a:ext cx="3705308" cy="3072492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719" y="1028159"/>
            <a:ext cx="3467877" cy="3072489"/>
          </a:xfrm>
          <a:prstGeom prst="rect">
            <a:avLst/>
          </a:prstGeom>
        </p:spPr>
      </p:pic>
      <p:sp>
        <p:nvSpPr>
          <p:cNvPr id="5" name="文本2"/>
          <p:cNvSpPr txBox="1"/>
          <p:nvPr/>
        </p:nvSpPr>
        <p:spPr>
          <a:xfrm>
            <a:off x="1308155" y="3307699"/>
            <a:ext cx="12382500" cy="343566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1200"/>
              </a:lnSpc>
            </a:pPr>
            <a:r>
              <a:rPr lang="zh-CN" altLang="en-US" sz="10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      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912273" y="4051118"/>
            <a:ext cx="11583362" cy="65216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“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我附庸的附庸，不是我的附庸。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”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    普天之下莫非王土，率土之滨莫非王臣。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”</a:t>
            </a:r>
          </a:p>
        </p:txBody>
      </p:sp>
      <p:grpSp>
        <p:nvGrpSpPr>
          <p:cNvPr id="7" name="组合1"/>
          <p:cNvGrpSpPr/>
          <p:nvPr/>
        </p:nvGrpSpPr>
        <p:grpSpPr>
          <a:xfrm>
            <a:off x="721441" y="4722765"/>
            <a:ext cx="10974927" cy="1512320"/>
            <a:chOff x="0" y="0"/>
            <a:chExt cx="10974927" cy="1512320"/>
          </a:xfrm>
        </p:grpSpPr>
        <p:sp>
          <p:nvSpPr>
            <p:cNvPr id="8" name="形状2"/>
            <p:cNvSpPr txBox="1"/>
            <p:nvPr/>
          </p:nvSpPr>
          <p:spPr>
            <a:xfrm>
              <a:off x="3810" y="49530"/>
              <a:ext cx="10971117" cy="1363065"/>
            </a:xfrm>
            <a:prstGeom prst="rect"/>
            <a:solidFill>
              <a:srgbClr val="FFF2CC">
                <a:alpha val="100000"/>
              </a:srgbClr>
            </a:solidFill>
            <a:ln w="9525">
              <a:solidFill>
                <a:srgbClr val="C00000">
                  <a:alpha val="100000"/>
                </a:srgbClr>
              </a:solidFill>
              <a:prstDash val="solid"/>
            </a:ln>
            <a:effectLst>
              <a:outerShdw blurRad="50800" dist="38100" dir="13500000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6"/>
            <p:cNvSpPr txBox="1"/>
            <p:nvPr/>
          </p:nvSpPr>
          <p:spPr>
            <a:xfrm>
              <a:off x="0" y="0"/>
              <a:ext cx="10971117" cy="15123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400"/>
                </a:lnSpc>
              </a:pPr>
              <a:r>
                <a:rPr lang="zh-CN" altLang="en-US" sz="2400" b="1" i="0" dirty="0">
                  <a:solidFill>
                    <a:srgbClr val="0000FF">
                      <a:alpha val="100000"/>
                    </a:srgbClr>
                  </a:solidFill>
                  <a:latin typeface="宋体"/>
                  <a:ea typeface="宋体"/>
                </a:rPr>
                <a:t>相同点：</a:t>
              </a:r>
            </a:p>
            <a:p>
              <a:pPr marL="0" algn="l">
                <a:lnSpc>
                  <a:spcPts val="3400"/>
                </a:lnSpc>
              </a:pPr>
              <a:r>
                <a:rPr lang="zh-CN" altLang="en-US" sz="2400" b="1" i="0" dirty="0">
                  <a:solidFill>
                    <a:srgbClr val="0000FF">
                      <a:alpha val="100000"/>
                    </a:srgbClr>
                  </a:solidFill>
                  <a:latin typeface="宋体"/>
                  <a:ea typeface="宋体"/>
                </a:rPr>
                <a:t>不同点：</a:t>
              </a:r>
            </a:p>
            <a:p>
              <a:pPr marL="0" algn="l"/>
            </a:p>
          </p:txBody>
        </p:sp>
      </p:grpSp>
      <p:sp>
        <p:nvSpPr>
          <p:cNvPr id="10" name="文本4"/>
          <p:cNvSpPr txBox="1"/>
          <p:nvPr/>
        </p:nvSpPr>
        <p:spPr>
          <a:xfrm>
            <a:off x="1908479" y="4768716"/>
            <a:ext cx="6941156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权利与义务交织，等级森严。</a:t>
            </a:r>
          </a:p>
        </p:txBody>
      </p:sp>
      <p:sp>
        <p:nvSpPr>
          <p:cNvPr id="11" name="文本5"/>
          <p:cNvSpPr txBox="1"/>
          <p:nvPr/>
        </p:nvSpPr>
        <p:spPr>
          <a:xfrm>
            <a:off x="1908477" y="5184429"/>
            <a:ext cx="9579578" cy="10214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西欧封君封臣制以</a:t>
            </a: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土地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为纽带，不可越级统领；</a:t>
            </a:r>
          </a:p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西周分封制以</a:t>
            </a: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血缘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为纽带，天子是最高统治者。</a:t>
            </a:r>
          </a:p>
        </p:txBody>
      </p:sp>
      <p:sp>
        <p:nvSpPr>
          <p:cNvPr id="12" name="形状1"/>
          <p:cNvSpPr txBox="1"/>
          <p:nvPr/>
        </p:nvSpPr>
        <p:spPr>
          <a:xfrm flipH="1">
            <a:off x="4487186" y="1088221"/>
            <a:ext cx="3235850" cy="1938992"/>
          </a:xfrm>
          <a:prstGeom prst="rect"/>
          <a:solidFill>
            <a:srgbClr val="FFFFFF">
              <a:alpha val="0"/>
            </a:srgbClr>
          </a:solidFill>
          <a:ln w="28575">
            <a:solidFill>
              <a:srgbClr val="F85208">
                <a:alpha val="100000"/>
              </a:srgbClr>
            </a:solidFill>
            <a:prstDash val="solid"/>
          </a:ln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封君与封臣：只承认自己</a:t>
            </a:r>
            <a:r>
              <a:rPr lang="zh-CN" altLang="en-US" sz="2400" b="1" i="0" dirty="0">
                <a:solidFill>
                  <a:srgbClr val="FF0000">
                    <a:alpha val="100000"/>
                  </a:srgbClr>
                </a:solidFill>
                <a:latin typeface="宋体"/>
                <a:ea typeface="宋体"/>
              </a:rPr>
              <a:t>直属上下级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，对于其他的上下级关系与自己无关，</a:t>
            </a:r>
            <a:r>
              <a:rPr lang="zh-CN" altLang="en-US" sz="2400" b="1" i="0" dirty="0">
                <a:solidFill>
                  <a:srgbClr val="FF0000">
                    <a:alpha val="100000"/>
                  </a:srgbClr>
                </a:solidFill>
                <a:latin typeface="宋体"/>
                <a:ea typeface="宋体"/>
              </a:rPr>
              <a:t>不可越级统领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333" y="1866900"/>
            <a:ext cx="3505667" cy="4791075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三、庄园和农奴制度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233582" y="582311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1. 法兰克王国的建立者是谁？查理曼帝国分裂成哪些王国的雏形？封君封臣制度的核心和特点分别是什么？</a:t>
            </a: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华文楷体"/>
                <a:ea typeface="华文楷体"/>
              </a:rPr>
              <a:t>什么是庄园？由哪些人员构成？维持庄园秩序的是什么？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07997" y="55635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1. 法兰克王国的建立者是谁？查理曼帝国分裂成哪些王国的雏形？封君封臣制度的核心和特点分别是什么？</a:t>
            </a: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华文楷体"/>
                <a:ea typeface="华文楷体"/>
              </a:rPr>
              <a:t>什么是庄园？由哪些人员构成？维持庄园秩序的是什么？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三、庄园和农奴制度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003153" y="6197352"/>
            <a:ext cx="45127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第7课法兰克王国和西欧封建制度</a:t>
            </a:r>
          </a:p>
        </p:txBody>
      </p:sp>
      <p:graphicFrame>
        <p:nvGraphicFramePr>
          <p:cNvPr id="5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37322" y="1569999"/>
          <a:ext cx="11720221" cy="5383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5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22450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13703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842716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367172">
                <a:tc rowSpan="7" gridSpan="1">
                  <a:txBody>
                    <a:bodyPr anchor="ctr"/>
                    <a:lstStyle/>
                    <a:p>
                      <a:pPr marL="0" algn="ctr">
                        <a:lnSpc>
                          <a:spcPts val="3200"/>
                        </a:lnSpc>
                      </a:pPr>
                      <a:r>
                        <a:rPr lang="zh-CN" altLang="en-US" sz="24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庄园和农奴制度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时间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2">
                  <a:txBody>
                    <a:bodyPr anchor="ctr"/>
                    <a:lstStyle/>
                    <a:p>
                      <a:pPr marL="0" algn="l">
                        <a:lnSpc>
                          <a:spcPts val="2700"/>
                        </a:lnSpc>
                      </a:pPr>
                      <a:r>
                        <a:rPr lang="zh-CN" altLang="en-US" sz="2000" b="0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9-11世纪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h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983804">
                <a:tc rowSpan="6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庄园性质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2">
                  <a:txBody>
                    <a:bodyPr anchor="ctr"/>
                    <a:lstStyle/>
                    <a:p>
                      <a:pPr marL="0" algn="l"/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h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367172">
                <a:tc rowSpan="5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居民构成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2">
                  <a:txBody>
                    <a:bodyPr anchor="ctr"/>
                    <a:lstStyle/>
                    <a:p>
                      <a:pPr marL="0" algn="l"/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h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350976">
                <a:tc rowSpan="4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佃户基本义务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2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为领主提供</a:t>
                      </a: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劳役是佃户的基本义务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劳役量的多少主要依据佃户份地的大小来确定。佃户使用领主的磨坊、酿酒机、面包炉等，都必须缴纳使用费。教会也向佃户征收</a:t>
                      </a:r>
                      <a:r>
                        <a:rPr lang="zh-CN" altLang="en-US" sz="20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什一税。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h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122376">
                <a:tc rowSpan="3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农奴的身份和地位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2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一般每周要为领主劳动3天，剩下的时间才属于自己，这是农奴交纳的</a:t>
                      </a:r>
                      <a:r>
                        <a:rPr lang="zh-CN" altLang="en-US" sz="2000" b="0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劳役地租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农奴承担的人身义务还包括交纳人头税、结婚税、继承税等。农奴不能随意离开领主，如果私自离开庄园，领主有权抓捕。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h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5772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2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庄园法庭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作用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维护庄园公共秩序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5772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主持者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领主或他的管家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6" name="文本4"/>
          <p:cNvSpPr txBox="1"/>
          <p:nvPr/>
        </p:nvSpPr>
        <p:spPr>
          <a:xfrm>
            <a:off x="3756393" y="4156520"/>
            <a:ext cx="8618717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华文中宋"/>
                <a:ea typeface="华文中宋"/>
              </a:rPr>
              <a:t>具有一定的契约关系，统治与被统治、剥削与被剥削关系</a:t>
            </a:r>
          </a:p>
        </p:txBody>
      </p:sp>
      <p:sp>
        <p:nvSpPr>
          <p:cNvPr id="7" name="文本5"/>
          <p:cNvSpPr txBox="1"/>
          <p:nvPr/>
        </p:nvSpPr>
        <p:spPr>
          <a:xfrm>
            <a:off x="2474976" y="1972666"/>
            <a:ext cx="9717291" cy="92484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庄园既是一个</a:t>
            </a:r>
            <a:r>
              <a:rPr lang="zh-CN" altLang="en-US" sz="2000" b="1" i="0" dirty="0">
                <a:solidFill>
                  <a:srgbClr val="C00000">
                    <a:alpha val="100000"/>
                  </a:srgbClr>
                </a:solidFill>
                <a:latin typeface="方正粗黑宋简体"/>
                <a:ea typeface="方正粗黑宋简体"/>
              </a:rPr>
              <a:t>自给自足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的经济组织，</a:t>
            </a:r>
            <a:r>
              <a:rPr lang="zh-CN" altLang="en-US" sz="2000" b="1" i="0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也是相对独立的政治单位，是西欧封建制度的基础。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（中世纪西欧封闭落后的重要原因）</a:t>
            </a:r>
          </a:p>
        </p:txBody>
      </p:sp>
      <p:sp>
        <p:nvSpPr>
          <p:cNvPr id="8" name="文本6"/>
          <p:cNvSpPr txBox="1"/>
          <p:nvPr/>
        </p:nvSpPr>
        <p:spPr>
          <a:xfrm>
            <a:off x="2986202" y="2842327"/>
            <a:ext cx="4597654" cy="55767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领主+佃户（自由农+缺少自由的农奴）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45" y="0"/>
            <a:ext cx="10511625" cy="3800247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459354" y="3379470"/>
            <a:ext cx="11598634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【答案】</a:t>
            </a:r>
            <a:r>
              <a:rPr lang="zh-CN" altLang="en-US" sz="24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庄园法庭是领主实行统治的工具，维护领主的经济特权;在一定程度上规范领主与佃户的关系，维护庄园内部的秩序。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459038" y="4944189"/>
            <a:ext cx="11598633" cy="13908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【答案】</a:t>
            </a:r>
            <a:r>
              <a:rPr lang="zh-CN" altLang="en-US" sz="24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二者并非孤立存在，而是通过土地垄断、司法特权、人身依附形成相互支撑的体系。庄园法庭的罚款机制，既是经济剥削的具体手段，也是封建领主将政治权力转化为经济控制力的方式，共同维护以等级依附为核心的西欧封建秩序。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576635" y="4146813"/>
            <a:ext cx="11425693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一材多问</a:t>
            </a: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:依据材料，分析这种经济控制手段是如何与封君封臣制度的政治结构相互关联，共同维系封建秩序的。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13737" y="135246"/>
            <a:ext cx="7493259" cy="77527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32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归纳总结：中西封建制度对比</a:t>
            </a:r>
          </a:p>
        </p:txBody>
      </p:sp>
      <p:graphicFrame>
        <p:nvGraphicFramePr>
          <p:cNvPr id="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954456" y="1514855"/>
          <a:ext cx="9430949" cy="2445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249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3567173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4605527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657169"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类别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31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西欧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31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中国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5945"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政治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5945"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经济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5945">
                <a:tc rowSpan="1" gridSpan="1">
                  <a:txBody>
                    <a:bodyPr anchor="t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4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思想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4" name="文本2"/>
          <p:cNvSpPr txBox="1"/>
          <p:nvPr/>
        </p:nvSpPr>
        <p:spPr>
          <a:xfrm>
            <a:off x="4078500" y="2267369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封君封臣制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3187256" y="2918984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庄园经济（自给自足）</a:t>
            </a:r>
          </a:p>
        </p:txBody>
      </p:sp>
      <p:sp>
        <p:nvSpPr>
          <p:cNvPr id="6" name="文本4"/>
          <p:cNvSpPr txBox="1"/>
          <p:nvPr/>
        </p:nvSpPr>
        <p:spPr>
          <a:xfrm>
            <a:off x="4468244" y="3437058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教会</a:t>
            </a:r>
          </a:p>
        </p:txBody>
      </p:sp>
      <p:sp>
        <p:nvSpPr>
          <p:cNvPr id="7" name="文本5"/>
          <p:cNvSpPr txBox="1"/>
          <p:nvPr/>
        </p:nvSpPr>
        <p:spPr>
          <a:xfrm>
            <a:off x="7484374" y="2174996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君主专制中央集权</a:t>
            </a:r>
          </a:p>
        </p:txBody>
      </p:sp>
      <p:sp>
        <p:nvSpPr>
          <p:cNvPr id="8" name="文本6"/>
          <p:cNvSpPr txBox="1"/>
          <p:nvPr/>
        </p:nvSpPr>
        <p:spPr>
          <a:xfrm>
            <a:off x="8006944" y="2784910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小农经济（自给自足）</a:t>
            </a:r>
          </a:p>
        </p:txBody>
      </p:sp>
      <p:sp>
        <p:nvSpPr>
          <p:cNvPr id="9" name="文本7"/>
          <p:cNvSpPr txBox="1"/>
          <p:nvPr/>
        </p:nvSpPr>
        <p:spPr>
          <a:xfrm>
            <a:off x="8481070" y="3324330"/>
            <a:ext cx="3711251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方正粗黑宋简体"/>
                <a:ea typeface="方正粗黑宋简体"/>
              </a:rPr>
              <a:t>儒学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07997" y="55635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2. 西欧城市争取自由或自治的方式有什么？自由城市有什么权利和局限？城市居民有哪些人构成？如何获得市民身份？早期资产阶级一般有哪些人？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一、西欧城市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917553" y="6197352"/>
            <a:ext cx="35983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第8课 西欧的城市和大学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6" y="1556867"/>
            <a:ext cx="7923669" cy="4422513"/>
          </a:xfrm>
          <a:prstGeom prst="rect">
            <a:avLst/>
          </a:prstGeom>
          <a:ln w="9525">
            <a:solidFill>
              <a:srgbClr val="000000">
                <a:alpha val="100000"/>
              </a:srgbClr>
            </a:solidFill>
            <a:prstDash val="solid"/>
          </a:ln>
        </p:spPr>
      </p:pic>
      <p:sp>
        <p:nvSpPr>
          <p:cNvPr id="6" name="文本4"/>
          <p:cNvSpPr txBox="1"/>
          <p:nvPr/>
        </p:nvSpPr>
        <p:spPr>
          <a:xfrm>
            <a:off x="123758" y="1951882"/>
            <a:ext cx="3521684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C00000">
                    <a:alpha val="100000"/>
                  </a:srgbClr>
                </a:solidFill>
                <a:latin typeface="方正粗黑宋简体"/>
                <a:ea typeface="方正粗黑宋简体"/>
              </a:rPr>
              <a:t>背景：</a:t>
            </a:r>
          </a:p>
        </p:txBody>
      </p:sp>
      <p:sp>
        <p:nvSpPr>
          <p:cNvPr id="7" name="形状1"/>
          <p:cNvSpPr txBox="1"/>
          <p:nvPr/>
        </p:nvSpPr>
        <p:spPr>
          <a:xfrm>
            <a:off x="3609480" y="3108042"/>
            <a:ext cx="4447135" cy="28575"/>
          </a:xfrm>
          <a:prstGeom prst="line"/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2"/>
          <p:cNvSpPr txBox="1"/>
          <p:nvPr/>
        </p:nvSpPr>
        <p:spPr>
          <a:xfrm>
            <a:off x="509796" y="4063523"/>
            <a:ext cx="7004187" cy="28575"/>
          </a:xfrm>
          <a:prstGeom prst="line"/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9" name="组合1"/>
          <p:cNvGrpSpPr/>
          <p:nvPr/>
        </p:nvGrpSpPr>
        <p:grpSpPr>
          <a:xfrm>
            <a:off x="8185722" y="2198733"/>
            <a:ext cx="3747788" cy="2027225"/>
            <a:chOff x="0" y="0"/>
            <a:chExt cx="3747788" cy="2027225"/>
          </a:xfrm>
        </p:grpSpPr>
        <p:sp>
          <p:nvSpPr>
            <p:cNvPr id="10" name="形状3"/>
            <p:cNvSpPr txBox="1"/>
            <p:nvPr/>
          </p:nvSpPr>
          <p:spPr>
            <a:xfrm>
              <a:off x="3810" y="49530"/>
              <a:ext cx="3743978" cy="1938992"/>
            </a:xfrm>
            <a:prstGeom prst="rect"/>
            <a:solidFill>
              <a:srgbClr val="FFF2CC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文本6"/>
            <p:cNvSpPr txBox="1"/>
            <p:nvPr/>
          </p:nvSpPr>
          <p:spPr>
            <a:xfrm>
              <a:off x="0" y="0"/>
              <a:ext cx="3743978" cy="202722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C00000">
                      <a:alpha val="100000"/>
                    </a:srgbClr>
                  </a:solidFill>
                  <a:latin typeface="宋体"/>
                  <a:ea typeface="宋体"/>
                </a:rPr>
                <a:t>意义：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城市是西欧中世纪晚期经济复苏的标志，打破了庄园经济的封闭性，</a:t>
              </a: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为后来资本主义萌芽奠定了经济基础。</a:t>
              </a:r>
            </a:p>
          </p:txBody>
        </p:sp>
      </p:grpSp>
      <p:sp>
        <p:nvSpPr>
          <p:cNvPr id="12" name="文本5"/>
          <p:cNvSpPr txBox="1"/>
          <p:nvPr/>
        </p:nvSpPr>
        <p:spPr>
          <a:xfrm>
            <a:off x="-66561" y="3397377"/>
            <a:ext cx="3521684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400" b="0" i="0" dirty="0">
                <a:solidFill>
                  <a:srgbClr val="C00000">
                    <a:alpha val="100000"/>
                  </a:srgbClr>
                </a:solidFill>
                <a:latin typeface="方正粗黑宋简体"/>
                <a:ea typeface="方正粗黑宋简体"/>
              </a:rPr>
              <a:t>表现：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08" y="568176"/>
            <a:ext cx="6581775" cy="59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95" y="820903"/>
            <a:ext cx="4868389" cy="2608659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37" y="3388633"/>
            <a:ext cx="7887510" cy="3371850"/>
          </a:xfrm>
          <a:prstGeom prst="rect">
            <a:avLst/>
          </a:prstGeom>
        </p:spPr>
      </p:pic>
      <p:sp>
        <p:nvSpPr>
          <p:cNvPr id="4" name="文本1"/>
          <p:cNvSpPr txBox="1"/>
          <p:nvPr/>
        </p:nvSpPr>
        <p:spPr>
          <a:xfrm>
            <a:off x="339757" y="21023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2. </a:t>
            </a: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华文楷体"/>
                <a:ea typeface="华文楷体"/>
              </a:rPr>
              <a:t>西欧城市争取自由或自治的方式有什么？自由城市有什么权利和局限？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城市居民有哪些人构成？如何获得市民身份？早期资产阶级一般有哪些人？</a:t>
            </a:r>
          </a:p>
        </p:txBody>
      </p:sp>
      <p:sp>
        <p:nvSpPr>
          <p:cNvPr id="5" name="形状1"/>
          <p:cNvSpPr txBox="1"/>
          <p:nvPr/>
        </p:nvSpPr>
        <p:spPr>
          <a:xfrm>
            <a:off x="2762906" y="2310129"/>
            <a:ext cx="2951682" cy="1191"/>
          </a:xfrm>
          <a:prstGeom prst="line"/>
          <a:solidFill>
            <a:srgbClr val="166EE1">
              <a:alpha val="100000"/>
            </a:srgbClr>
          </a:solidFill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文本2"/>
          <p:cNvSpPr txBox="1"/>
          <p:nvPr/>
        </p:nvSpPr>
        <p:spPr>
          <a:xfrm>
            <a:off x="573710" y="1531372"/>
            <a:ext cx="951824" cy="885825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斗争方式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639442" y="3429381"/>
            <a:ext cx="1159495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权利</a:t>
            </a:r>
          </a:p>
        </p:txBody>
      </p:sp>
      <p:sp>
        <p:nvSpPr>
          <p:cNvPr id="8" name="形状2"/>
          <p:cNvSpPr txBox="1"/>
          <p:nvPr/>
        </p:nvSpPr>
        <p:spPr>
          <a:xfrm flipV="1">
            <a:off x="2218172" y="3937287"/>
            <a:ext cx="5092754" cy="1191"/>
          </a:xfrm>
          <a:prstGeom prst="line"/>
          <a:solidFill>
            <a:srgbClr val="166EE1">
              <a:alpha val="100000"/>
            </a:srgbClr>
          </a:solidFill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3"/>
          <p:cNvSpPr txBox="1"/>
          <p:nvPr/>
        </p:nvSpPr>
        <p:spPr>
          <a:xfrm flipV="1">
            <a:off x="2218725" y="4361274"/>
            <a:ext cx="4728755" cy="1191"/>
          </a:xfrm>
          <a:prstGeom prst="line"/>
          <a:solidFill>
            <a:srgbClr val="166EE1">
              <a:alpha val="100000"/>
            </a:srgbClr>
          </a:solidFill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3772214" y="4488704"/>
            <a:ext cx="1159495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局限性</a:t>
            </a:r>
          </a:p>
        </p:txBody>
      </p:sp>
      <p:sp>
        <p:nvSpPr>
          <p:cNvPr id="11" name="文本5"/>
          <p:cNvSpPr txBox="1"/>
          <p:nvPr/>
        </p:nvSpPr>
        <p:spPr>
          <a:xfrm>
            <a:off x="7383037" y="4342609"/>
            <a:ext cx="4572000" cy="239353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4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争取城市自治权的标志性事件，本质是工商业者反抗封建领主剥削、争取政治权利的阶级斗争，为后续西欧城市自治运动树立了范本。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07997" y="556356"/>
            <a:ext cx="11907855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2. 西欧城市争取自由或自治的方式有什么？自由城市有什么权利和局限？</a:t>
            </a: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华文楷体"/>
                <a:ea typeface="华文楷体"/>
              </a:rPr>
              <a:t>城市居民有哪些人构成？如何获得市民身份？早期资产阶级一般有哪些人？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二、市民阶级出现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917553" y="6197352"/>
            <a:ext cx="359830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843C0B">
                    <a:alpha val="100000"/>
                  </a:srgbClr>
                </a:solidFill>
                <a:latin typeface="宋体"/>
                <a:ea typeface="宋体"/>
              </a:rPr>
              <a:t>第8课 西欧的城市和大学</a:t>
            </a:r>
          </a:p>
        </p:txBody>
      </p:sp>
      <p:graphicFrame>
        <p:nvGraphicFramePr>
          <p:cNvPr id="5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37321" y="1520336"/>
          <a:ext cx="11717355" cy="461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9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22450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72036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61228">
                <a:tc rowSpan="4" gridSpan="1">
                  <a:txBody>
                    <a:bodyPr anchor="ctr"/>
                    <a:lstStyle/>
                    <a:p>
                      <a:pPr marL="0" algn="ctr">
                        <a:lnSpc>
                          <a:spcPts val="37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市民阶层的出现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市民构成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950777">
                <a:tc rowSpan="3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市民自由特权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157744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阶级分化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40370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历史地位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6" name="文本4"/>
          <p:cNvSpPr txBox="1"/>
          <p:nvPr/>
        </p:nvSpPr>
        <p:spPr>
          <a:xfrm>
            <a:off x="2273630" y="1470806"/>
            <a:ext cx="9867736" cy="99187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手工业者和商人</a:t>
            </a:r>
          </a:p>
        </p:txBody>
      </p:sp>
      <p:sp>
        <p:nvSpPr>
          <p:cNvPr id="7" name="文本5"/>
          <p:cNvSpPr txBox="1"/>
          <p:nvPr/>
        </p:nvSpPr>
        <p:spPr>
          <a:xfrm>
            <a:off x="2273630" y="2267182"/>
            <a:ext cx="9867735" cy="209986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农奴一旦进入城市，工作和生活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满一年零一天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，就可能获得市民身份，成为自由人。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（中世纪西欧城市享有自由与自治特权，农奴在城市住满规定期限后，可获得市民身份，摆脱领主的人身控制，这就是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“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城市的空气使人自由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”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的含义。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</a:rPr>
              <a:t>“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城市自由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</a:rPr>
              <a:t>”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的实质本质是用城市的经济特权换取农奴的人生解放。从根本上冲击了庄园制的经济基础，</a:t>
            </a:r>
            <a:r>
              <a:rPr lang="zh-CN" altLang="en-US" sz="2000" b="1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加速了庄园制的瓦解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）</a:t>
            </a:r>
          </a:p>
        </p:txBody>
      </p:sp>
      <p:sp>
        <p:nvSpPr>
          <p:cNvPr id="8" name="文本6"/>
          <p:cNvSpPr txBox="1"/>
          <p:nvPr/>
        </p:nvSpPr>
        <p:spPr>
          <a:xfrm>
            <a:off x="2273630" y="4117429"/>
            <a:ext cx="9867734" cy="136120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随着工商业繁荣和城市发展，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市民阶层逐渐形成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。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城市手工业者和商人不断分化，出现富裕的</a:t>
            </a:r>
            <a:r>
              <a:rPr lang="zh-CN" altLang="en-US" sz="2000" b="1" i="0" u="sng" dirty="0">
                <a:solidFill>
                  <a:srgbClr val="0000FF">
                    <a:alpha val="100000"/>
                  </a:srgbClr>
                </a:solidFill>
                <a:latin typeface="宋体"/>
                <a:ea typeface="宋体"/>
              </a:rPr>
              <a:t>大手工业作坊主、商人和银行家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等，他们</a:t>
            </a:r>
            <a:r>
              <a:rPr lang="zh-CN" altLang="en-US" sz="2000" b="1" i="0" u="sng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被视为资产阶级的前身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。（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中世纪西欧城市通过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行会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管理手工业者和商人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）</a:t>
            </a:r>
          </a:p>
        </p:txBody>
      </p:sp>
      <p:sp>
        <p:nvSpPr>
          <p:cNvPr id="9" name="文本7"/>
          <p:cNvSpPr txBox="1"/>
          <p:nvPr/>
        </p:nvSpPr>
        <p:spPr>
          <a:xfrm>
            <a:off x="2172859" y="5312526"/>
            <a:ext cx="9867734" cy="97244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市民阶层是中世纪西欧新兴的社会力量，打破了传统贵族—农奴的二元社会结构，</a:t>
            </a:r>
            <a:r>
              <a:rPr lang="zh-CN" altLang="en-US" sz="2000" b="1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为近代欧洲社会转型奠定阶级基础。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11" y="1326004"/>
            <a:ext cx="12192000" cy="3806855"/>
          </a:xfrm>
          <a:prstGeom prst="rect">
            <a:avLst/>
          </a:prstGeom>
          <a:ln w="9525">
            <a:solidFill>
              <a:srgbClr val="C00000">
                <a:alpha val="100000"/>
              </a:srgb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60" y="372685"/>
            <a:ext cx="7141283" cy="6219825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268241" y="657421"/>
            <a:ext cx="822030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原因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1150839" y="700688"/>
            <a:ext cx="495300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①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3297174" y="986638"/>
            <a:ext cx="495300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②</a:t>
            </a:r>
          </a:p>
        </p:txBody>
      </p:sp>
      <p:sp>
        <p:nvSpPr>
          <p:cNvPr id="6" name="形状1"/>
          <p:cNvSpPr txBox="1"/>
          <p:nvPr/>
        </p:nvSpPr>
        <p:spPr>
          <a:xfrm>
            <a:off x="1477204" y="1177614"/>
            <a:ext cx="4838001" cy="57150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2"/>
          <p:cNvSpPr txBox="1"/>
          <p:nvPr/>
        </p:nvSpPr>
        <p:spPr>
          <a:xfrm>
            <a:off x="1295895" y="1532782"/>
            <a:ext cx="2156649" cy="1191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3"/>
          <p:cNvSpPr txBox="1"/>
          <p:nvPr/>
        </p:nvSpPr>
        <p:spPr>
          <a:xfrm>
            <a:off x="3792436" y="1532820"/>
            <a:ext cx="2437952" cy="1191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4"/>
          <p:cNvSpPr txBox="1"/>
          <p:nvPr/>
        </p:nvSpPr>
        <p:spPr>
          <a:xfrm>
            <a:off x="1125826" y="1887260"/>
            <a:ext cx="2456493" cy="1191"/>
          </a:xfrm>
          <a:prstGeom prst="line"/>
          <a:solidFill>
            <a:srgbClr val="FFFFFF">
              <a:alpha val="0"/>
            </a:srgbClr>
          </a:solidFill>
          <a:ln w="5715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2413492" y="456381"/>
            <a:ext cx="1038353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内因</a:t>
            </a:r>
          </a:p>
        </p:txBody>
      </p:sp>
      <p:sp>
        <p:nvSpPr>
          <p:cNvPr id="11" name="文本5"/>
          <p:cNvSpPr txBox="1"/>
          <p:nvPr/>
        </p:nvSpPr>
        <p:spPr>
          <a:xfrm>
            <a:off x="160010" y="1394050"/>
            <a:ext cx="1038353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2399" b="0" i="0" dirty="0">
                <a:solidFill>
                  <a:srgbClr val="3B00FF">
                    <a:alpha val="100000"/>
                  </a:srgbClr>
                </a:solidFill>
                <a:latin typeface="宋体"/>
                <a:ea typeface="宋体"/>
              </a:rPr>
              <a:t>外因</a:t>
            </a:r>
          </a:p>
        </p:txBody>
      </p:sp>
      <p:sp>
        <p:nvSpPr>
          <p:cNvPr id="12" name="形状5"/>
          <p:cNvSpPr txBox="1"/>
          <p:nvPr/>
        </p:nvSpPr>
        <p:spPr>
          <a:xfrm>
            <a:off x="3019882" y="2114198"/>
            <a:ext cx="2226231" cy="334956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3B00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6"/>
          <p:cNvSpPr txBox="1"/>
          <p:nvPr/>
        </p:nvSpPr>
        <p:spPr>
          <a:xfrm>
            <a:off x="2527068" y="4130735"/>
            <a:ext cx="770096" cy="334956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3B00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形状7"/>
          <p:cNvSpPr txBox="1"/>
          <p:nvPr/>
        </p:nvSpPr>
        <p:spPr>
          <a:xfrm>
            <a:off x="1601210" y="4839157"/>
            <a:ext cx="812368" cy="334956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3B00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形状8"/>
          <p:cNvSpPr txBox="1"/>
          <p:nvPr/>
        </p:nvSpPr>
        <p:spPr>
          <a:xfrm>
            <a:off x="2925108" y="6051690"/>
            <a:ext cx="1597581" cy="334956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 animBg="1"/>
      <p:bldP spid="5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29491" y="7058"/>
            <a:ext cx="5272762" cy="684496"/>
            <a:chOff x="0" y="0"/>
            <a:chExt cx="5272762" cy="684496"/>
          </a:xfrm>
        </p:grpSpPr>
        <p:sp>
          <p:nvSpPr>
            <p:cNvPr id="3" name="形状4"/>
            <p:cNvSpPr txBox="1"/>
            <p:nvPr/>
          </p:nvSpPr>
          <p:spPr>
            <a:xfrm>
              <a:off x="0" y="94858"/>
              <a:ext cx="5247788" cy="589638"/>
            </a:xfrm>
            <a:prstGeom prst="roundRect"/>
            <a:solidFill>
              <a:srgbClr val="FFC000">
                <a:alpha val="100000"/>
              </a:srgbClr>
            </a:solidFill>
            <a:ln w="12700">
              <a:solidFill>
                <a:srgbClr val="446DA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24974" y="0"/>
              <a:ext cx="5247788" cy="6802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西欧社会变化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874395" y="745490"/>
            <a:ext cx="10718165" cy="1143635"/>
            <a:chOff x="0" y="0"/>
            <a:chExt cx="10718165" cy="1143635"/>
          </a:xfrm>
        </p:grpSpPr>
        <p:sp>
          <p:nvSpPr>
            <p:cNvPr id="6" name="文本3"/>
            <p:cNvSpPr txBox="1"/>
            <p:nvPr/>
          </p:nvSpPr>
          <p:spPr>
            <a:xfrm>
              <a:off x="904240" y="123190"/>
              <a:ext cx="9813925" cy="102044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ln w="7144">
                    <a:solidFill>
                      <a:srgbClr val="FFFFFF">
                        <a:alpha val="100000"/>
                      </a:srgbClr>
                    </a:solidFill>
                  </a:ln>
                  <a:solidFill>
                    <a:srgbClr val="000000">
                      <a:alpha val="100000"/>
                    </a:srgbClr>
                  </a:solidFill>
                  <a:effectLst>
                    <a:outerShdw blurRad="12700" dist="38100" dir="2700000" rotWithShape="0">
                      <a:srgbClr val="7F7F7F">
                        <a:alpha val="100000"/>
                      </a:srgbClr>
                    </a:outerShdw>
                  </a:effectLst>
                  <a:latin typeface="汉仪铸字烈焰体W"/>
                  <a:ea typeface="汉仪铸字烈焰体W"/>
                </a:rPr>
                <a:t>根据所学，你如何理解“城市的空气使人自由”？</a:t>
              </a:r>
            </a:p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ln w="7144">
                    <a:solidFill>
                      <a:srgbClr val="FFFFFF">
                        <a:alpha val="100000"/>
                      </a:srgbClr>
                    </a:solidFill>
                  </a:ln>
                  <a:solidFill>
                    <a:srgbClr val="000000">
                      <a:alpha val="100000"/>
                    </a:srgbClr>
                  </a:solidFill>
                  <a:effectLst>
                    <a:outerShdw blurRad="12700" dist="38100" dir="2700000" rotWithShape="0">
                      <a:srgbClr val="7F7F7F">
                        <a:alpha val="100000"/>
                      </a:srgbClr>
                    </a:outerShdw>
                  </a:effectLst>
                  <a:latin typeface="汉仪铸字烈焰体W"/>
                  <a:ea typeface="汉仪铸字烈焰体W"/>
                </a:rPr>
                <a:t>（西欧封建社会有哪些变化，这些新发展与变化有何共同作用？）</a:t>
              </a:r>
            </a:p>
          </p:txBody>
        </p:sp>
        <p:pic>
          <p:nvPicPr>
            <p:cNvPr id="7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48055" cy="966470"/>
            </a:xfrm>
            <a:prstGeom prst="rect">
              <a:avLst/>
            </a:prstGeom>
          </p:spPr>
        </p:pic>
      </p:grpSp>
      <p:grpSp>
        <p:nvGrpSpPr>
          <p:cNvPr id="8" name="组合3"/>
          <p:cNvGrpSpPr/>
          <p:nvPr/>
        </p:nvGrpSpPr>
        <p:grpSpPr>
          <a:xfrm>
            <a:off x="762866" y="2179315"/>
            <a:ext cx="3048613" cy="1101153"/>
            <a:chOff x="0" y="0"/>
            <a:chExt cx="3048613" cy="1101153"/>
          </a:xfrm>
        </p:grpSpPr>
        <p:sp>
          <p:nvSpPr>
            <p:cNvPr id="9" name="形状5"/>
            <p:cNvSpPr txBox="1"/>
            <p:nvPr/>
          </p:nvSpPr>
          <p:spPr>
            <a:xfrm>
              <a:off x="0" y="45545"/>
              <a:ext cx="3000892" cy="1055608"/>
            </a:xfrm>
            <a:prstGeom prst="roundRect"/>
            <a:solidFill>
              <a:srgbClr val="2094CE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4"/>
            <p:cNvSpPr txBox="1"/>
            <p:nvPr/>
          </p:nvSpPr>
          <p:spPr>
            <a:xfrm>
              <a:off x="47721" y="0"/>
              <a:ext cx="3000892" cy="104763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思想上：</a:t>
              </a:r>
            </a:p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基督教教会</a:t>
              </a:r>
            </a:p>
          </p:txBody>
        </p:sp>
      </p:grpSp>
      <p:grpSp>
        <p:nvGrpSpPr>
          <p:cNvPr id="11" name="组合4"/>
          <p:cNvGrpSpPr/>
          <p:nvPr/>
        </p:nvGrpSpPr>
        <p:grpSpPr>
          <a:xfrm>
            <a:off x="703176" y="3548375"/>
            <a:ext cx="3077179" cy="1101153"/>
            <a:chOff x="0" y="0"/>
            <a:chExt cx="3077179" cy="1101153"/>
          </a:xfrm>
        </p:grpSpPr>
        <p:sp>
          <p:nvSpPr>
            <p:cNvPr id="12" name="形状6"/>
            <p:cNvSpPr txBox="1"/>
            <p:nvPr/>
          </p:nvSpPr>
          <p:spPr>
            <a:xfrm>
              <a:off x="0" y="45545"/>
              <a:ext cx="3029458" cy="1055608"/>
            </a:xfrm>
            <a:prstGeom prst="roundRect"/>
            <a:solidFill>
              <a:srgbClr val="2094CE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47721" y="0"/>
              <a:ext cx="3029458" cy="104763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政治上：</a:t>
              </a:r>
            </a:p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封君封臣制度</a:t>
              </a:r>
            </a:p>
          </p:txBody>
        </p:sp>
      </p:grpSp>
      <p:grpSp>
        <p:nvGrpSpPr>
          <p:cNvPr id="14" name="组合5"/>
          <p:cNvGrpSpPr/>
          <p:nvPr/>
        </p:nvGrpSpPr>
        <p:grpSpPr>
          <a:xfrm>
            <a:off x="734291" y="4917435"/>
            <a:ext cx="3077179" cy="1101153"/>
            <a:chOff x="0" y="0"/>
            <a:chExt cx="3077179" cy="1101153"/>
          </a:xfrm>
        </p:grpSpPr>
        <p:sp>
          <p:nvSpPr>
            <p:cNvPr id="15" name="形状7"/>
            <p:cNvSpPr txBox="1"/>
            <p:nvPr/>
          </p:nvSpPr>
          <p:spPr>
            <a:xfrm>
              <a:off x="0" y="45545"/>
              <a:ext cx="3029458" cy="1055608"/>
            </a:xfrm>
            <a:prstGeom prst="roundRect"/>
            <a:solidFill>
              <a:srgbClr val="2094CE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6"/>
            <p:cNvSpPr txBox="1"/>
            <p:nvPr/>
          </p:nvSpPr>
          <p:spPr>
            <a:xfrm>
              <a:off x="47721" y="0"/>
              <a:ext cx="3029458" cy="104763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经济上：</a:t>
              </a:r>
            </a:p>
            <a:p>
              <a:pPr marL="0" algn="ctr">
                <a:lnSpc>
                  <a:spcPts val="31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方正粗黑宋简体"/>
                  <a:ea typeface="方正粗黑宋简体"/>
                </a:rPr>
                <a:t>庄园制度</a:t>
              </a:r>
            </a:p>
          </p:txBody>
        </p:sp>
      </p:grpSp>
      <p:grpSp>
        <p:nvGrpSpPr>
          <p:cNvPr id="17" name="组合6"/>
          <p:cNvGrpSpPr/>
          <p:nvPr/>
        </p:nvGrpSpPr>
        <p:grpSpPr>
          <a:xfrm>
            <a:off x="3763749" y="2732821"/>
            <a:ext cx="1563333" cy="2842895"/>
            <a:chOff x="0" y="0"/>
            <a:chExt cx="1563333" cy="2842895"/>
          </a:xfrm>
        </p:grpSpPr>
        <p:sp>
          <p:nvSpPr>
            <p:cNvPr id="18" name="形状8"/>
            <p:cNvSpPr txBox="1"/>
            <p:nvPr/>
          </p:nvSpPr>
          <p:spPr>
            <a:xfrm>
              <a:off x="0" y="0"/>
              <a:ext cx="528141" cy="9525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9"/>
            <p:cNvSpPr txBox="1"/>
            <p:nvPr/>
          </p:nvSpPr>
          <p:spPr>
            <a:xfrm>
              <a:off x="12052" y="2833370"/>
              <a:ext cx="528141" cy="9525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形状10"/>
            <p:cNvSpPr txBox="1"/>
            <p:nvPr/>
          </p:nvSpPr>
          <p:spPr>
            <a:xfrm flipH="1">
              <a:off x="540194" y="0"/>
              <a:ext cx="9525" cy="2833370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1" name="形状11"/>
            <p:cNvSpPr txBox="1"/>
            <p:nvPr/>
          </p:nvSpPr>
          <p:spPr>
            <a:xfrm rot="10800000" flipH="1">
              <a:off x="540194" y="1462995"/>
              <a:ext cx="1023139" cy="8113"/>
            </a:xfrm>
            <a:prstGeom prst="straightConnector1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dash"/>
              <a:tailEnd type="triangl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2" name="文本1"/>
          <p:cNvSpPr txBox="1"/>
          <p:nvPr/>
        </p:nvSpPr>
        <p:spPr>
          <a:xfrm>
            <a:off x="4369235" y="3292619"/>
            <a:ext cx="1084580" cy="92773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7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变化</a:t>
            </a:r>
          </a:p>
        </p:txBody>
      </p:sp>
      <p:grpSp>
        <p:nvGrpSpPr>
          <p:cNvPr id="23" name="组合7"/>
          <p:cNvGrpSpPr/>
          <p:nvPr/>
        </p:nvGrpSpPr>
        <p:grpSpPr>
          <a:xfrm>
            <a:off x="5327273" y="2723296"/>
            <a:ext cx="549719" cy="2842895"/>
            <a:chOff x="0" y="0"/>
            <a:chExt cx="549719" cy="2842895"/>
          </a:xfrm>
        </p:grpSpPr>
        <p:sp>
          <p:nvSpPr>
            <p:cNvPr id="24" name="形状12"/>
            <p:cNvSpPr txBox="1"/>
            <p:nvPr/>
          </p:nvSpPr>
          <p:spPr>
            <a:xfrm rot="10800000">
              <a:off x="21577" y="2833370"/>
              <a:ext cx="528142" cy="9525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5" name="形状13"/>
            <p:cNvSpPr txBox="1"/>
            <p:nvPr/>
          </p:nvSpPr>
          <p:spPr>
            <a:xfrm rot="10800000">
              <a:off x="9525" y="0"/>
              <a:ext cx="528142" cy="9525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6" name="形状14"/>
            <p:cNvSpPr txBox="1"/>
            <p:nvPr/>
          </p:nvSpPr>
          <p:spPr>
            <a:xfrm rot="10800000" flipH="1">
              <a:off x="0" y="9525"/>
              <a:ext cx="9525" cy="2833370"/>
            </a:xfrm>
            <a:prstGeom prst="line"/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</p:grpSp>
      <p:grpSp>
        <p:nvGrpSpPr>
          <p:cNvPr id="27" name="组合8"/>
          <p:cNvGrpSpPr/>
          <p:nvPr/>
        </p:nvGrpSpPr>
        <p:grpSpPr>
          <a:xfrm>
            <a:off x="5929734" y="1989720"/>
            <a:ext cx="3892951" cy="1360062"/>
            <a:chOff x="0" y="0"/>
            <a:chExt cx="3892951" cy="1360062"/>
          </a:xfrm>
        </p:grpSpPr>
        <p:sp>
          <p:nvSpPr>
            <p:cNvPr id="28" name="形状15"/>
            <p:cNvSpPr txBox="1"/>
            <p:nvPr/>
          </p:nvSpPr>
          <p:spPr>
            <a:xfrm>
              <a:off x="0" y="31526"/>
              <a:ext cx="3831907" cy="1328536"/>
            </a:xfrm>
            <a:prstGeom prst="roundRect"/>
            <a:solidFill>
              <a:srgbClr val="15638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9" name="文本7"/>
            <p:cNvSpPr txBox="1"/>
            <p:nvPr/>
          </p:nvSpPr>
          <p:spPr>
            <a:xfrm>
              <a:off x="61044" y="0"/>
              <a:ext cx="3831907" cy="129252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方正粗金陵简体"/>
                  <a:ea typeface="方正粗金陵简体"/>
                </a:rPr>
                <a:t>大学兴起，逐渐冲破教会的思想控制，为文艺复兴奠定了基础</a:t>
              </a:r>
            </a:p>
          </p:txBody>
        </p:sp>
      </p:grpSp>
      <p:grpSp>
        <p:nvGrpSpPr>
          <p:cNvPr id="30" name="组合9"/>
          <p:cNvGrpSpPr/>
          <p:nvPr/>
        </p:nvGrpSpPr>
        <p:grpSpPr>
          <a:xfrm>
            <a:off x="5953864" y="3617063"/>
            <a:ext cx="3902840" cy="971992"/>
            <a:chOff x="0" y="0"/>
            <a:chExt cx="3902840" cy="971992"/>
          </a:xfrm>
        </p:grpSpPr>
        <p:sp>
          <p:nvSpPr>
            <p:cNvPr id="31" name="形状16"/>
            <p:cNvSpPr txBox="1"/>
            <p:nvPr/>
          </p:nvSpPr>
          <p:spPr>
            <a:xfrm>
              <a:off x="0" y="52253"/>
              <a:ext cx="3861752" cy="919739"/>
            </a:xfrm>
            <a:prstGeom prst="roundRect"/>
            <a:solidFill>
              <a:srgbClr val="15638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2" name="文本8"/>
            <p:cNvSpPr txBox="1"/>
            <p:nvPr/>
          </p:nvSpPr>
          <p:spPr>
            <a:xfrm>
              <a:off x="41088" y="0"/>
              <a:ext cx="3861752" cy="925186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方正粗金陵简体"/>
                  <a:ea typeface="方正粗金陵简体"/>
                </a:rPr>
                <a:t>城市兴起，城市获得自由和自治的权利</a:t>
              </a:r>
            </a:p>
          </p:txBody>
        </p:sp>
      </p:grpSp>
      <p:grpSp>
        <p:nvGrpSpPr>
          <p:cNvPr id="33" name="组合10"/>
          <p:cNvGrpSpPr/>
          <p:nvPr/>
        </p:nvGrpSpPr>
        <p:grpSpPr>
          <a:xfrm>
            <a:off x="5934180" y="4613243"/>
            <a:ext cx="3922794" cy="2040874"/>
            <a:chOff x="0" y="0"/>
            <a:chExt cx="3922794" cy="2040874"/>
          </a:xfrm>
        </p:grpSpPr>
        <p:sp>
          <p:nvSpPr>
            <p:cNvPr id="34" name="形状17"/>
            <p:cNvSpPr txBox="1"/>
            <p:nvPr/>
          </p:nvSpPr>
          <p:spPr>
            <a:xfrm>
              <a:off x="0" y="293254"/>
              <a:ext cx="3861752" cy="1480554"/>
            </a:xfrm>
            <a:prstGeom prst="roundRect"/>
            <a:solidFill>
              <a:srgbClr val="15638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5" name="文本9"/>
            <p:cNvSpPr txBox="1"/>
            <p:nvPr/>
          </p:nvSpPr>
          <p:spPr>
            <a:xfrm>
              <a:off x="61045" y="0"/>
              <a:ext cx="3861749" cy="204087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方正粗金陵简体"/>
                  <a:ea typeface="方正粗金陵简体"/>
                </a:rPr>
                <a:t>商品经济发展，开始瓦解封建经济，出现了早期资产阶级，为资本主义的兴起准备了条件</a:t>
              </a:r>
            </a:p>
          </p:txBody>
        </p:sp>
      </p:grpSp>
      <p:sp>
        <p:nvSpPr>
          <p:cNvPr id="36" name="形状1"/>
          <p:cNvSpPr txBox="1"/>
          <p:nvPr/>
        </p:nvSpPr>
        <p:spPr>
          <a:xfrm>
            <a:off x="9909419" y="2380659"/>
            <a:ext cx="761939" cy="665297"/>
          </a:xfrm>
          <a:prstGeom prst="stripedRightArrow"/>
          <a:solidFill>
            <a:srgbClr val="15638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7" name="形状2"/>
          <p:cNvSpPr txBox="1"/>
          <p:nvPr/>
        </p:nvSpPr>
        <p:spPr>
          <a:xfrm>
            <a:off x="9899427" y="3837335"/>
            <a:ext cx="761939" cy="665297"/>
          </a:xfrm>
          <a:prstGeom prst="stripedRightArrow"/>
          <a:solidFill>
            <a:srgbClr val="15638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8" name="形状3"/>
          <p:cNvSpPr txBox="1"/>
          <p:nvPr/>
        </p:nvSpPr>
        <p:spPr>
          <a:xfrm>
            <a:off x="9889436" y="5233542"/>
            <a:ext cx="761939" cy="665297"/>
          </a:xfrm>
          <a:prstGeom prst="stripedRightArrow"/>
          <a:solidFill>
            <a:srgbClr val="15638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39" name="组合11"/>
          <p:cNvGrpSpPr/>
          <p:nvPr/>
        </p:nvGrpSpPr>
        <p:grpSpPr>
          <a:xfrm>
            <a:off x="10866014" y="1698706"/>
            <a:ext cx="678815" cy="4904793"/>
            <a:chOff x="0" y="0"/>
            <a:chExt cx="678815" cy="4904793"/>
          </a:xfrm>
        </p:grpSpPr>
        <p:sp>
          <p:nvSpPr>
            <p:cNvPr id="40" name="形状18"/>
            <p:cNvSpPr txBox="1"/>
            <p:nvPr/>
          </p:nvSpPr>
          <p:spPr>
            <a:xfrm>
              <a:off x="3810" y="49530"/>
              <a:ext cx="675005" cy="4832092"/>
            </a:xfrm>
            <a:prstGeom prst="rect"/>
            <a:solidFill>
              <a:srgbClr val="C00000">
                <a:alpha val="100000"/>
              </a:srgbClr>
            </a:solidFill>
            <a:ln w="28575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1" name="文本10"/>
            <p:cNvSpPr txBox="1"/>
            <p:nvPr/>
          </p:nvSpPr>
          <p:spPr>
            <a:xfrm>
              <a:off x="0" y="0"/>
              <a:ext cx="675005" cy="490479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300"/>
                </a:lnSpc>
              </a:pPr>
              <a:r>
                <a:rPr lang="zh-CN" altLang="en-US" sz="2800" b="1" i="0" dirty="0">
                  <a:solidFill>
                    <a:srgbClr val="FFFFFF">
                      <a:alpha val="100000"/>
                    </a:srgbClr>
                  </a:solidFill>
                  <a:latin typeface="方正粗金陵简体"/>
                  <a:ea typeface="方正粗金陵简体"/>
                </a:rPr>
                <a:t>推动西欧向近代社会转型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7" grpId="0" animBg="1"/>
      <p:bldP spid="22" grpId="0" animBg="1"/>
      <p:bldP spid="23" grpId="0" animBg="1"/>
      <p:bldP spid="27" grpId="0" animBg="1"/>
      <p:bldP spid="30" grpId="0" animBg="1"/>
      <p:bldP spid="33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" t="4180" r="2249" b="2250"/>
          <a:stretch>
            <a:fillRect/>
          </a:stretch>
        </p:blipFill>
        <p:spPr>
          <a:xfrm>
            <a:off x="3042556" y="880189"/>
            <a:ext cx="6106889" cy="4633103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3" name="形状1"/>
          <p:cNvSpPr txBox="1"/>
          <p:nvPr/>
        </p:nvSpPr>
        <p:spPr>
          <a:xfrm>
            <a:off x="2695073" y="2397411"/>
            <a:ext cx="3474828" cy="2454700"/>
          </a:xfrm>
          <a:prstGeom prst="leftArrowCallout"/>
          <a:solidFill>
            <a:srgbClr val="FFFFFF">
              <a:alpha val="0"/>
            </a:srgbClr>
          </a:solidFill>
          <a:ln w="57150">
            <a:solidFill>
              <a:srgbClr val="C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4" name="组合1"/>
          <p:cNvGrpSpPr/>
          <p:nvPr/>
        </p:nvGrpSpPr>
        <p:grpSpPr>
          <a:xfrm>
            <a:off x="144905" y="3143985"/>
            <a:ext cx="2412791" cy="597633"/>
            <a:chOff x="0" y="0"/>
            <a:chExt cx="2412791" cy="597633"/>
          </a:xfrm>
        </p:grpSpPr>
        <p:sp>
          <p:nvSpPr>
            <p:cNvPr id="5" name="形状3"/>
            <p:cNvSpPr txBox="1"/>
            <p:nvPr/>
          </p:nvSpPr>
          <p:spPr>
            <a:xfrm>
              <a:off x="0" y="5671"/>
              <a:ext cx="2411476" cy="586272"/>
            </a:xfrm>
            <a:prstGeom prst="roundRect"/>
            <a:solidFill>
              <a:srgbClr val="F0F8F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文本2"/>
            <p:cNvSpPr txBox="1"/>
            <p:nvPr/>
          </p:nvSpPr>
          <p:spPr>
            <a:xfrm>
              <a:off x="55290" y="0"/>
              <a:ext cx="2357501" cy="59763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200"/>
                </a:lnSpc>
              </a:pPr>
              <a:r>
                <a:rPr lang="zh-CN" altLang="en-US" sz="2660" b="1" i="0" dirty="0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rotWithShape="0">
                      <a:srgbClr val="000000">
                        <a:alpha val="42745"/>
                      </a:srgbClr>
                    </a:outerShdw>
                  </a:effectLst>
                  <a:latin typeface="楷体"/>
                  <a:ea typeface="楷体"/>
                </a:rPr>
                <a:t>日耳曼人占领</a:t>
              </a:r>
            </a:p>
          </p:txBody>
        </p:sp>
      </p:grpSp>
      <p:sp>
        <p:nvSpPr>
          <p:cNvPr id="7" name="形状2"/>
          <p:cNvSpPr txBox="1"/>
          <p:nvPr/>
        </p:nvSpPr>
        <p:spPr>
          <a:xfrm flipH="1">
            <a:off x="6257375" y="2423351"/>
            <a:ext cx="3075464" cy="2429363"/>
          </a:xfrm>
          <a:prstGeom prst="leftArrowCallout"/>
          <a:solidFill>
            <a:srgbClr val="FFFFFF">
              <a:alpha val="0"/>
            </a:srgbClr>
          </a:solidFill>
          <a:ln w="57150">
            <a:solidFill>
              <a:srgbClr val="C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8" name="组合2"/>
          <p:cNvGrpSpPr/>
          <p:nvPr/>
        </p:nvGrpSpPr>
        <p:grpSpPr>
          <a:xfrm>
            <a:off x="9332839" y="3274664"/>
            <a:ext cx="2701826" cy="597633"/>
            <a:chOff x="0" y="0"/>
            <a:chExt cx="2701826" cy="597633"/>
          </a:xfrm>
        </p:grpSpPr>
        <p:sp>
          <p:nvSpPr>
            <p:cNvPr id="9" name="形状4"/>
            <p:cNvSpPr txBox="1"/>
            <p:nvPr/>
          </p:nvSpPr>
          <p:spPr>
            <a:xfrm>
              <a:off x="0" y="5480"/>
              <a:ext cx="2700321" cy="590176"/>
            </a:xfrm>
            <a:prstGeom prst="roundRect"/>
            <a:solidFill>
              <a:srgbClr val="F0F8F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3"/>
            <p:cNvSpPr txBox="1"/>
            <p:nvPr/>
          </p:nvSpPr>
          <p:spPr>
            <a:xfrm>
              <a:off x="55480" y="0"/>
              <a:ext cx="2646346" cy="59763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200"/>
                </a:lnSpc>
              </a:pPr>
              <a:r>
                <a:rPr lang="zh-CN" altLang="en-US" sz="2660" b="1" i="0" dirty="0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rotWithShape="0">
                      <a:srgbClr val="000000">
                        <a:alpha val="42745"/>
                      </a:srgbClr>
                    </a:outerShdw>
                  </a:effectLst>
                  <a:latin typeface="楷体"/>
                  <a:ea typeface="楷体"/>
                </a:rPr>
                <a:t>帝国政权保存</a:t>
              </a:r>
            </a:p>
          </p:txBody>
        </p:sp>
      </p:grpSp>
      <p:sp>
        <p:nvSpPr>
          <p:cNvPr id="11" name="文本1"/>
          <p:cNvSpPr txBox="1"/>
          <p:nvPr/>
        </p:nvSpPr>
        <p:spPr>
          <a:xfrm>
            <a:off x="500710" y="5578231"/>
            <a:ext cx="11190072" cy="100922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700"/>
              </a:lnSpc>
            </a:pPr>
            <a:r>
              <a:rPr lang="zh-CN" altLang="en-US" sz="266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楷体"/>
                <a:ea typeface="楷体"/>
              </a:rPr>
              <a:t>公元476年西罗马帝国灭亡，西罗马帝国灭亡后，</a:t>
            </a:r>
            <a:r>
              <a:rPr lang="zh-CN" altLang="en-US" sz="266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楷体"/>
                <a:ea typeface="楷体"/>
              </a:rPr>
              <a:t>东罗马帝国</a:t>
            </a:r>
            <a:r>
              <a:rPr lang="zh-CN" altLang="en-US" sz="266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楷体"/>
                <a:ea typeface="楷体"/>
              </a:rPr>
              <a:t>还延续了上</a:t>
            </a:r>
            <a:r>
              <a:rPr lang="zh-CN" altLang="en-US" sz="266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楷体"/>
                <a:ea typeface="楷体"/>
              </a:rPr>
              <a:t>千年</a:t>
            </a:r>
            <a:r>
              <a:rPr lang="zh-CN" altLang="en-US" sz="266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楷体"/>
                <a:ea typeface="楷体"/>
              </a:rPr>
              <a:t>，它是怎么做到的？最后又是怎么灭亡的？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</p:bldLst>
  </p:timing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-114" y="-410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一、拜占庭帝国的兴亡</a:t>
            </a:r>
          </a:p>
        </p:txBody>
      </p:sp>
      <p:graphicFrame>
        <p:nvGraphicFramePr>
          <p:cNvPr id="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61830" y="1054532"/>
          <a:ext cx="11783611" cy="4340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6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40738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8834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962944">
                <a:tc rowSpan="3" gridSpan="1">
                  <a:txBody>
                    <a:bodyPr anchor="ctr"/>
                    <a:lstStyle/>
                    <a:p>
                      <a:pPr marL="0" algn="ctr">
                        <a:lnSpc>
                          <a:spcPts val="37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拜占庭帝国的兴衰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别称与早期版图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拜占庭帝国又称东罗马帝国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，早期版图包括巴尔干半岛、亚洲西部和非洲北部地区。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101517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经济繁荣的原因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这些地区有农业比较发达的埃及、叙利亚，有许多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大都市和国际贸易港口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在交通干线上，各国商船、驼队和车队密集。丝绸、香料、象牙、地毯等奢侈品从中国、印度、波斯等地源源不断地运来。帝国生产的农产品、玻璃制品、金银制品等远销海外。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2276468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查士丁尼统治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①政治：6世纪，皇帝查士丁尼整饬吏治，遏制贵族特权，加强中央集权。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②军事：他还进行了20多年对外战争，征服意大利半岛、西班牙东南部，并扩大了在北非的领土。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（地跨欧、亚、非三洲）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③局限：他对民众实行高压统治，课以重税，竭力维护奴隶制，结果招致反抗。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570" y="165278"/>
            <a:ext cx="7391400" cy="567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01" y="-114"/>
            <a:ext cx="11216526" cy="6739109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753237" y="386696"/>
            <a:ext cx="1712068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意大利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899198" y="1267978"/>
            <a:ext cx="2207371" cy="6286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小亚细亚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899455" y="2201828"/>
            <a:ext cx="1712068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希腊</a:t>
            </a:r>
          </a:p>
        </p:txBody>
      </p:sp>
      <p:sp>
        <p:nvSpPr>
          <p:cNvPr id="6" name="文本4"/>
          <p:cNvSpPr txBox="1"/>
          <p:nvPr/>
        </p:nvSpPr>
        <p:spPr>
          <a:xfrm>
            <a:off x="753085" y="3082928"/>
            <a:ext cx="1712068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埃及</a:t>
            </a:r>
          </a:p>
        </p:txBody>
      </p:sp>
      <p:sp>
        <p:nvSpPr>
          <p:cNvPr id="7" name="文本5"/>
          <p:cNvSpPr txBox="1"/>
          <p:nvPr/>
        </p:nvSpPr>
        <p:spPr>
          <a:xfrm>
            <a:off x="753113" y="4054821"/>
            <a:ext cx="1712068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叙利亚</a:t>
            </a:r>
          </a:p>
        </p:txBody>
      </p:sp>
      <p:sp>
        <p:nvSpPr>
          <p:cNvPr id="8" name="文本6"/>
          <p:cNvSpPr txBox="1"/>
          <p:nvPr/>
        </p:nvSpPr>
        <p:spPr>
          <a:xfrm>
            <a:off x="753437" y="5027190"/>
            <a:ext cx="2483596" cy="106673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君士坦丁堡</a:t>
            </a:r>
          </a:p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（拜占庭）</a:t>
            </a:r>
          </a:p>
        </p:txBody>
      </p:sp>
      <p:sp>
        <p:nvSpPr>
          <p:cNvPr id="9" name="文本7"/>
          <p:cNvSpPr txBox="1"/>
          <p:nvPr/>
        </p:nvSpPr>
        <p:spPr>
          <a:xfrm>
            <a:off x="2914650" y="266548"/>
            <a:ext cx="4457700" cy="10017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55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经济比较活跃</a:t>
            </a:r>
          </a:p>
        </p:txBody>
      </p:sp>
      <p:sp>
        <p:nvSpPr>
          <p:cNvPr id="10" name="文本8"/>
          <p:cNvSpPr txBox="1"/>
          <p:nvPr/>
        </p:nvSpPr>
        <p:spPr>
          <a:xfrm>
            <a:off x="2914955" y="987495"/>
            <a:ext cx="4457700" cy="10017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55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社会比较稳定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36.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36" fill="hold">
                                          <p:stCondLst>
                                            <p:cond delay="13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36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6" decel="50000" autoRev="1" fill="hold">
                                          <p:stCondLst>
                                            <p:cond delay="13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-114" y="-410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一、拜占庭帝国的兴亡</a:t>
            </a:r>
          </a:p>
        </p:txBody>
      </p:sp>
      <p:graphicFrame>
        <p:nvGraphicFramePr>
          <p:cNvPr id="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18558" y="959348"/>
          <a:ext cx="11783611" cy="4340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6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40738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8834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2431633">
                <a:tc rowSpan="2" gridSpan="1">
                  <a:txBody>
                    <a:bodyPr anchor="ctr"/>
                    <a:lstStyle/>
                    <a:p>
                      <a:pPr marL="0" algn="ctr">
                        <a:lnSpc>
                          <a:spcPts val="37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拜占庭帝国的兴衰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帝国的衰亡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909296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灭亡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1453年，拜占庭帝国被奥斯曼帝国灭亡。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4" name="文本2"/>
          <p:cNvSpPr txBox="1"/>
          <p:nvPr/>
        </p:nvSpPr>
        <p:spPr>
          <a:xfrm>
            <a:off x="2059400" y="959596"/>
            <a:ext cx="9791700" cy="239353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①从7世纪起，</a:t>
            </a:r>
            <a:r>
              <a:rPr lang="zh-CN" altLang="en-US" sz="2000" b="0" i="0" u="sng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阿拉伯人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不断进攻拜占庭帝国，蚕食帝国领土。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②9世纪以后，</a:t>
            </a:r>
            <a:r>
              <a:rPr lang="zh-CN" altLang="en-US" sz="2000" b="0" i="0" u="sng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十字军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不仅没有给拜占庭帝国所需的军事援助，还一度占领君士坦丁堡和拜占庭帝国的大部分领土。拜占庭帝国日渐衰弱。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③从14世纪初开始，拜占庭帝国受到新崛起的</a:t>
            </a:r>
            <a:r>
              <a:rPr lang="zh-CN" altLang="en-US" sz="2000" b="0" i="0" u="sng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奥斯曼人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的不断进攻。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1" i="0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（知识拓展：十字军东侵的本质——西欧封建主借援助之名，行掠夺之实。十字军占领君士坦丁堡，是拜占庭由盛转衰的关键转折点。）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二、《查士丁尼法典》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500548" y="430406"/>
            <a:ext cx="11546842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4. 拜占庭帝国走向衰落有哪些重大事件？</a:t>
            </a: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华文楷体"/>
                <a:ea typeface="华文楷体"/>
              </a:rPr>
              <a:t>《罗马民法大全》包含哪些法律，这些法律的内容分别是什么？评价《罗马民法大全》。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拜占庭有哪些文明成就？</a:t>
            </a:r>
          </a:p>
        </p:txBody>
      </p:sp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19046" y="1519740"/>
          <a:ext cx="11555125" cy="5728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0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208598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8943507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96294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7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《查士丁尼法典》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编纂目的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稳定帝国社会秩序，保证皇帝专制权力。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717641">
                <a:tc rowSpan="3" gridSpan="1">
                  <a:txBody>
                    <a:bodyPr anchor="ctr"/>
                    <a:lstStyle/>
                    <a:p>
                      <a:pPr marL="0" algn="ctr">
                        <a:lnSpc>
                          <a:spcPts val="27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《罗马民法大全》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组成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①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《查士丁尼法典》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2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世纪初以来历任罗马皇帝颁布的法令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②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《法学汇纂》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历代罗马法学家有关法律问题的论文和著作摘录选编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③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《法理概要》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简易的法学教材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④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《新法典》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查士丁尼颁布的、但未列入法典的敕令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330117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历史影响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《罗马民法大全》仍然承认奴隶制，但在一定程度上改善了奴隶地位。在</a:t>
                      </a:r>
                      <a:r>
                        <a:rPr lang="zh-CN" altLang="en-US" sz="2000" b="1" i="0" u="sng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财产、买卖、债务、契约关系等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方面《罗马民法大全》也作出明确规定，</a:t>
                      </a: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奠定了欧洲民法的基础</a:t>
                      </a:r>
                      <a:r>
                        <a:rPr lang="zh-CN" altLang="en-US" sz="2000" b="0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717641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地位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《罗马民法大全》</a:t>
                      </a: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是欧洲历史上第一部系统完备的成文法典</a:t>
                      </a:r>
                      <a:r>
                        <a:rPr lang="zh-CN" altLang="en-US" sz="2000" b="0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，</a:t>
                      </a: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它奠定了后世欧洲民法体系的基础，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其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“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法律面前人人平等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”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、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“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私有财产神圣不可侵犯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</a:rPr>
                        <a:t>”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的原则，对近代欧美国家的立法与司法产生了深远影响，但同时仍然承认奴隶制，本质上维护了拜占庭帝国奴隶主阶级的统治利益。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4" y="0"/>
            <a:ext cx="11680466" cy="4776223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3009735" y="2107748"/>
            <a:ext cx="2878040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汉仪旗黑-50简"/>
                <a:ea typeface="汉仪旗黑-50简"/>
              </a:rPr>
              <a:t>《查士丁尼法典》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3292007" y="3619821"/>
            <a:ext cx="2878040" cy="6521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汉仪旗黑-50简"/>
                <a:ea typeface="汉仪旗黑-50简"/>
              </a:rPr>
              <a:t>《法学汇纂》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335445" y="30344"/>
            <a:ext cx="11703989" cy="246330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4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材料研读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 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▏</a:t>
            </a:r>
          </a:p>
          <a:p>
            <a:pPr marL="0" algn="l">
              <a:lnSpc>
                <a:spcPts val="34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奴隶可以通过不同方式获得自由，除非奴隶本人不愿意这么做。但是，奴隶在被解放为自由人后，仍要对奴隶主的继承人或者奴隶主指定之人履行义务</a:t>
            </a:r>
          </a:p>
          <a:p>
            <a:pPr marL="0" algn="r">
              <a:lnSpc>
                <a:spcPts val="34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——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《查士丁尼法典》</a:t>
            </a:r>
          </a:p>
          <a:p>
            <a:pPr marL="0" algn="l">
              <a:lnSpc>
                <a:spcPts val="34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阅读材料，谈谈你的看法。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335445" y="2513501"/>
            <a:ext cx="11836273" cy="202010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4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</a:rPr>
              <a:t>    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这段材料体现了查士丁尼法典的两面性。一方面，它允许奴隶通过一定方式获得自由，在一定程度上改善了奴隶的地位，体现了法律的进步性。另一方面，解放后的自由人仍需对奴隶主及其指定人员履行义务，说明</a:t>
            </a:r>
            <a:r>
              <a:rPr lang="zh-CN" altLang="en-US" sz="2400" b="1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法典本质上维护奴隶制，是保障奴隶主阶级利益的工具</a:t>
            </a:r>
            <a:r>
              <a:rPr lang="zh-CN" altLang="en-US" sz="2400" b="0" i="0" dirty="0">
                <a:solidFill>
                  <a:srgbClr val="0000FF">
                    <a:alpha val="100000"/>
                  </a:srgbClr>
                </a:solidFill>
                <a:latin typeface="楷体"/>
                <a:ea typeface="楷体"/>
              </a:rPr>
              <a:t>，并未从根本上改变奴隶的处境。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33512" y="45636"/>
            <a:ext cx="427073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1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方正粗黑宋简体"/>
                <a:ea typeface="方正粗黑宋简体"/>
              </a:rPr>
              <a:t>三、拜占庭文化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414019" y="568856"/>
            <a:ext cx="11546842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华文楷体"/>
                <a:ea typeface="华文楷体"/>
              </a:rPr>
              <a:t>4. 拜占庭帝国走向衰落有哪些重大事件？《罗马民法大全》包含哪些法律，这些法律的内容分别是什么？评价《罗马民法大全》。</a:t>
            </a:r>
            <a:r>
              <a:rPr lang="zh-CN" altLang="en-US" sz="2400" b="1" i="0" dirty="0">
                <a:solidFill>
                  <a:srgbClr val="0000FF">
                    <a:alpha val="100000"/>
                  </a:srgbClr>
                </a:solidFill>
                <a:latin typeface="华文楷体"/>
                <a:ea typeface="华文楷体"/>
              </a:rPr>
              <a:t>拜占庭有哪些文明成就？</a:t>
            </a:r>
          </a:p>
        </p:txBody>
      </p:sp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358359" y="1629988"/>
          <a:ext cx="11475281" cy="4609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36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91478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444439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403080">
                <a:tc rowSpan="6" gridSpan="1">
                  <a:txBody>
                    <a:bodyPr anchor="ctr"/>
                    <a:lstStyle/>
                    <a:p>
                      <a:pPr marL="0" algn="ctr">
                        <a:lnSpc>
                          <a:spcPts val="3700"/>
                        </a:lnSpc>
                      </a:pPr>
                      <a:r>
                        <a:rPr lang="zh-CN" altLang="en-US" sz="2800" b="0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方正粗黑宋简体"/>
                          <a:ea typeface="方正粗黑宋简体"/>
                        </a:rPr>
                        <a:t>拜占庭文化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特点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对基督教和希腊罗马古典文化传统，以及西亚、北非等地的文化因素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兼收并蓄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841309">
                <a:tc rowSpan="5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本质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拜占庭文化并非单一文明的延续，而是以基督教为精神内核，融合希腊罗马古典文化和西亚、北非东方文化的复合型文明，是地中海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多元文明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的集大成者。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403080">
                <a:tc rowSpan="4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史学成就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6世纪时，历史学家普洛柯比著有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《战争史》和《秘史》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等书。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403080">
                <a:tc rowSpan="3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建筑代表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位于君士坦丁堡的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圣索菲亚大教堂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是拜占庭建筑的代表，它的巨大</a:t>
                      </a: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穹顶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最具特色。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1717768">
                <a:tc rowSpan="2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拜占庭帝国在东西方文化交流中作用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①文化保存与传播：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许多希腊罗马古典作品，尤其是科学著作，通过拜占庭帝国流传到阿拉伯帝国，被翻译成阿拉伯文。</a:t>
                      </a:r>
                    </a:p>
                    <a:p>
                      <a:pPr marL="0" algn="l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②对东欧的影响：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东正教传人俄罗斯等东欧地区，拜占庭通用的希腊字母对后来东欧文字的形成有促进作用。</a:t>
                      </a:r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841309">
                <a:tc rowSpan="1" gridSpan="1" vMerge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8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文化交流的影响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2CC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5" name="文本3"/>
          <p:cNvSpPr txBox="1"/>
          <p:nvPr/>
        </p:nvSpPr>
        <p:spPr>
          <a:xfrm>
            <a:off x="2351764" y="5388711"/>
            <a:ext cx="9609097" cy="99187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为拜占庭文化</a:t>
            </a:r>
            <a:r>
              <a:rPr lang="zh-CN" altLang="en-US" sz="2000" b="1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向西欧传播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打开了大门（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楷体"/>
                <a:ea typeface="楷体"/>
              </a:rPr>
              <a:t>它保存了大量希腊、罗马古典作品）</a:t>
            </a:r>
            <a:r>
              <a:rPr lang="zh-CN" altLang="en-US" sz="2000" b="0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，</a:t>
            </a:r>
            <a:r>
              <a:rPr lang="zh-CN" altLang="en-US" sz="2000" b="1" i="0" dirty="0">
                <a:solidFill>
                  <a:srgbClr val="C00000">
                    <a:alpha val="100000"/>
                  </a:srgbClr>
                </a:solidFill>
                <a:latin typeface="宋体"/>
                <a:ea typeface="宋体"/>
              </a:rPr>
              <a:t>也为后来文艺复兴运动提供了丰富的文化素材。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60615" y="139231"/>
            <a:ext cx="11977048" cy="654608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3333FF">
                    <a:alpha val="100000"/>
                  </a:srgbClr>
                </a:solidFill>
                <a:latin typeface="宋体"/>
                <a:ea typeface="宋体"/>
              </a:rPr>
              <a:t>实战演练：</a:t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1.下面是某一历史剧的各幕内容，据此推断，该剧本名称应该是（    ）</a:t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A.亚历山大帝国的发展   B.拜占庭帝国的衰落</a:t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C.法兰克王国的发展     D.英国君主立宪的序幕</a:t>
            </a:r>
          </a:p>
          <a:p>
            <a:pPr marL="0" algn="l"/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/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2.下图是欧洲某一制度的示意图。关于该制度，下列说法正确的是（    ）</a:t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A.它是罗马帝国的等级制度               B.它确立了土地的无偿赏赐</a:t>
            </a:r>
          </a:p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C.权利和义务交织，有一定的契约意义     D.国王与属下的关系类似古代中国皇帝与臣僚的关系</a:t>
            </a:r>
          </a:p>
          <a:p>
            <a:pPr marL="0" algn="l">
              <a:lnSpc>
                <a:spcPts val="27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3.11世纪欧洲不少封建效忠契约有如下记载(部分)：“我将以名下土地为担保，每年为伯爵提供40天骑兵役等。伯爵承诺，庇护我免受外敌侵扰与他人侵害，保障我对土地的世袭领有权。”这说明中古西欧封建关系的本质特征是（    ）</a:t>
            </a:r>
          </a:p>
          <a:p>
            <a:pPr marL="0" algn="l">
              <a:lnSpc>
                <a:spcPts val="2700"/>
              </a:lnSpc>
              <a:buFont typeface="Arial"/>
              <a:buChar char=" "/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A.领主对附庸的绝对控制                  B.领主和农奴的雇佣关系</a:t>
            </a:r>
          </a:p>
          <a:p>
            <a:pPr marL="0" algn="l">
              <a:lnSpc>
                <a:spcPts val="2700"/>
              </a:lnSpc>
              <a:buFont typeface="Arial"/>
              <a:buChar char=" "/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C.伯爵和附庸的对立共存                  D.土地为纽带的契约关系</a:t>
            </a:r>
          </a:p>
          <a:p>
            <a:pPr marL="0" algn="l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4.以下是对世纪时某文献的描述:“它对财产、买卖、债务、契约关系等作出明确规定……它并没有废除垂死的奴隶制度，但一定程度上改善了奴隶的地位”。该文献是（    ）</a:t>
            </a:r>
          </a:p>
          <a:p>
            <a:pPr marL="0" algn="l">
              <a:lnSpc>
                <a:spcPts val="2100"/>
              </a:lnSpc>
            </a:pPr>
            <a:r>
              <a:rPr lang="zh-CN" altLang="en-US" sz="18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A.《法学汇纂》     B.《罗马民法大全》  C.《十二铜表法》    D.《汉谟拉比法典》</a:t>
            </a:r>
          </a:p>
          <a:p>
            <a:pPr marL="0" algn="l">
              <a:lnSpc>
                <a:spcPts val="2100"/>
              </a:lnSpc>
            </a:pPr>
            <a:r>
              <a:rPr lang="zh-CN" altLang="en-US" sz="1800" b="1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5.圣索菲亚大教堂，其穹顶采用罗马式建筑技术，但其内部镶嵌画却以希腊神话人物形象描绘了基督教故事，壁画中还融入了波斯风格的几何图案。这从侧面反映出东罗马帝国的文化特点是（    ）</a:t>
            </a:r>
          </a:p>
          <a:p>
            <a:pPr marL="0" algn="l">
              <a:lnSpc>
                <a:spcPts val="2100"/>
              </a:lnSpc>
            </a:pPr>
            <a:r>
              <a:rPr lang="zh-CN" altLang="en-US" sz="18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  A.封闭保守           B.兼容并蓄         C.消极落后         D.神权至上</a:t>
            </a:r>
          </a:p>
          <a:p>
            <a:pPr marL="0" algn="l"/>
          </a:p>
        </p:txBody>
      </p:sp>
      <p:sp>
        <p:nvSpPr>
          <p:cNvPr id="3" name="文本2"/>
          <p:cNvSpPr txBox="1"/>
          <p:nvPr/>
        </p:nvSpPr>
        <p:spPr>
          <a:xfrm>
            <a:off x="7847690" y="471962"/>
            <a:ext cx="722763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Roboto"/>
                <a:ea typeface="Roboto"/>
              </a:rPr>
              <a:t>C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8113822" y="1690699"/>
            <a:ext cx="722763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Roboto"/>
                <a:ea typeface="Roboto"/>
              </a:rPr>
              <a:t>C</a:t>
            </a:r>
          </a:p>
        </p:txBody>
      </p:sp>
      <p:sp>
        <p:nvSpPr>
          <p:cNvPr id="5" name="文本4"/>
          <p:cNvSpPr txBox="1"/>
          <p:nvPr/>
        </p:nvSpPr>
        <p:spPr>
          <a:xfrm>
            <a:off x="3227507" y="3257638"/>
            <a:ext cx="722763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Roboto"/>
                <a:ea typeface="Roboto"/>
              </a:rPr>
              <a:t>D</a:t>
            </a:r>
          </a:p>
        </p:txBody>
      </p:sp>
      <p:sp>
        <p:nvSpPr>
          <p:cNvPr id="6" name="文本5"/>
          <p:cNvSpPr txBox="1"/>
          <p:nvPr/>
        </p:nvSpPr>
        <p:spPr>
          <a:xfrm>
            <a:off x="6153889" y="4633880"/>
            <a:ext cx="722763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Roboto"/>
                <a:ea typeface="Roboto"/>
              </a:rPr>
              <a:t>B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2" t="19387" r="23476" b="14285"/>
          <a:stretch>
            <a:fillRect/>
          </a:stretch>
        </p:blipFill>
        <p:spPr>
          <a:xfrm>
            <a:off x="8117632" y="1044712"/>
            <a:ext cx="4027979" cy="622041"/>
          </a:xfrm>
          <a:prstGeom prst="rect">
            <a:avLst/>
          </a:prstGeom>
        </p:spPr>
      </p:pic>
      <p:sp>
        <p:nvSpPr>
          <p:cNvPr id="8" name="文本6"/>
          <p:cNvSpPr txBox="1"/>
          <p:nvPr/>
        </p:nvSpPr>
        <p:spPr>
          <a:xfrm>
            <a:off x="8228395" y="5426983"/>
            <a:ext cx="722763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C00000">
                    <a:alpha val="100000"/>
                  </a:srgbClr>
                </a:solidFill>
                <a:latin typeface="Roboto"/>
                <a:ea typeface="Roboto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sansan</dc:creator>
  <dc:title>九上历史第三单元【新授课】</dc:title>
  <revision>1</revision>
  <dcterms:created xsi:type="dcterms:W3CDTF">2026-09-07T04:21:18.0041123Z</dcterms:created>
  <dcterms:modified xsi:type="dcterms:W3CDTF">2026-09-07T04:21:18.0041427Z</dcterms:modified>
  <lastModifiedBy>sansan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5.2.4.10148</vt:lpwstr>
  </op:property>
  <op:property fmtid="{D5CDD505-2E9C-101B-9397-08002B2CF9AE}" pid="4" name="EasiNoteCoursewareInfo">
    <vt:lpwstr>75ed28e9-c063-42de-b9c8-6a1860765318:41</vt:lpwstr>
  </op:property>
  <op:property fmtid="{D5CDD505-2E9C-101B-9397-08002B2CF9AE}" pid="5" name="EasiNoteDocumentName">
    <vt:lpwstr>九上历史第三单元【新授课】</vt:lpwstr>
  </op:property>
  <op:property fmtid="{D5CDD505-2E9C-101B-9397-08002B2CF9AE}" pid="6" name="EasiNoteAuthor">
    <vt:lpwstr>5645199a75294e669b190b701b597b8b</vt:lpwstr>
  </op:property>
  <op:property fmtid="{D5CDD505-2E9C-101B-9397-08002B2CF9AE}" pid="7" name="EasiNoteUpstreamCoursewareInfo_0">
    <vt:lpwstr>75ed28e9-c063-42de-b9c8-6a1860765318</vt:lpwstr>
  </op:property>
</op:Properties>
</file>